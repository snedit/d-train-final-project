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Arimo Bold" panose="020B0604020202020204" charset="0"/>
      <p:regular r:id="rId16"/>
    </p:embeddedFont>
    <p:embeddedFont>
      <p:font typeface="Calibri (MS)" panose="020B0604020202020204" charset="0"/>
      <p:regular r:id="rId17"/>
    </p:embeddedFont>
    <p:embeddedFont>
      <p:font typeface="Calibri (MS) Bold" panose="020B0604020202020204" charset="0"/>
      <p:regular r:id="rId18"/>
    </p:embeddedFont>
    <p:embeddedFont>
      <p:font typeface="Calibri (MS) Italics" panose="020B0604020202020204" charset="0"/>
      <p:regular r:id="rId19"/>
    </p:embeddedFont>
    <p:embeddedFont>
      <p:font typeface="Cambria Bold" panose="02040803050406030204" pitchFamily="18" charset="0"/>
      <p:regular r:id="rId20"/>
      <p:bold r:id="rId21"/>
    </p:embeddedFont>
    <p:embeddedFont>
      <p:font typeface="Canva Sans" panose="020B0604020202020204" charset="0"/>
      <p:regular r:id="rId22"/>
    </p:embeddedFont>
    <p:embeddedFont>
      <p:font typeface="Canva Sans Bold"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50" d="100"/>
          <a:sy n="50" d="100"/>
        </p:scale>
        <p:origin x="946" y="1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push dir="u"/>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14.sv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7.svg"/><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4.svg"/><Relationship Id="rId4" Type="http://schemas.openxmlformats.org/officeDocument/2006/relationships/image" Target="../media/image8.svg"/></Relationships>
</file>

<file path=ppt/slides/_rels/slide12.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5.jpeg"/><Relationship Id="rId7" Type="http://schemas.openxmlformats.org/officeDocument/2006/relationships/image" Target="../media/image2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8.svg"/><Relationship Id="rId5" Type="http://schemas.openxmlformats.org/officeDocument/2006/relationships/image" Target="../media/image27.svg"/><Relationship Id="rId4" Type="http://schemas.openxmlformats.org/officeDocument/2006/relationships/image" Target="../media/image26.svg"/><Relationship Id="rId9" Type="http://schemas.openxmlformats.org/officeDocument/2006/relationships/image" Target="../media/image31.svg"/></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26" b="-26"/>
              </a:stretch>
            </a:blipFill>
          </p:spPr>
        </p:sp>
      </p:grpSp>
      <p:sp>
        <p:nvSpPr>
          <p:cNvPr id="4" name="Freeform 4"/>
          <p:cNvSpPr/>
          <p:nvPr/>
        </p:nvSpPr>
        <p:spPr>
          <a:xfrm>
            <a:off x="6920457" y="2028355"/>
            <a:ext cx="4447082" cy="4447082"/>
          </a:xfrm>
          <a:custGeom>
            <a:avLst/>
            <a:gdLst/>
            <a:ahLst/>
            <a:cxnLst/>
            <a:rect l="l" t="t" r="r" b="b"/>
            <a:pathLst>
              <a:path w="4447082" h="4447082">
                <a:moveTo>
                  <a:pt x="0" y="0"/>
                </a:moveTo>
                <a:lnTo>
                  <a:pt x="4447082" y="0"/>
                </a:lnTo>
                <a:lnTo>
                  <a:pt x="4447082" y="4447083"/>
                </a:lnTo>
                <a:lnTo>
                  <a:pt x="0" y="4447083"/>
                </a:lnTo>
                <a:lnTo>
                  <a:pt x="0" y="0"/>
                </a:lnTo>
                <a:close/>
              </a:path>
            </a:pathLst>
          </a:custGeom>
          <a:blipFill>
            <a:blip r:embed="rId3"/>
            <a:stretch>
              <a:fillRect/>
            </a:stretch>
          </a:blipFill>
        </p:spPr>
      </p:sp>
      <p:sp>
        <p:nvSpPr>
          <p:cNvPr id="5" name="TextBox 5"/>
          <p:cNvSpPr txBox="1"/>
          <p:nvPr/>
        </p:nvSpPr>
        <p:spPr>
          <a:xfrm>
            <a:off x="3348743" y="1123101"/>
            <a:ext cx="11590511" cy="580390"/>
          </a:xfrm>
          <a:prstGeom prst="rect">
            <a:avLst/>
          </a:prstGeom>
        </p:spPr>
        <p:txBody>
          <a:bodyPr wrap="square" lIns="0" tIns="0" rIns="0" bIns="0" rtlCol="0" anchor="t">
            <a:spAutoFit/>
          </a:bodyPr>
          <a:lstStyle/>
          <a:p>
            <a:pPr algn="ctr">
              <a:lnSpc>
                <a:spcPts val="4759"/>
              </a:lnSpc>
              <a:spcBef>
                <a:spcPct val="0"/>
              </a:spcBef>
            </a:pPr>
            <a:r>
              <a:rPr lang="en-US" sz="3399" dirty="0">
                <a:solidFill>
                  <a:srgbClr val="000000"/>
                </a:solidFill>
                <a:latin typeface="Canva Sans"/>
                <a:ea typeface="Canva Sans"/>
                <a:cs typeface="Canva Sans"/>
                <a:sym typeface="Canva Sans"/>
              </a:rPr>
              <a:t>HOOGHLY ENGINEERING &amp; TECHNOLOGY COLLEGE</a:t>
            </a:r>
          </a:p>
        </p:txBody>
      </p:sp>
      <p:sp>
        <p:nvSpPr>
          <p:cNvPr id="6" name="TextBox 6"/>
          <p:cNvSpPr txBox="1"/>
          <p:nvPr/>
        </p:nvSpPr>
        <p:spPr>
          <a:xfrm>
            <a:off x="5842424" y="6600996"/>
            <a:ext cx="6603147" cy="580390"/>
          </a:xfrm>
          <a:prstGeom prst="rect">
            <a:avLst/>
          </a:prstGeom>
        </p:spPr>
        <p:txBody>
          <a:bodyPr wrap="square" lIns="0" tIns="0" rIns="0" bIns="0" rtlCol="0" anchor="t">
            <a:spAutoFit/>
          </a:bodyPr>
          <a:lstStyle/>
          <a:p>
            <a:pPr algn="ctr">
              <a:lnSpc>
                <a:spcPts val="4759"/>
              </a:lnSpc>
              <a:spcBef>
                <a:spcPct val="0"/>
              </a:spcBef>
            </a:pPr>
            <a:r>
              <a:rPr lang="en-US" sz="3399" dirty="0">
                <a:solidFill>
                  <a:srgbClr val="000000"/>
                </a:solidFill>
                <a:latin typeface="Canva Sans"/>
                <a:ea typeface="Canva Sans"/>
                <a:cs typeface="Canva Sans"/>
                <a:sym typeface="Canva Sans"/>
              </a:rPr>
              <a:t>Final Year Project (2022-2026)</a:t>
            </a:r>
          </a:p>
        </p:txBody>
      </p:sp>
      <p:sp>
        <p:nvSpPr>
          <p:cNvPr id="7" name="TextBox 7"/>
          <p:cNvSpPr txBox="1"/>
          <p:nvPr/>
        </p:nvSpPr>
        <p:spPr>
          <a:xfrm>
            <a:off x="2108117" y="7646059"/>
            <a:ext cx="14071759" cy="580390"/>
          </a:xfrm>
          <a:prstGeom prst="rect">
            <a:avLst/>
          </a:prstGeom>
        </p:spPr>
        <p:txBody>
          <a:bodyPr wrap="square" lIns="0" tIns="0" rIns="0" bIns="0" rtlCol="0" anchor="t">
            <a:spAutoFit/>
          </a:bodyPr>
          <a:lstStyle/>
          <a:p>
            <a:pPr algn="ctr">
              <a:lnSpc>
                <a:spcPts val="4759"/>
              </a:lnSpc>
              <a:spcBef>
                <a:spcPct val="0"/>
              </a:spcBef>
            </a:pPr>
            <a:r>
              <a:rPr lang="en-US" sz="3399" dirty="0" err="1">
                <a:solidFill>
                  <a:srgbClr val="000000"/>
                </a:solidFill>
                <a:latin typeface="Canva Sans"/>
                <a:ea typeface="Canva Sans"/>
                <a:cs typeface="Canva Sans"/>
                <a:sym typeface="Canva Sans"/>
              </a:rPr>
              <a:t>DTrain</a:t>
            </a:r>
            <a:r>
              <a:rPr lang="en-US" sz="3399" dirty="0">
                <a:solidFill>
                  <a:srgbClr val="000000"/>
                </a:solidFill>
                <a:latin typeface="Canva Sans"/>
                <a:ea typeface="Canva Sans"/>
                <a:cs typeface="Canva Sans"/>
                <a:sym typeface="Canva Sans"/>
              </a:rPr>
              <a:t> — Decentralized Machine Learning Training Platform (PaaS)</a:t>
            </a:r>
          </a:p>
        </p:txBody>
      </p:sp>
      <p:sp>
        <p:nvSpPr>
          <p:cNvPr id="8" name="TextBox 8"/>
          <p:cNvSpPr txBox="1"/>
          <p:nvPr/>
        </p:nvSpPr>
        <p:spPr>
          <a:xfrm>
            <a:off x="6554986" y="8374868"/>
            <a:ext cx="5178028" cy="755016"/>
          </a:xfrm>
          <a:prstGeom prst="rect">
            <a:avLst/>
          </a:prstGeom>
        </p:spPr>
        <p:txBody>
          <a:bodyPr lIns="0" tIns="0" rIns="0" bIns="0" rtlCol="0" anchor="t">
            <a:spAutoFit/>
          </a:bodyPr>
          <a:lstStyle/>
          <a:p>
            <a:pPr algn="ctr">
              <a:lnSpc>
                <a:spcPts val="6159"/>
              </a:lnSpc>
              <a:spcBef>
                <a:spcPct val="0"/>
              </a:spcBef>
            </a:pPr>
            <a:r>
              <a:rPr lang="en-US" sz="4399" b="1">
                <a:solidFill>
                  <a:srgbClr val="C8912E"/>
                </a:solidFill>
                <a:latin typeface="Canva Sans Bold"/>
                <a:ea typeface="Canva Sans Bold"/>
                <a:cs typeface="Canva Sans Bold"/>
                <a:sym typeface="Canva Sans Bold"/>
              </a:rPr>
              <a:t>Web Development </a:t>
            </a:r>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26" b="-26"/>
              </a:stretch>
            </a:blipFill>
          </p:spPr>
        </p:sp>
      </p:grpSp>
      <p:graphicFrame>
        <p:nvGraphicFramePr>
          <p:cNvPr id="4" name="Table 4"/>
          <p:cNvGraphicFramePr>
            <a:graphicFrameLocks noGrp="1"/>
          </p:cNvGraphicFramePr>
          <p:nvPr/>
        </p:nvGraphicFramePr>
        <p:xfrm>
          <a:off x="4815409" y="2831848"/>
          <a:ext cx="8676422" cy="4286250"/>
        </p:xfrm>
        <a:graphic>
          <a:graphicData uri="http://schemas.openxmlformats.org/drawingml/2006/table">
            <a:tbl>
              <a:tblPr/>
              <a:tblGrid>
                <a:gridCol w="4338211">
                  <a:extLst>
                    <a:ext uri="{9D8B030D-6E8A-4147-A177-3AD203B41FA5}">
                      <a16:colId xmlns:a16="http://schemas.microsoft.com/office/drawing/2014/main" val="20000"/>
                    </a:ext>
                  </a:extLst>
                </a:gridCol>
                <a:gridCol w="4338211">
                  <a:extLst>
                    <a:ext uri="{9D8B030D-6E8A-4147-A177-3AD203B41FA5}">
                      <a16:colId xmlns:a16="http://schemas.microsoft.com/office/drawing/2014/main" val="20001"/>
                    </a:ext>
                  </a:extLst>
                </a:gridCol>
              </a:tblGrid>
              <a:tr h="857250">
                <a:tc>
                  <a:txBody>
                    <a:bodyPr/>
                    <a:lstStyle/>
                    <a:p>
                      <a:pPr algn="ctr">
                        <a:lnSpc>
                          <a:spcPts val="2939"/>
                        </a:lnSpc>
                        <a:defRPr/>
                      </a:pPr>
                      <a:r>
                        <a:rPr lang="en-US" sz="2099" b="1">
                          <a:solidFill>
                            <a:srgbClr val="C8912E"/>
                          </a:solidFill>
                          <a:latin typeface="Canva Sans Bold"/>
                          <a:ea typeface="Canva Sans Bold"/>
                          <a:cs typeface="Canva Sans Bold"/>
                          <a:sym typeface="Canva Sans Bold"/>
                        </a:rPr>
                        <a:t>Name</a:t>
                      </a:r>
                      <a:endParaRPr lang="en-US" sz="1100"/>
                    </a:p>
                  </a:txBody>
                  <a:tcPr marL="190500" marR="190500" marT="190500" marB="190500" anchor="ctr">
                    <a:lnL w="47625" cap="flat" cmpd="sng" algn="ctr">
                      <a:solidFill>
                        <a:srgbClr val="E9DCC8"/>
                      </a:solidFill>
                      <a:prstDash val="solid"/>
                      <a:round/>
                      <a:headEnd type="none" w="med" len="med"/>
                      <a:tailEnd type="none" w="med" len="med"/>
                    </a:lnL>
                    <a:lnR w="47625" cap="flat" cmpd="sng" algn="ctr">
                      <a:solidFill>
                        <a:srgbClr val="E9DCC8"/>
                      </a:solidFill>
                      <a:prstDash val="solid"/>
                      <a:round/>
                      <a:headEnd type="none" w="med" len="med"/>
                      <a:tailEnd type="none" w="med" len="med"/>
                    </a:lnR>
                    <a:lnT w="47625" cap="flat" cmpd="sng" algn="ctr">
                      <a:solidFill>
                        <a:srgbClr val="E9DCC8"/>
                      </a:solidFill>
                      <a:prstDash val="solid"/>
                      <a:round/>
                      <a:headEnd type="none" w="med" len="med"/>
                      <a:tailEnd type="none" w="med" len="med"/>
                    </a:lnT>
                    <a:lnB w="47625" cap="flat" cmpd="sng" algn="ctr">
                      <a:solidFill>
                        <a:srgbClr val="E9DCC8"/>
                      </a:solidFill>
                      <a:prstDash val="solid"/>
                      <a:round/>
                      <a:headEnd type="none" w="med" len="med"/>
                      <a:tailEnd type="none" w="med" len="med"/>
                    </a:lnB>
                    <a:solidFill>
                      <a:srgbClr val="F1E6D3"/>
                    </a:solidFill>
                  </a:tcPr>
                </a:tc>
                <a:tc>
                  <a:txBody>
                    <a:bodyPr/>
                    <a:lstStyle/>
                    <a:p>
                      <a:pPr algn="ctr">
                        <a:lnSpc>
                          <a:spcPts val="2939"/>
                        </a:lnSpc>
                        <a:defRPr/>
                      </a:pPr>
                      <a:r>
                        <a:rPr lang="en-US" sz="2099" b="1">
                          <a:solidFill>
                            <a:srgbClr val="C8912E"/>
                          </a:solidFill>
                          <a:latin typeface="Canva Sans Bold"/>
                          <a:ea typeface="Canva Sans Bold"/>
                          <a:cs typeface="Canva Sans Bold"/>
                          <a:sym typeface="Canva Sans Bold"/>
                        </a:rPr>
                        <a:t>University Roll No</a:t>
                      </a:r>
                      <a:endParaRPr lang="en-US" sz="1100"/>
                    </a:p>
                  </a:txBody>
                  <a:tcPr marL="190500" marR="190500" marT="190500" marB="190500" anchor="ctr">
                    <a:lnL w="47625" cap="flat" cmpd="sng" algn="ctr">
                      <a:solidFill>
                        <a:srgbClr val="E9DCC8"/>
                      </a:solidFill>
                      <a:prstDash val="solid"/>
                      <a:round/>
                      <a:headEnd type="none" w="med" len="med"/>
                      <a:tailEnd type="none" w="med" len="med"/>
                    </a:lnL>
                    <a:lnR w="47625" cap="flat" cmpd="sng" algn="ctr">
                      <a:solidFill>
                        <a:srgbClr val="E9DCC8"/>
                      </a:solidFill>
                      <a:prstDash val="solid"/>
                      <a:round/>
                      <a:headEnd type="none" w="med" len="med"/>
                      <a:tailEnd type="none" w="med" len="med"/>
                    </a:lnR>
                    <a:lnT w="47625" cap="flat" cmpd="sng" algn="ctr">
                      <a:solidFill>
                        <a:srgbClr val="E9DCC8"/>
                      </a:solidFill>
                      <a:prstDash val="solid"/>
                      <a:round/>
                      <a:headEnd type="none" w="med" len="med"/>
                      <a:tailEnd type="none" w="med" len="med"/>
                    </a:lnT>
                    <a:lnB w="47625" cap="flat" cmpd="sng" algn="ctr">
                      <a:solidFill>
                        <a:srgbClr val="E9DCC8"/>
                      </a:solidFill>
                      <a:prstDash val="solid"/>
                      <a:round/>
                      <a:headEnd type="none" w="med" len="med"/>
                      <a:tailEnd type="none" w="med" len="med"/>
                    </a:lnB>
                    <a:solidFill>
                      <a:srgbClr val="F1E6D3"/>
                    </a:solidFill>
                  </a:tcPr>
                </a:tc>
                <a:extLst>
                  <a:ext uri="{0D108BD9-81ED-4DB2-BD59-A6C34878D82A}">
                    <a16:rowId xmlns:a16="http://schemas.microsoft.com/office/drawing/2014/main" val="10000"/>
                  </a:ext>
                </a:extLst>
              </a:tr>
              <a:tr h="857250">
                <a:tc>
                  <a:txBody>
                    <a:bodyPr/>
                    <a:lstStyle/>
                    <a:p>
                      <a:pPr algn="ctr">
                        <a:lnSpc>
                          <a:spcPts val="2939"/>
                        </a:lnSpc>
                        <a:defRPr/>
                      </a:pPr>
                      <a:r>
                        <a:rPr lang="en-US" sz="2099">
                          <a:solidFill>
                            <a:srgbClr val="000000"/>
                          </a:solidFill>
                          <a:latin typeface="Canva Sans"/>
                          <a:ea typeface="Canva Sans"/>
                          <a:cs typeface="Canva Sans"/>
                          <a:sym typeface="Canva Sans"/>
                        </a:rPr>
                        <a:t>Debjit Mitra</a:t>
                      </a:r>
                      <a:endParaRPr lang="en-US" sz="1100"/>
                    </a:p>
                  </a:txBody>
                  <a:tcPr marL="190500" marR="190500" marT="190500" marB="190500" anchor="ctr">
                    <a:lnL w="47625" cap="flat" cmpd="sng" algn="ctr">
                      <a:solidFill>
                        <a:srgbClr val="E9DCC8"/>
                      </a:solidFill>
                      <a:prstDash val="solid"/>
                      <a:round/>
                      <a:headEnd type="none" w="med" len="med"/>
                      <a:tailEnd type="none" w="med" len="med"/>
                    </a:lnL>
                    <a:lnR w="47625" cap="flat" cmpd="sng" algn="ctr">
                      <a:solidFill>
                        <a:srgbClr val="E9DCC8"/>
                      </a:solidFill>
                      <a:prstDash val="solid"/>
                      <a:round/>
                      <a:headEnd type="none" w="med" len="med"/>
                      <a:tailEnd type="none" w="med" len="med"/>
                    </a:lnR>
                    <a:lnT w="47625" cap="flat" cmpd="sng" algn="ctr">
                      <a:solidFill>
                        <a:srgbClr val="E9DCC8"/>
                      </a:solidFill>
                      <a:prstDash val="solid"/>
                      <a:round/>
                      <a:headEnd type="none" w="med" len="med"/>
                      <a:tailEnd type="none" w="med" len="med"/>
                    </a:lnT>
                    <a:lnB w="47625" cap="flat" cmpd="sng" algn="ctr">
                      <a:solidFill>
                        <a:srgbClr val="E9DCC8"/>
                      </a:solidFill>
                      <a:prstDash val="solid"/>
                      <a:round/>
                      <a:headEnd type="none" w="med" len="med"/>
                      <a:tailEnd type="none" w="med" len="med"/>
                    </a:lnB>
                  </a:tcPr>
                </a:tc>
                <a:tc>
                  <a:txBody>
                    <a:bodyPr/>
                    <a:lstStyle/>
                    <a:p>
                      <a:pPr algn="ctr">
                        <a:lnSpc>
                          <a:spcPts val="2939"/>
                        </a:lnSpc>
                        <a:defRPr/>
                      </a:pPr>
                      <a:r>
                        <a:rPr lang="en-US" sz="2099">
                          <a:solidFill>
                            <a:srgbClr val="000000"/>
                          </a:solidFill>
                          <a:latin typeface="Canva Sans"/>
                          <a:ea typeface="Canva Sans"/>
                          <a:cs typeface="Canva Sans"/>
                          <a:sym typeface="Canva Sans"/>
                        </a:rPr>
                        <a:t>17600122046</a:t>
                      </a:r>
                      <a:endParaRPr lang="en-US" sz="1100"/>
                    </a:p>
                  </a:txBody>
                  <a:tcPr marL="190500" marR="190500" marT="190500" marB="190500" anchor="ctr">
                    <a:lnL w="47625" cap="flat" cmpd="sng" algn="ctr">
                      <a:solidFill>
                        <a:srgbClr val="E9DCC8"/>
                      </a:solidFill>
                      <a:prstDash val="solid"/>
                      <a:round/>
                      <a:headEnd type="none" w="med" len="med"/>
                      <a:tailEnd type="none" w="med" len="med"/>
                    </a:lnL>
                    <a:lnR w="47625" cap="flat" cmpd="sng" algn="ctr">
                      <a:solidFill>
                        <a:srgbClr val="E9DCC8"/>
                      </a:solidFill>
                      <a:prstDash val="solid"/>
                      <a:round/>
                      <a:headEnd type="none" w="med" len="med"/>
                      <a:tailEnd type="none" w="med" len="med"/>
                    </a:lnR>
                    <a:lnT w="47625" cap="flat" cmpd="sng" algn="ctr">
                      <a:solidFill>
                        <a:srgbClr val="E9DCC8"/>
                      </a:solidFill>
                      <a:prstDash val="solid"/>
                      <a:round/>
                      <a:headEnd type="none" w="med" len="med"/>
                      <a:tailEnd type="none" w="med" len="med"/>
                    </a:lnT>
                    <a:lnB w="47625" cap="flat" cmpd="sng" algn="ctr">
                      <a:solidFill>
                        <a:srgbClr val="E9DCC8"/>
                      </a:solidFill>
                      <a:prstDash val="solid"/>
                      <a:round/>
                      <a:headEnd type="none" w="med" len="med"/>
                      <a:tailEnd type="none" w="med" len="med"/>
                    </a:lnB>
                  </a:tcPr>
                </a:tc>
                <a:extLst>
                  <a:ext uri="{0D108BD9-81ED-4DB2-BD59-A6C34878D82A}">
                    <a16:rowId xmlns:a16="http://schemas.microsoft.com/office/drawing/2014/main" val="10001"/>
                  </a:ext>
                </a:extLst>
              </a:tr>
              <a:tr h="857250">
                <a:tc>
                  <a:txBody>
                    <a:bodyPr/>
                    <a:lstStyle/>
                    <a:p>
                      <a:pPr algn="ctr">
                        <a:lnSpc>
                          <a:spcPts val="2939"/>
                        </a:lnSpc>
                        <a:defRPr/>
                      </a:pPr>
                      <a:r>
                        <a:rPr lang="en-US" sz="2099">
                          <a:solidFill>
                            <a:srgbClr val="000000"/>
                          </a:solidFill>
                          <a:latin typeface="Canva Sans"/>
                          <a:ea typeface="Canva Sans"/>
                          <a:cs typeface="Canva Sans"/>
                          <a:sym typeface="Canva Sans"/>
                        </a:rPr>
                        <a:t>Soham De</a:t>
                      </a:r>
                      <a:endParaRPr lang="en-US" sz="1100"/>
                    </a:p>
                  </a:txBody>
                  <a:tcPr marL="190500" marR="190500" marT="190500" marB="190500" anchor="ctr">
                    <a:lnL w="47625" cap="flat" cmpd="sng" algn="ctr">
                      <a:solidFill>
                        <a:srgbClr val="E9DCC8"/>
                      </a:solidFill>
                      <a:prstDash val="solid"/>
                      <a:round/>
                      <a:headEnd type="none" w="med" len="med"/>
                      <a:tailEnd type="none" w="med" len="med"/>
                    </a:lnL>
                    <a:lnR w="47625" cap="flat" cmpd="sng" algn="ctr">
                      <a:solidFill>
                        <a:srgbClr val="E9DCC8"/>
                      </a:solidFill>
                      <a:prstDash val="solid"/>
                      <a:round/>
                      <a:headEnd type="none" w="med" len="med"/>
                      <a:tailEnd type="none" w="med" len="med"/>
                    </a:lnR>
                    <a:lnT w="47625" cap="flat" cmpd="sng" algn="ctr">
                      <a:solidFill>
                        <a:srgbClr val="E9DCC8"/>
                      </a:solidFill>
                      <a:prstDash val="solid"/>
                      <a:round/>
                      <a:headEnd type="none" w="med" len="med"/>
                      <a:tailEnd type="none" w="med" len="med"/>
                    </a:lnT>
                    <a:lnB w="47625" cap="flat" cmpd="sng" algn="ctr">
                      <a:solidFill>
                        <a:srgbClr val="E9DCC8"/>
                      </a:solidFill>
                      <a:prstDash val="solid"/>
                      <a:round/>
                      <a:headEnd type="none" w="med" len="med"/>
                      <a:tailEnd type="none" w="med" len="med"/>
                    </a:lnB>
                  </a:tcPr>
                </a:tc>
                <a:tc>
                  <a:txBody>
                    <a:bodyPr/>
                    <a:lstStyle/>
                    <a:p>
                      <a:pPr algn="ctr">
                        <a:lnSpc>
                          <a:spcPts val="2939"/>
                        </a:lnSpc>
                        <a:defRPr/>
                      </a:pPr>
                      <a:r>
                        <a:rPr lang="en-US" sz="2099">
                          <a:solidFill>
                            <a:srgbClr val="000000"/>
                          </a:solidFill>
                          <a:latin typeface="Canva Sans"/>
                          <a:ea typeface="Canva Sans"/>
                          <a:cs typeface="Canva Sans"/>
                          <a:sym typeface="Canva Sans"/>
                        </a:rPr>
                        <a:t>17600122062</a:t>
                      </a:r>
                      <a:endParaRPr lang="en-US" sz="1100"/>
                    </a:p>
                  </a:txBody>
                  <a:tcPr marL="190500" marR="190500" marT="190500" marB="190500" anchor="ctr">
                    <a:lnL w="47625" cap="flat" cmpd="sng" algn="ctr">
                      <a:solidFill>
                        <a:srgbClr val="E9DCC8"/>
                      </a:solidFill>
                      <a:prstDash val="solid"/>
                      <a:round/>
                      <a:headEnd type="none" w="med" len="med"/>
                      <a:tailEnd type="none" w="med" len="med"/>
                    </a:lnL>
                    <a:lnR w="47625" cap="flat" cmpd="sng" algn="ctr">
                      <a:solidFill>
                        <a:srgbClr val="E9DCC8"/>
                      </a:solidFill>
                      <a:prstDash val="solid"/>
                      <a:round/>
                      <a:headEnd type="none" w="med" len="med"/>
                      <a:tailEnd type="none" w="med" len="med"/>
                    </a:lnR>
                    <a:lnT w="47625" cap="flat" cmpd="sng" algn="ctr">
                      <a:solidFill>
                        <a:srgbClr val="E9DCC8"/>
                      </a:solidFill>
                      <a:prstDash val="solid"/>
                      <a:round/>
                      <a:headEnd type="none" w="med" len="med"/>
                      <a:tailEnd type="none" w="med" len="med"/>
                    </a:lnT>
                    <a:lnB w="47625" cap="flat" cmpd="sng" algn="ctr">
                      <a:solidFill>
                        <a:srgbClr val="E9DCC8"/>
                      </a:solidFill>
                      <a:prstDash val="solid"/>
                      <a:round/>
                      <a:headEnd type="none" w="med" len="med"/>
                      <a:tailEnd type="none" w="med" len="med"/>
                    </a:lnB>
                  </a:tcPr>
                </a:tc>
                <a:extLst>
                  <a:ext uri="{0D108BD9-81ED-4DB2-BD59-A6C34878D82A}">
                    <a16:rowId xmlns:a16="http://schemas.microsoft.com/office/drawing/2014/main" val="10002"/>
                  </a:ext>
                </a:extLst>
              </a:tr>
              <a:tr h="857250">
                <a:tc>
                  <a:txBody>
                    <a:bodyPr/>
                    <a:lstStyle/>
                    <a:p>
                      <a:pPr algn="ctr">
                        <a:lnSpc>
                          <a:spcPts val="2939"/>
                        </a:lnSpc>
                        <a:defRPr/>
                      </a:pPr>
                      <a:r>
                        <a:rPr lang="en-US" sz="2099">
                          <a:solidFill>
                            <a:srgbClr val="000000"/>
                          </a:solidFill>
                          <a:latin typeface="Canva Sans"/>
                          <a:ea typeface="Canva Sans"/>
                          <a:cs typeface="Canva Sans"/>
                          <a:sym typeface="Canva Sans"/>
                        </a:rPr>
                        <a:t>Akash Poddar</a:t>
                      </a:r>
                      <a:endParaRPr lang="en-US" sz="1100"/>
                    </a:p>
                  </a:txBody>
                  <a:tcPr marL="190500" marR="190500" marT="190500" marB="190500" anchor="ctr">
                    <a:lnL w="47625" cap="flat" cmpd="sng" algn="ctr">
                      <a:solidFill>
                        <a:srgbClr val="E9DCC8"/>
                      </a:solidFill>
                      <a:prstDash val="solid"/>
                      <a:round/>
                      <a:headEnd type="none" w="med" len="med"/>
                      <a:tailEnd type="none" w="med" len="med"/>
                    </a:lnL>
                    <a:lnR w="47625" cap="flat" cmpd="sng" algn="ctr">
                      <a:solidFill>
                        <a:srgbClr val="E9DCC8"/>
                      </a:solidFill>
                      <a:prstDash val="solid"/>
                      <a:round/>
                      <a:headEnd type="none" w="med" len="med"/>
                      <a:tailEnd type="none" w="med" len="med"/>
                    </a:lnR>
                    <a:lnT w="47625" cap="flat" cmpd="sng" algn="ctr">
                      <a:solidFill>
                        <a:srgbClr val="E9DCC8"/>
                      </a:solidFill>
                      <a:prstDash val="solid"/>
                      <a:round/>
                      <a:headEnd type="none" w="med" len="med"/>
                      <a:tailEnd type="none" w="med" len="med"/>
                    </a:lnT>
                    <a:lnB w="47625" cap="flat" cmpd="sng" algn="ctr">
                      <a:solidFill>
                        <a:srgbClr val="E9DCC8"/>
                      </a:solidFill>
                      <a:prstDash val="solid"/>
                      <a:round/>
                      <a:headEnd type="none" w="med" len="med"/>
                      <a:tailEnd type="none" w="med" len="med"/>
                    </a:lnB>
                  </a:tcPr>
                </a:tc>
                <a:tc>
                  <a:txBody>
                    <a:bodyPr/>
                    <a:lstStyle/>
                    <a:p>
                      <a:pPr algn="ctr">
                        <a:lnSpc>
                          <a:spcPts val="2939"/>
                        </a:lnSpc>
                        <a:defRPr/>
                      </a:pPr>
                      <a:r>
                        <a:rPr lang="en-US" sz="2099">
                          <a:solidFill>
                            <a:srgbClr val="000000"/>
                          </a:solidFill>
                          <a:latin typeface="Canva Sans"/>
                          <a:ea typeface="Canva Sans"/>
                          <a:cs typeface="Canva Sans"/>
                          <a:sym typeface="Canva Sans"/>
                        </a:rPr>
                        <a:t>17600122071</a:t>
                      </a:r>
                      <a:endParaRPr lang="en-US" sz="1100"/>
                    </a:p>
                  </a:txBody>
                  <a:tcPr marL="190500" marR="190500" marT="190500" marB="190500" anchor="ctr">
                    <a:lnL w="47625" cap="flat" cmpd="sng" algn="ctr">
                      <a:solidFill>
                        <a:srgbClr val="E9DCC8"/>
                      </a:solidFill>
                      <a:prstDash val="solid"/>
                      <a:round/>
                      <a:headEnd type="none" w="med" len="med"/>
                      <a:tailEnd type="none" w="med" len="med"/>
                    </a:lnL>
                    <a:lnR w="47625" cap="flat" cmpd="sng" algn="ctr">
                      <a:solidFill>
                        <a:srgbClr val="E9DCC8"/>
                      </a:solidFill>
                      <a:prstDash val="solid"/>
                      <a:round/>
                      <a:headEnd type="none" w="med" len="med"/>
                      <a:tailEnd type="none" w="med" len="med"/>
                    </a:lnR>
                    <a:lnT w="47625" cap="flat" cmpd="sng" algn="ctr">
                      <a:solidFill>
                        <a:srgbClr val="E9DCC8"/>
                      </a:solidFill>
                      <a:prstDash val="solid"/>
                      <a:round/>
                      <a:headEnd type="none" w="med" len="med"/>
                      <a:tailEnd type="none" w="med" len="med"/>
                    </a:lnT>
                    <a:lnB w="47625" cap="flat" cmpd="sng" algn="ctr">
                      <a:solidFill>
                        <a:srgbClr val="E9DCC8"/>
                      </a:solidFill>
                      <a:prstDash val="solid"/>
                      <a:round/>
                      <a:headEnd type="none" w="med" len="med"/>
                      <a:tailEnd type="none" w="med" len="med"/>
                    </a:lnB>
                  </a:tcPr>
                </a:tc>
                <a:extLst>
                  <a:ext uri="{0D108BD9-81ED-4DB2-BD59-A6C34878D82A}">
                    <a16:rowId xmlns:a16="http://schemas.microsoft.com/office/drawing/2014/main" val="10003"/>
                  </a:ext>
                </a:extLst>
              </a:tr>
              <a:tr h="857250">
                <a:tc>
                  <a:txBody>
                    <a:bodyPr/>
                    <a:lstStyle/>
                    <a:p>
                      <a:pPr algn="ctr">
                        <a:lnSpc>
                          <a:spcPts val="2939"/>
                        </a:lnSpc>
                        <a:defRPr/>
                      </a:pPr>
                      <a:r>
                        <a:rPr lang="en-US" sz="2099">
                          <a:solidFill>
                            <a:srgbClr val="000000"/>
                          </a:solidFill>
                          <a:latin typeface="Canva Sans"/>
                          <a:ea typeface="Canva Sans"/>
                          <a:cs typeface="Canva Sans"/>
                          <a:sym typeface="Canva Sans"/>
                        </a:rPr>
                        <a:t>Sourodip Ghosh</a:t>
                      </a:r>
                      <a:endParaRPr lang="en-US" sz="1100"/>
                    </a:p>
                  </a:txBody>
                  <a:tcPr marL="190500" marR="190500" marT="190500" marB="190500" anchor="ctr">
                    <a:lnL w="47625" cap="flat" cmpd="sng" algn="ctr">
                      <a:solidFill>
                        <a:srgbClr val="E9DCC8"/>
                      </a:solidFill>
                      <a:prstDash val="solid"/>
                      <a:round/>
                      <a:headEnd type="none" w="med" len="med"/>
                      <a:tailEnd type="none" w="med" len="med"/>
                    </a:lnL>
                    <a:lnR w="47625" cap="flat" cmpd="sng" algn="ctr">
                      <a:solidFill>
                        <a:srgbClr val="E9DCC8"/>
                      </a:solidFill>
                      <a:prstDash val="solid"/>
                      <a:round/>
                      <a:headEnd type="none" w="med" len="med"/>
                      <a:tailEnd type="none" w="med" len="med"/>
                    </a:lnR>
                    <a:lnT w="47625" cap="flat" cmpd="sng" algn="ctr">
                      <a:solidFill>
                        <a:srgbClr val="E9DCC8"/>
                      </a:solidFill>
                      <a:prstDash val="solid"/>
                      <a:round/>
                      <a:headEnd type="none" w="med" len="med"/>
                      <a:tailEnd type="none" w="med" len="med"/>
                    </a:lnT>
                    <a:lnB w="47625" cap="flat" cmpd="sng" algn="ctr">
                      <a:solidFill>
                        <a:srgbClr val="E9DCC8"/>
                      </a:solidFill>
                      <a:prstDash val="solid"/>
                      <a:round/>
                      <a:headEnd type="none" w="med" len="med"/>
                      <a:tailEnd type="none" w="med" len="med"/>
                    </a:lnB>
                  </a:tcPr>
                </a:tc>
                <a:tc>
                  <a:txBody>
                    <a:bodyPr/>
                    <a:lstStyle/>
                    <a:p>
                      <a:pPr algn="ctr">
                        <a:lnSpc>
                          <a:spcPts val="2939"/>
                        </a:lnSpc>
                        <a:defRPr/>
                      </a:pPr>
                      <a:r>
                        <a:rPr lang="en-US" sz="2099">
                          <a:solidFill>
                            <a:srgbClr val="000000"/>
                          </a:solidFill>
                          <a:latin typeface="Canva Sans"/>
                          <a:ea typeface="Canva Sans"/>
                          <a:cs typeface="Canva Sans"/>
                          <a:sym typeface="Canva Sans"/>
                        </a:rPr>
                        <a:t>17600122040 </a:t>
                      </a:r>
                      <a:endParaRPr lang="en-US" sz="1100"/>
                    </a:p>
                  </a:txBody>
                  <a:tcPr marL="190500" marR="190500" marT="190500" marB="190500" anchor="ctr">
                    <a:lnL w="47625" cap="flat" cmpd="sng" algn="ctr">
                      <a:solidFill>
                        <a:srgbClr val="E9DCC8"/>
                      </a:solidFill>
                      <a:prstDash val="solid"/>
                      <a:round/>
                      <a:headEnd type="none" w="med" len="med"/>
                      <a:tailEnd type="none" w="med" len="med"/>
                    </a:lnL>
                    <a:lnR w="47625" cap="flat" cmpd="sng" algn="ctr">
                      <a:solidFill>
                        <a:srgbClr val="E9DCC8"/>
                      </a:solidFill>
                      <a:prstDash val="solid"/>
                      <a:round/>
                      <a:headEnd type="none" w="med" len="med"/>
                      <a:tailEnd type="none" w="med" len="med"/>
                    </a:lnR>
                    <a:lnT w="47625" cap="flat" cmpd="sng" algn="ctr">
                      <a:solidFill>
                        <a:srgbClr val="E9DCC8"/>
                      </a:solidFill>
                      <a:prstDash val="solid"/>
                      <a:round/>
                      <a:headEnd type="none" w="med" len="med"/>
                      <a:tailEnd type="none" w="med" len="med"/>
                    </a:lnT>
                    <a:lnB w="47625" cap="flat" cmpd="sng" algn="ctr">
                      <a:solidFill>
                        <a:srgbClr val="E9DCC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Box 5"/>
          <p:cNvSpPr txBox="1"/>
          <p:nvPr/>
        </p:nvSpPr>
        <p:spPr>
          <a:xfrm>
            <a:off x="7287851" y="1627888"/>
            <a:ext cx="3731538" cy="580390"/>
          </a:xfrm>
          <a:prstGeom prst="rect">
            <a:avLst/>
          </a:prstGeom>
        </p:spPr>
        <p:txBody>
          <a:bodyPr wrap="square" lIns="0" tIns="0" rIns="0" bIns="0" rtlCol="0" anchor="t">
            <a:spAutoFit/>
          </a:bodyPr>
          <a:lstStyle/>
          <a:p>
            <a:pPr algn="ctr">
              <a:lnSpc>
                <a:spcPts val="4759"/>
              </a:lnSpc>
              <a:spcBef>
                <a:spcPct val="0"/>
              </a:spcBef>
            </a:pPr>
            <a:r>
              <a:rPr lang="en-US" sz="3399" b="1" dirty="0">
                <a:solidFill>
                  <a:srgbClr val="000000"/>
                </a:solidFill>
                <a:latin typeface="Canva Sans Bold"/>
                <a:ea typeface="Canva Sans Bold"/>
                <a:cs typeface="Canva Sans Bold"/>
                <a:sym typeface="Canva Sans Bold"/>
              </a:rPr>
              <a:t>TEAM MEMBERS</a:t>
            </a:r>
          </a:p>
        </p:txBody>
      </p:sp>
      <p:sp>
        <p:nvSpPr>
          <p:cNvPr id="6" name="TextBox 6"/>
          <p:cNvSpPr txBox="1"/>
          <p:nvPr/>
        </p:nvSpPr>
        <p:spPr>
          <a:xfrm>
            <a:off x="3778305" y="7856729"/>
            <a:ext cx="10750629" cy="563880"/>
          </a:xfrm>
          <a:prstGeom prst="rect">
            <a:avLst/>
          </a:prstGeom>
        </p:spPr>
        <p:txBody>
          <a:bodyPr wrap="square" lIns="0" tIns="0" rIns="0" bIns="0" rtlCol="0" anchor="t">
            <a:spAutoFit/>
          </a:bodyPr>
          <a:lstStyle/>
          <a:p>
            <a:pPr algn="ctr">
              <a:lnSpc>
                <a:spcPts val="4620"/>
              </a:lnSpc>
              <a:spcBef>
                <a:spcPct val="0"/>
              </a:spcBef>
            </a:pPr>
            <a:r>
              <a:rPr lang="en-US" sz="3300" dirty="0">
                <a:solidFill>
                  <a:srgbClr val="000000"/>
                </a:solidFill>
                <a:latin typeface="Canva Sans"/>
                <a:ea typeface="Canva Sans"/>
                <a:cs typeface="Canva Sans"/>
                <a:sym typeface="Canva Sans"/>
              </a:rPr>
              <a:t>Mentored by Assistant Professor </a:t>
            </a:r>
            <a:r>
              <a:rPr lang="en-US" sz="3300" dirty="0" err="1">
                <a:solidFill>
                  <a:srgbClr val="000000"/>
                </a:solidFill>
                <a:latin typeface="Canva Sans"/>
                <a:ea typeface="Canva Sans"/>
                <a:cs typeface="Canva Sans"/>
                <a:sym typeface="Canva Sans"/>
              </a:rPr>
              <a:t>Agnimita</a:t>
            </a:r>
            <a:r>
              <a:rPr lang="en-US" sz="3300" dirty="0">
                <a:solidFill>
                  <a:srgbClr val="000000"/>
                </a:solidFill>
                <a:latin typeface="Canva Sans"/>
                <a:ea typeface="Canva Sans"/>
                <a:cs typeface="Canva Sans"/>
                <a:sym typeface="Canva Sans"/>
              </a:rPr>
              <a:t> Banerjee</a:t>
            </a:r>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26" b="-26"/>
              </a:stretch>
            </a:blipFill>
          </p:spPr>
        </p:sp>
      </p:grpSp>
      <p:sp>
        <p:nvSpPr>
          <p:cNvPr id="4" name="TextBox 4"/>
          <p:cNvSpPr txBox="1"/>
          <p:nvPr/>
        </p:nvSpPr>
        <p:spPr>
          <a:xfrm>
            <a:off x="1926826" y="1997464"/>
            <a:ext cx="14434348" cy="4551509"/>
          </a:xfrm>
          <a:prstGeom prst="rect">
            <a:avLst/>
          </a:prstGeom>
        </p:spPr>
        <p:txBody>
          <a:bodyPr lIns="0" tIns="0" rIns="0" bIns="0" rtlCol="0" anchor="t">
            <a:spAutoFit/>
          </a:bodyPr>
          <a:lstStyle/>
          <a:p>
            <a:pPr algn="just">
              <a:lnSpc>
                <a:spcPts val="3229"/>
              </a:lnSpc>
              <a:spcBef>
                <a:spcPct val="0"/>
              </a:spcBef>
            </a:pPr>
            <a:r>
              <a:rPr lang="en-US" sz="2306">
                <a:solidFill>
                  <a:srgbClr val="000000"/>
                </a:solidFill>
                <a:latin typeface="Canva Sans"/>
                <a:ea typeface="Canva Sans"/>
                <a:cs typeface="Canva Sans"/>
                <a:sym typeface="Canva Sans"/>
              </a:rPr>
              <a:t>Progress in applied machine learning is limited less by algorithms or talent than by a lack of affordable, reliable, low-friction compute — especially for independent researchers, students, and early-stage practitioners in cost-sensitive economies like India. The problem statement quantifies this cost barrier, outlines the structural pain points shown below in the current ML training ecosystem, and shows why existing alternatives fail to solve them together.</a:t>
            </a:r>
          </a:p>
          <a:p>
            <a:pPr algn="l">
              <a:lnSpc>
                <a:spcPts val="1829"/>
              </a:lnSpc>
              <a:spcBef>
                <a:spcPct val="0"/>
              </a:spcBef>
            </a:pPr>
            <a:endParaRPr lang="en-US" sz="2306">
              <a:solidFill>
                <a:srgbClr val="000000"/>
              </a:solidFill>
              <a:latin typeface="Canva Sans"/>
              <a:ea typeface="Canva Sans"/>
              <a:cs typeface="Canva Sans"/>
              <a:sym typeface="Canva Sans"/>
            </a:endParaRPr>
          </a:p>
          <a:p>
            <a:pPr algn="l">
              <a:lnSpc>
                <a:spcPts val="3369"/>
              </a:lnSpc>
              <a:spcBef>
                <a:spcPct val="0"/>
              </a:spcBef>
            </a:pPr>
            <a:r>
              <a:rPr lang="en-US" sz="2406" b="1">
                <a:solidFill>
                  <a:srgbClr val="000000"/>
                </a:solidFill>
                <a:latin typeface="Canva Sans Bold"/>
                <a:ea typeface="Canva Sans Bold"/>
                <a:cs typeface="Canva Sans Bold"/>
                <a:sym typeface="Canva Sans Bold"/>
              </a:rPr>
              <a:t>The Challenge:</a:t>
            </a:r>
          </a:p>
          <a:p>
            <a:pPr algn="l">
              <a:lnSpc>
                <a:spcPts val="1829"/>
              </a:lnSpc>
              <a:spcBef>
                <a:spcPct val="0"/>
              </a:spcBef>
            </a:pPr>
            <a:endParaRPr lang="en-US" sz="2406" b="1">
              <a:solidFill>
                <a:srgbClr val="000000"/>
              </a:solidFill>
              <a:latin typeface="Canva Sans Bold"/>
              <a:ea typeface="Canva Sans Bold"/>
              <a:cs typeface="Canva Sans Bold"/>
              <a:sym typeface="Canva Sans Bold"/>
            </a:endParaRPr>
          </a:p>
          <a:p>
            <a:pPr algn="l">
              <a:lnSpc>
                <a:spcPts val="3229"/>
              </a:lnSpc>
              <a:spcBef>
                <a:spcPct val="0"/>
              </a:spcBef>
            </a:pPr>
            <a:r>
              <a:rPr lang="en-US" sz="2306">
                <a:solidFill>
                  <a:srgbClr val="000000"/>
                </a:solidFill>
                <a:latin typeface="Canva Sans"/>
                <a:ea typeface="Canva Sans"/>
                <a:cs typeface="Canva Sans"/>
                <a:sym typeface="Canva Sans"/>
              </a:rPr>
              <a:t>Machine learning compute is expensive and out of reach</a:t>
            </a:r>
          </a:p>
          <a:p>
            <a:pPr algn="l">
              <a:lnSpc>
                <a:spcPts val="3229"/>
              </a:lnSpc>
              <a:spcBef>
                <a:spcPct val="0"/>
              </a:spcBef>
            </a:pPr>
            <a:endParaRPr lang="en-US" sz="2306">
              <a:solidFill>
                <a:srgbClr val="000000"/>
              </a:solidFill>
              <a:latin typeface="Canva Sans"/>
              <a:ea typeface="Canva Sans"/>
              <a:cs typeface="Canva Sans"/>
              <a:sym typeface="Canva Sans"/>
            </a:endParaRPr>
          </a:p>
          <a:p>
            <a:pPr algn="l">
              <a:lnSpc>
                <a:spcPts val="3229"/>
              </a:lnSpc>
              <a:spcBef>
                <a:spcPct val="0"/>
              </a:spcBef>
            </a:pPr>
            <a:endParaRPr lang="en-US" sz="2306">
              <a:solidFill>
                <a:srgbClr val="000000"/>
              </a:solidFill>
              <a:latin typeface="Canva Sans"/>
              <a:ea typeface="Canva Sans"/>
              <a:cs typeface="Canva Sans"/>
              <a:sym typeface="Canva Sans"/>
            </a:endParaRPr>
          </a:p>
          <a:p>
            <a:pPr algn="l">
              <a:lnSpc>
                <a:spcPts val="3229"/>
              </a:lnSpc>
              <a:spcBef>
                <a:spcPct val="0"/>
              </a:spcBef>
            </a:pPr>
            <a:endParaRPr lang="en-US" sz="2306">
              <a:solidFill>
                <a:srgbClr val="000000"/>
              </a:solidFill>
              <a:latin typeface="Canva Sans"/>
              <a:ea typeface="Canva Sans"/>
              <a:cs typeface="Canva Sans"/>
              <a:sym typeface="Canva Sans"/>
            </a:endParaRPr>
          </a:p>
        </p:txBody>
      </p:sp>
      <p:grpSp>
        <p:nvGrpSpPr>
          <p:cNvPr id="5" name="Group 5"/>
          <p:cNvGrpSpPr/>
          <p:nvPr/>
        </p:nvGrpSpPr>
        <p:grpSpPr>
          <a:xfrm>
            <a:off x="2413635" y="5678043"/>
            <a:ext cx="4271010" cy="3433672"/>
            <a:chOff x="0" y="0"/>
            <a:chExt cx="5694680" cy="4578229"/>
          </a:xfrm>
        </p:grpSpPr>
        <p:sp>
          <p:nvSpPr>
            <p:cNvPr id="6" name="Freeform 6"/>
            <p:cNvSpPr/>
            <p:nvPr/>
          </p:nvSpPr>
          <p:spPr>
            <a:xfrm>
              <a:off x="0" y="0"/>
              <a:ext cx="5694680" cy="4578229"/>
            </a:xfrm>
            <a:custGeom>
              <a:avLst/>
              <a:gdLst/>
              <a:ahLst/>
              <a:cxnLst/>
              <a:rect l="l" t="t" r="r" b="b"/>
              <a:pathLst>
                <a:path w="5694680" h="4578229">
                  <a:moveTo>
                    <a:pt x="0" y="144541"/>
                  </a:moveTo>
                  <a:cubicBezTo>
                    <a:pt x="0" y="64721"/>
                    <a:pt x="74041" y="0"/>
                    <a:pt x="165354" y="0"/>
                  </a:cubicBezTo>
                  <a:lnTo>
                    <a:pt x="5529326" y="0"/>
                  </a:lnTo>
                  <a:cubicBezTo>
                    <a:pt x="5620639" y="0"/>
                    <a:pt x="5694680" y="64721"/>
                    <a:pt x="5694680" y="144541"/>
                  </a:cubicBezTo>
                  <a:lnTo>
                    <a:pt x="5694680" y="4433689"/>
                  </a:lnTo>
                  <a:cubicBezTo>
                    <a:pt x="5694680" y="4513508"/>
                    <a:pt x="5620639" y="4578229"/>
                    <a:pt x="5529326" y="4578229"/>
                  </a:cubicBezTo>
                  <a:lnTo>
                    <a:pt x="165354" y="4578229"/>
                  </a:lnTo>
                  <a:cubicBezTo>
                    <a:pt x="74041" y="4578229"/>
                    <a:pt x="0" y="4513508"/>
                    <a:pt x="0" y="4433689"/>
                  </a:cubicBezTo>
                  <a:close/>
                </a:path>
              </a:pathLst>
            </a:custGeom>
            <a:solidFill>
              <a:srgbClr val="FDF8F1"/>
            </a:solidFill>
            <a:ln w="47625" cap="sq">
              <a:solidFill>
                <a:srgbClr val="E9DCC8"/>
              </a:solidFill>
              <a:prstDash val="solid"/>
              <a:miter/>
            </a:ln>
          </p:spPr>
        </p:sp>
      </p:grpSp>
      <p:grpSp>
        <p:nvGrpSpPr>
          <p:cNvPr id="7" name="Group 7"/>
          <p:cNvGrpSpPr/>
          <p:nvPr/>
        </p:nvGrpSpPr>
        <p:grpSpPr>
          <a:xfrm>
            <a:off x="2807208" y="6071616"/>
            <a:ext cx="768096" cy="768096"/>
            <a:chOff x="0" y="0"/>
            <a:chExt cx="1024128" cy="1024128"/>
          </a:xfrm>
        </p:grpSpPr>
        <p:sp>
          <p:nvSpPr>
            <p:cNvPr id="8" name="Freeform 8"/>
            <p:cNvSpPr/>
            <p:nvPr/>
          </p:nvSpPr>
          <p:spPr>
            <a:xfrm>
              <a:off x="0" y="0"/>
              <a:ext cx="1024128" cy="1024128"/>
            </a:xfrm>
            <a:custGeom>
              <a:avLst/>
              <a:gdLst/>
              <a:ahLst/>
              <a:cxnLst/>
              <a:rect l="l" t="t" r="r" b="b"/>
              <a:pathLst>
                <a:path w="1024128" h="1024128">
                  <a:moveTo>
                    <a:pt x="0" y="512064"/>
                  </a:moveTo>
                  <a:cubicBezTo>
                    <a:pt x="0" y="229235"/>
                    <a:pt x="229235" y="0"/>
                    <a:pt x="512064" y="0"/>
                  </a:cubicBezTo>
                  <a:cubicBezTo>
                    <a:pt x="794893" y="0"/>
                    <a:pt x="1024128" y="229235"/>
                    <a:pt x="1024128" y="512064"/>
                  </a:cubicBezTo>
                  <a:cubicBezTo>
                    <a:pt x="1024128" y="794893"/>
                    <a:pt x="794893" y="1024128"/>
                    <a:pt x="512064" y="1024128"/>
                  </a:cubicBezTo>
                  <a:cubicBezTo>
                    <a:pt x="229235" y="1024128"/>
                    <a:pt x="0" y="794893"/>
                    <a:pt x="0" y="512064"/>
                  </a:cubicBezTo>
                  <a:close/>
                </a:path>
              </a:pathLst>
            </a:custGeom>
            <a:solidFill>
              <a:srgbClr val="F1E6D3"/>
            </a:solidFill>
          </p:spPr>
        </p:sp>
      </p:grpSp>
      <p:grpSp>
        <p:nvGrpSpPr>
          <p:cNvPr id="9" name="Group 9"/>
          <p:cNvGrpSpPr/>
          <p:nvPr/>
        </p:nvGrpSpPr>
        <p:grpSpPr>
          <a:xfrm>
            <a:off x="2807208" y="6990588"/>
            <a:ext cx="3497580" cy="685800"/>
            <a:chOff x="0" y="0"/>
            <a:chExt cx="4663440" cy="914400"/>
          </a:xfrm>
        </p:grpSpPr>
        <p:sp>
          <p:nvSpPr>
            <p:cNvPr id="10" name="Freeform 10"/>
            <p:cNvSpPr/>
            <p:nvPr/>
          </p:nvSpPr>
          <p:spPr>
            <a:xfrm>
              <a:off x="0" y="0"/>
              <a:ext cx="4663440" cy="914400"/>
            </a:xfrm>
            <a:custGeom>
              <a:avLst/>
              <a:gdLst/>
              <a:ahLst/>
              <a:cxnLst/>
              <a:rect l="l" t="t" r="r" b="b"/>
              <a:pathLst>
                <a:path w="4663440" h="914400">
                  <a:moveTo>
                    <a:pt x="0" y="0"/>
                  </a:moveTo>
                  <a:lnTo>
                    <a:pt x="4663440" y="0"/>
                  </a:lnTo>
                  <a:lnTo>
                    <a:pt x="4663440" y="914400"/>
                  </a:lnTo>
                  <a:lnTo>
                    <a:pt x="0" y="914400"/>
                  </a:lnTo>
                  <a:close/>
                </a:path>
              </a:pathLst>
            </a:custGeom>
            <a:blipFill>
              <a:blip r:embed="rId3">
                <a:alphaModFix amt="0"/>
              </a:blip>
              <a:stretch>
                <a:fillRect t="-49373" b="-49373"/>
              </a:stretch>
            </a:blipFill>
          </p:spPr>
        </p:sp>
        <p:sp>
          <p:nvSpPr>
            <p:cNvPr id="11" name="TextBox 11"/>
            <p:cNvSpPr txBox="1"/>
            <p:nvPr/>
          </p:nvSpPr>
          <p:spPr>
            <a:xfrm>
              <a:off x="0" y="-19050"/>
              <a:ext cx="4663440" cy="933450"/>
            </a:xfrm>
            <a:prstGeom prst="rect">
              <a:avLst/>
            </a:prstGeom>
          </p:spPr>
          <p:txBody>
            <a:bodyPr lIns="0" tIns="0" rIns="0" bIns="0" rtlCol="0" anchor="ctr"/>
            <a:lstStyle/>
            <a:p>
              <a:pPr algn="l">
                <a:lnSpc>
                  <a:spcPts val="2610"/>
                </a:lnSpc>
              </a:pPr>
              <a:r>
                <a:rPr lang="en-US" sz="2175" b="1">
                  <a:solidFill>
                    <a:srgbClr val="26324A"/>
                  </a:solidFill>
                  <a:latin typeface="Cambria Bold"/>
                  <a:ea typeface="Cambria Bold"/>
                  <a:cs typeface="Cambria Bold"/>
                  <a:sym typeface="Cambria Bold"/>
                </a:rPr>
                <a:t>Cost &amp; Inflexibility</a:t>
              </a:r>
            </a:p>
          </p:txBody>
        </p:sp>
      </p:grpSp>
      <p:grpSp>
        <p:nvGrpSpPr>
          <p:cNvPr id="12" name="Group 12"/>
          <p:cNvGrpSpPr/>
          <p:nvPr/>
        </p:nvGrpSpPr>
        <p:grpSpPr>
          <a:xfrm>
            <a:off x="2807208" y="7406640"/>
            <a:ext cx="3497580" cy="1851660"/>
            <a:chOff x="0" y="0"/>
            <a:chExt cx="4663440" cy="2468880"/>
          </a:xfrm>
        </p:grpSpPr>
        <p:sp>
          <p:nvSpPr>
            <p:cNvPr id="13" name="Freeform 13"/>
            <p:cNvSpPr/>
            <p:nvPr/>
          </p:nvSpPr>
          <p:spPr>
            <a:xfrm>
              <a:off x="0" y="0"/>
              <a:ext cx="4663440" cy="2468880"/>
            </a:xfrm>
            <a:custGeom>
              <a:avLst/>
              <a:gdLst/>
              <a:ahLst/>
              <a:cxnLst/>
              <a:rect l="l" t="t" r="r" b="b"/>
              <a:pathLst>
                <a:path w="4663440" h="2468880">
                  <a:moveTo>
                    <a:pt x="0" y="0"/>
                  </a:moveTo>
                  <a:lnTo>
                    <a:pt x="4663440" y="0"/>
                  </a:lnTo>
                  <a:lnTo>
                    <a:pt x="4663440" y="2468880"/>
                  </a:lnTo>
                  <a:lnTo>
                    <a:pt x="0" y="2468880"/>
                  </a:lnTo>
                  <a:close/>
                </a:path>
              </a:pathLst>
            </a:custGeom>
            <a:blipFill>
              <a:blip r:embed="rId3">
                <a:alphaModFix amt="0"/>
              </a:blip>
              <a:stretch>
                <a:fillRect l="-17925" r="-17925"/>
              </a:stretch>
            </a:blipFill>
          </p:spPr>
        </p:sp>
        <p:sp>
          <p:nvSpPr>
            <p:cNvPr id="14" name="TextBox 14"/>
            <p:cNvSpPr txBox="1"/>
            <p:nvPr/>
          </p:nvSpPr>
          <p:spPr>
            <a:xfrm>
              <a:off x="0" y="-57150"/>
              <a:ext cx="4663440" cy="2526030"/>
            </a:xfrm>
            <a:prstGeom prst="rect">
              <a:avLst/>
            </a:prstGeom>
          </p:spPr>
          <p:txBody>
            <a:bodyPr lIns="0" tIns="0" rIns="0" bIns="0" rtlCol="0" anchor="ctr"/>
            <a:lstStyle/>
            <a:p>
              <a:pPr algn="l">
                <a:lnSpc>
                  <a:spcPts val="2277"/>
                </a:lnSpc>
              </a:pPr>
              <a:r>
                <a:rPr lang="en-US" sz="1650">
                  <a:solidFill>
                    <a:srgbClr val="5B6472"/>
                  </a:solidFill>
                  <a:latin typeface="Calibri (MS)"/>
                  <a:ea typeface="Calibri (MS)"/>
                  <a:cs typeface="Calibri (MS)"/>
                  <a:sym typeface="Calibri (MS)"/>
                </a:rPr>
                <a:t>Centralized cloud platforms charge premium, fixed hourly rates — wasting spend whenever GPUs sit under-utilised.</a:t>
              </a:r>
            </a:p>
          </p:txBody>
        </p:sp>
      </p:grpSp>
      <p:grpSp>
        <p:nvGrpSpPr>
          <p:cNvPr id="15" name="Group 15"/>
          <p:cNvGrpSpPr/>
          <p:nvPr/>
        </p:nvGrpSpPr>
        <p:grpSpPr>
          <a:xfrm>
            <a:off x="7008495" y="5678043"/>
            <a:ext cx="4271010" cy="3433672"/>
            <a:chOff x="0" y="0"/>
            <a:chExt cx="5694680" cy="4578229"/>
          </a:xfrm>
        </p:grpSpPr>
        <p:sp>
          <p:nvSpPr>
            <p:cNvPr id="16" name="Freeform 16"/>
            <p:cNvSpPr/>
            <p:nvPr/>
          </p:nvSpPr>
          <p:spPr>
            <a:xfrm>
              <a:off x="0" y="0"/>
              <a:ext cx="5694680" cy="4578229"/>
            </a:xfrm>
            <a:custGeom>
              <a:avLst/>
              <a:gdLst/>
              <a:ahLst/>
              <a:cxnLst/>
              <a:rect l="l" t="t" r="r" b="b"/>
              <a:pathLst>
                <a:path w="5694680" h="4578229">
                  <a:moveTo>
                    <a:pt x="0" y="144541"/>
                  </a:moveTo>
                  <a:cubicBezTo>
                    <a:pt x="0" y="64721"/>
                    <a:pt x="74041" y="0"/>
                    <a:pt x="165354" y="0"/>
                  </a:cubicBezTo>
                  <a:lnTo>
                    <a:pt x="5529326" y="0"/>
                  </a:lnTo>
                  <a:cubicBezTo>
                    <a:pt x="5620639" y="0"/>
                    <a:pt x="5694680" y="64721"/>
                    <a:pt x="5694680" y="144541"/>
                  </a:cubicBezTo>
                  <a:lnTo>
                    <a:pt x="5694680" y="4433689"/>
                  </a:lnTo>
                  <a:cubicBezTo>
                    <a:pt x="5694680" y="4513508"/>
                    <a:pt x="5620639" y="4578229"/>
                    <a:pt x="5529326" y="4578229"/>
                  </a:cubicBezTo>
                  <a:lnTo>
                    <a:pt x="165354" y="4578229"/>
                  </a:lnTo>
                  <a:cubicBezTo>
                    <a:pt x="74041" y="4578229"/>
                    <a:pt x="0" y="4513508"/>
                    <a:pt x="0" y="4433689"/>
                  </a:cubicBezTo>
                  <a:close/>
                </a:path>
              </a:pathLst>
            </a:custGeom>
            <a:solidFill>
              <a:srgbClr val="FDF8F1"/>
            </a:solidFill>
            <a:ln w="47625" cap="sq">
              <a:solidFill>
                <a:srgbClr val="E9DCC8"/>
              </a:solidFill>
              <a:prstDash val="solid"/>
              <a:miter/>
            </a:ln>
          </p:spPr>
        </p:sp>
      </p:grpSp>
      <p:grpSp>
        <p:nvGrpSpPr>
          <p:cNvPr id="17" name="Group 17"/>
          <p:cNvGrpSpPr/>
          <p:nvPr/>
        </p:nvGrpSpPr>
        <p:grpSpPr>
          <a:xfrm>
            <a:off x="7402068" y="6071616"/>
            <a:ext cx="768096" cy="768096"/>
            <a:chOff x="0" y="0"/>
            <a:chExt cx="1024128" cy="1024128"/>
          </a:xfrm>
        </p:grpSpPr>
        <p:sp>
          <p:nvSpPr>
            <p:cNvPr id="18" name="Freeform 18"/>
            <p:cNvSpPr/>
            <p:nvPr/>
          </p:nvSpPr>
          <p:spPr>
            <a:xfrm>
              <a:off x="0" y="0"/>
              <a:ext cx="1024128" cy="1024128"/>
            </a:xfrm>
            <a:custGeom>
              <a:avLst/>
              <a:gdLst/>
              <a:ahLst/>
              <a:cxnLst/>
              <a:rect l="l" t="t" r="r" b="b"/>
              <a:pathLst>
                <a:path w="1024128" h="1024128">
                  <a:moveTo>
                    <a:pt x="0" y="512064"/>
                  </a:moveTo>
                  <a:cubicBezTo>
                    <a:pt x="0" y="229235"/>
                    <a:pt x="229235" y="0"/>
                    <a:pt x="512064" y="0"/>
                  </a:cubicBezTo>
                  <a:cubicBezTo>
                    <a:pt x="794893" y="0"/>
                    <a:pt x="1024128" y="229235"/>
                    <a:pt x="1024128" y="512064"/>
                  </a:cubicBezTo>
                  <a:cubicBezTo>
                    <a:pt x="1024128" y="794893"/>
                    <a:pt x="794893" y="1024128"/>
                    <a:pt x="512064" y="1024128"/>
                  </a:cubicBezTo>
                  <a:cubicBezTo>
                    <a:pt x="229235" y="1024128"/>
                    <a:pt x="0" y="794893"/>
                    <a:pt x="0" y="512064"/>
                  </a:cubicBezTo>
                  <a:close/>
                </a:path>
              </a:pathLst>
            </a:custGeom>
            <a:solidFill>
              <a:srgbClr val="F1E6D3"/>
            </a:solidFill>
          </p:spPr>
        </p:sp>
      </p:grpSp>
      <p:grpSp>
        <p:nvGrpSpPr>
          <p:cNvPr id="19" name="Group 19"/>
          <p:cNvGrpSpPr/>
          <p:nvPr/>
        </p:nvGrpSpPr>
        <p:grpSpPr>
          <a:xfrm>
            <a:off x="7402068" y="6990588"/>
            <a:ext cx="3497580" cy="685800"/>
            <a:chOff x="0" y="0"/>
            <a:chExt cx="4663440" cy="914400"/>
          </a:xfrm>
        </p:grpSpPr>
        <p:sp>
          <p:nvSpPr>
            <p:cNvPr id="20" name="Freeform 20"/>
            <p:cNvSpPr/>
            <p:nvPr/>
          </p:nvSpPr>
          <p:spPr>
            <a:xfrm>
              <a:off x="0" y="0"/>
              <a:ext cx="4663440" cy="914400"/>
            </a:xfrm>
            <a:custGeom>
              <a:avLst/>
              <a:gdLst/>
              <a:ahLst/>
              <a:cxnLst/>
              <a:rect l="l" t="t" r="r" b="b"/>
              <a:pathLst>
                <a:path w="4663440" h="914400">
                  <a:moveTo>
                    <a:pt x="0" y="0"/>
                  </a:moveTo>
                  <a:lnTo>
                    <a:pt x="4663440" y="0"/>
                  </a:lnTo>
                  <a:lnTo>
                    <a:pt x="4663440" y="914400"/>
                  </a:lnTo>
                  <a:lnTo>
                    <a:pt x="0" y="914400"/>
                  </a:lnTo>
                  <a:close/>
                </a:path>
              </a:pathLst>
            </a:custGeom>
            <a:blipFill>
              <a:blip r:embed="rId3">
                <a:alphaModFix amt="0"/>
              </a:blip>
              <a:stretch>
                <a:fillRect t="-49373" b="-49373"/>
              </a:stretch>
            </a:blipFill>
          </p:spPr>
        </p:sp>
        <p:sp>
          <p:nvSpPr>
            <p:cNvPr id="21" name="TextBox 21"/>
            <p:cNvSpPr txBox="1"/>
            <p:nvPr/>
          </p:nvSpPr>
          <p:spPr>
            <a:xfrm>
              <a:off x="0" y="-19050"/>
              <a:ext cx="4663440" cy="933450"/>
            </a:xfrm>
            <a:prstGeom prst="rect">
              <a:avLst/>
            </a:prstGeom>
          </p:spPr>
          <p:txBody>
            <a:bodyPr lIns="0" tIns="0" rIns="0" bIns="0" rtlCol="0" anchor="ctr"/>
            <a:lstStyle/>
            <a:p>
              <a:pPr algn="l">
                <a:lnSpc>
                  <a:spcPts val="2610"/>
                </a:lnSpc>
              </a:pPr>
              <a:r>
                <a:rPr lang="en-US" sz="2175" b="1">
                  <a:solidFill>
                    <a:srgbClr val="26324A"/>
                  </a:solidFill>
                  <a:latin typeface="Cambria Bold"/>
                  <a:ea typeface="Cambria Bold"/>
                  <a:cs typeface="Cambria Bold"/>
                  <a:sym typeface="Cambria Bold"/>
                </a:rPr>
                <a:t>Untapped Potential</a:t>
              </a:r>
            </a:p>
          </p:txBody>
        </p:sp>
      </p:grpSp>
      <p:grpSp>
        <p:nvGrpSpPr>
          <p:cNvPr id="22" name="Group 22"/>
          <p:cNvGrpSpPr/>
          <p:nvPr/>
        </p:nvGrpSpPr>
        <p:grpSpPr>
          <a:xfrm>
            <a:off x="7402068" y="7406640"/>
            <a:ext cx="3497580" cy="1851660"/>
            <a:chOff x="0" y="0"/>
            <a:chExt cx="4663440" cy="2468880"/>
          </a:xfrm>
        </p:grpSpPr>
        <p:sp>
          <p:nvSpPr>
            <p:cNvPr id="23" name="Freeform 23"/>
            <p:cNvSpPr/>
            <p:nvPr/>
          </p:nvSpPr>
          <p:spPr>
            <a:xfrm>
              <a:off x="0" y="0"/>
              <a:ext cx="4663440" cy="2468880"/>
            </a:xfrm>
            <a:custGeom>
              <a:avLst/>
              <a:gdLst/>
              <a:ahLst/>
              <a:cxnLst/>
              <a:rect l="l" t="t" r="r" b="b"/>
              <a:pathLst>
                <a:path w="4663440" h="2468880">
                  <a:moveTo>
                    <a:pt x="0" y="0"/>
                  </a:moveTo>
                  <a:lnTo>
                    <a:pt x="4663440" y="0"/>
                  </a:lnTo>
                  <a:lnTo>
                    <a:pt x="4663440" y="2468880"/>
                  </a:lnTo>
                  <a:lnTo>
                    <a:pt x="0" y="2468880"/>
                  </a:lnTo>
                  <a:close/>
                </a:path>
              </a:pathLst>
            </a:custGeom>
            <a:blipFill>
              <a:blip r:embed="rId3">
                <a:alphaModFix amt="0"/>
              </a:blip>
              <a:stretch>
                <a:fillRect l="-17925" r="-17925"/>
              </a:stretch>
            </a:blipFill>
          </p:spPr>
        </p:sp>
        <p:sp>
          <p:nvSpPr>
            <p:cNvPr id="24" name="TextBox 24"/>
            <p:cNvSpPr txBox="1"/>
            <p:nvPr/>
          </p:nvSpPr>
          <p:spPr>
            <a:xfrm>
              <a:off x="0" y="-57150"/>
              <a:ext cx="4663440" cy="2526030"/>
            </a:xfrm>
            <a:prstGeom prst="rect">
              <a:avLst/>
            </a:prstGeom>
          </p:spPr>
          <p:txBody>
            <a:bodyPr lIns="0" tIns="0" rIns="0" bIns="0" rtlCol="0" anchor="ctr"/>
            <a:lstStyle/>
            <a:p>
              <a:pPr algn="l">
                <a:lnSpc>
                  <a:spcPts val="2277"/>
                </a:lnSpc>
              </a:pPr>
              <a:r>
                <a:rPr lang="en-US" sz="1650">
                  <a:solidFill>
                    <a:srgbClr val="5B6472"/>
                  </a:solidFill>
                  <a:latin typeface="Calibri (MS)"/>
                  <a:ea typeface="Calibri (MS)"/>
                  <a:cs typeface="Calibri (MS)"/>
                  <a:sym typeface="Calibri (MS)"/>
                </a:rPr>
                <a:t>A vast, globally distributed pool of powerful idle GPUs (gaming rigs, workstations) sits unused every day.</a:t>
              </a:r>
            </a:p>
          </p:txBody>
        </p:sp>
      </p:grpSp>
      <p:grpSp>
        <p:nvGrpSpPr>
          <p:cNvPr id="25" name="Group 25"/>
          <p:cNvGrpSpPr/>
          <p:nvPr/>
        </p:nvGrpSpPr>
        <p:grpSpPr>
          <a:xfrm>
            <a:off x="11603355" y="5678043"/>
            <a:ext cx="4271010" cy="3433672"/>
            <a:chOff x="0" y="0"/>
            <a:chExt cx="5694680" cy="4578229"/>
          </a:xfrm>
        </p:grpSpPr>
        <p:sp>
          <p:nvSpPr>
            <p:cNvPr id="26" name="Freeform 26"/>
            <p:cNvSpPr/>
            <p:nvPr/>
          </p:nvSpPr>
          <p:spPr>
            <a:xfrm>
              <a:off x="0" y="0"/>
              <a:ext cx="5694680" cy="4578229"/>
            </a:xfrm>
            <a:custGeom>
              <a:avLst/>
              <a:gdLst/>
              <a:ahLst/>
              <a:cxnLst/>
              <a:rect l="l" t="t" r="r" b="b"/>
              <a:pathLst>
                <a:path w="5694680" h="4578229">
                  <a:moveTo>
                    <a:pt x="0" y="144541"/>
                  </a:moveTo>
                  <a:cubicBezTo>
                    <a:pt x="0" y="64721"/>
                    <a:pt x="74041" y="0"/>
                    <a:pt x="165354" y="0"/>
                  </a:cubicBezTo>
                  <a:lnTo>
                    <a:pt x="5529326" y="0"/>
                  </a:lnTo>
                  <a:cubicBezTo>
                    <a:pt x="5620639" y="0"/>
                    <a:pt x="5694680" y="64721"/>
                    <a:pt x="5694680" y="144541"/>
                  </a:cubicBezTo>
                  <a:lnTo>
                    <a:pt x="5694680" y="4433689"/>
                  </a:lnTo>
                  <a:cubicBezTo>
                    <a:pt x="5694680" y="4513508"/>
                    <a:pt x="5620639" y="4578229"/>
                    <a:pt x="5529326" y="4578229"/>
                  </a:cubicBezTo>
                  <a:lnTo>
                    <a:pt x="165354" y="4578229"/>
                  </a:lnTo>
                  <a:cubicBezTo>
                    <a:pt x="74041" y="4578229"/>
                    <a:pt x="0" y="4513508"/>
                    <a:pt x="0" y="4433689"/>
                  </a:cubicBezTo>
                  <a:close/>
                </a:path>
              </a:pathLst>
            </a:custGeom>
            <a:solidFill>
              <a:srgbClr val="FDF8F1"/>
            </a:solidFill>
            <a:ln w="47625" cap="sq">
              <a:solidFill>
                <a:srgbClr val="E9DCC8"/>
              </a:solidFill>
              <a:prstDash val="solid"/>
              <a:miter/>
            </a:ln>
          </p:spPr>
        </p:sp>
      </p:grpSp>
      <p:grpSp>
        <p:nvGrpSpPr>
          <p:cNvPr id="27" name="Group 27"/>
          <p:cNvGrpSpPr/>
          <p:nvPr/>
        </p:nvGrpSpPr>
        <p:grpSpPr>
          <a:xfrm>
            <a:off x="11996928" y="6071616"/>
            <a:ext cx="768096" cy="768096"/>
            <a:chOff x="0" y="0"/>
            <a:chExt cx="1024128" cy="1024128"/>
          </a:xfrm>
        </p:grpSpPr>
        <p:sp>
          <p:nvSpPr>
            <p:cNvPr id="28" name="Freeform 28"/>
            <p:cNvSpPr/>
            <p:nvPr/>
          </p:nvSpPr>
          <p:spPr>
            <a:xfrm>
              <a:off x="0" y="0"/>
              <a:ext cx="1024128" cy="1024128"/>
            </a:xfrm>
            <a:custGeom>
              <a:avLst/>
              <a:gdLst/>
              <a:ahLst/>
              <a:cxnLst/>
              <a:rect l="l" t="t" r="r" b="b"/>
              <a:pathLst>
                <a:path w="1024128" h="1024128">
                  <a:moveTo>
                    <a:pt x="0" y="512064"/>
                  </a:moveTo>
                  <a:cubicBezTo>
                    <a:pt x="0" y="229235"/>
                    <a:pt x="229235" y="0"/>
                    <a:pt x="512064" y="0"/>
                  </a:cubicBezTo>
                  <a:cubicBezTo>
                    <a:pt x="794893" y="0"/>
                    <a:pt x="1024128" y="229235"/>
                    <a:pt x="1024128" y="512064"/>
                  </a:cubicBezTo>
                  <a:cubicBezTo>
                    <a:pt x="1024128" y="794893"/>
                    <a:pt x="794893" y="1024128"/>
                    <a:pt x="512064" y="1024128"/>
                  </a:cubicBezTo>
                  <a:cubicBezTo>
                    <a:pt x="229235" y="1024128"/>
                    <a:pt x="0" y="794893"/>
                    <a:pt x="0" y="512064"/>
                  </a:cubicBezTo>
                  <a:close/>
                </a:path>
              </a:pathLst>
            </a:custGeom>
            <a:solidFill>
              <a:srgbClr val="F1E6D3"/>
            </a:solidFill>
          </p:spPr>
        </p:sp>
      </p:grpSp>
      <p:grpSp>
        <p:nvGrpSpPr>
          <p:cNvPr id="29" name="Group 29"/>
          <p:cNvGrpSpPr/>
          <p:nvPr/>
        </p:nvGrpSpPr>
        <p:grpSpPr>
          <a:xfrm>
            <a:off x="11996928" y="6071616"/>
            <a:ext cx="768096" cy="768096"/>
            <a:chOff x="0" y="0"/>
            <a:chExt cx="1024128" cy="1024128"/>
          </a:xfrm>
        </p:grpSpPr>
        <p:sp>
          <p:nvSpPr>
            <p:cNvPr id="30" name="Freeform 30"/>
            <p:cNvSpPr/>
            <p:nvPr/>
          </p:nvSpPr>
          <p:spPr>
            <a:xfrm>
              <a:off x="0" y="0"/>
              <a:ext cx="1024128" cy="1024128"/>
            </a:xfrm>
            <a:custGeom>
              <a:avLst/>
              <a:gdLst/>
              <a:ahLst/>
              <a:cxnLst/>
              <a:rect l="l" t="t" r="r" b="b"/>
              <a:pathLst>
                <a:path w="1024128" h="1024128">
                  <a:moveTo>
                    <a:pt x="0" y="0"/>
                  </a:moveTo>
                  <a:lnTo>
                    <a:pt x="1024128" y="0"/>
                  </a:lnTo>
                  <a:lnTo>
                    <a:pt x="1024128" y="1024128"/>
                  </a:lnTo>
                  <a:lnTo>
                    <a:pt x="0" y="1024128"/>
                  </a:lnTo>
                  <a:close/>
                </a:path>
              </a:pathLst>
            </a:custGeom>
            <a:blipFill>
              <a:blip r:embed="rId3">
                <a:alphaModFix amt="0"/>
              </a:blip>
              <a:stretch>
                <a:fillRect l="-78303" r="-78303"/>
              </a:stretch>
            </a:blipFill>
          </p:spPr>
        </p:sp>
        <p:sp>
          <p:nvSpPr>
            <p:cNvPr id="31" name="TextBox 31"/>
            <p:cNvSpPr txBox="1"/>
            <p:nvPr/>
          </p:nvSpPr>
          <p:spPr>
            <a:xfrm>
              <a:off x="0" y="-57150"/>
              <a:ext cx="1024128" cy="1081278"/>
            </a:xfrm>
            <a:prstGeom prst="rect">
              <a:avLst/>
            </a:prstGeom>
          </p:spPr>
          <p:txBody>
            <a:bodyPr lIns="0" tIns="0" rIns="0" bIns="0" rtlCol="0" anchor="ctr"/>
            <a:lstStyle/>
            <a:p>
              <a:pPr algn="ctr">
                <a:lnSpc>
                  <a:spcPts val="3240"/>
                </a:lnSpc>
              </a:pPr>
              <a:endParaRPr/>
            </a:p>
          </p:txBody>
        </p:sp>
      </p:grpSp>
      <p:grpSp>
        <p:nvGrpSpPr>
          <p:cNvPr id="32" name="Group 32"/>
          <p:cNvGrpSpPr/>
          <p:nvPr/>
        </p:nvGrpSpPr>
        <p:grpSpPr>
          <a:xfrm>
            <a:off x="11996928" y="6990588"/>
            <a:ext cx="3497580" cy="685800"/>
            <a:chOff x="0" y="0"/>
            <a:chExt cx="4663440" cy="914400"/>
          </a:xfrm>
        </p:grpSpPr>
        <p:sp>
          <p:nvSpPr>
            <p:cNvPr id="33" name="Freeform 33"/>
            <p:cNvSpPr/>
            <p:nvPr/>
          </p:nvSpPr>
          <p:spPr>
            <a:xfrm>
              <a:off x="0" y="0"/>
              <a:ext cx="4663440" cy="914400"/>
            </a:xfrm>
            <a:custGeom>
              <a:avLst/>
              <a:gdLst/>
              <a:ahLst/>
              <a:cxnLst/>
              <a:rect l="l" t="t" r="r" b="b"/>
              <a:pathLst>
                <a:path w="4663440" h="914400">
                  <a:moveTo>
                    <a:pt x="0" y="0"/>
                  </a:moveTo>
                  <a:lnTo>
                    <a:pt x="4663440" y="0"/>
                  </a:lnTo>
                  <a:lnTo>
                    <a:pt x="4663440" y="914400"/>
                  </a:lnTo>
                  <a:lnTo>
                    <a:pt x="0" y="914400"/>
                  </a:lnTo>
                  <a:close/>
                </a:path>
              </a:pathLst>
            </a:custGeom>
            <a:blipFill>
              <a:blip r:embed="rId3">
                <a:alphaModFix amt="0"/>
              </a:blip>
              <a:stretch>
                <a:fillRect t="-49373" b="-49373"/>
              </a:stretch>
            </a:blipFill>
          </p:spPr>
        </p:sp>
        <p:sp>
          <p:nvSpPr>
            <p:cNvPr id="34" name="TextBox 34"/>
            <p:cNvSpPr txBox="1"/>
            <p:nvPr/>
          </p:nvSpPr>
          <p:spPr>
            <a:xfrm>
              <a:off x="0" y="-19050"/>
              <a:ext cx="4663440" cy="933450"/>
            </a:xfrm>
            <a:prstGeom prst="rect">
              <a:avLst/>
            </a:prstGeom>
          </p:spPr>
          <p:txBody>
            <a:bodyPr lIns="0" tIns="0" rIns="0" bIns="0" rtlCol="0" anchor="ctr"/>
            <a:lstStyle/>
            <a:p>
              <a:pPr algn="l">
                <a:lnSpc>
                  <a:spcPts val="2610"/>
                </a:lnSpc>
              </a:pPr>
              <a:r>
                <a:rPr lang="en-US" sz="2175" b="1">
                  <a:solidFill>
                    <a:srgbClr val="26324A"/>
                  </a:solidFill>
                  <a:latin typeface="Cambria Bold"/>
                  <a:ea typeface="Cambria Bold"/>
                  <a:cs typeface="Cambria Bold"/>
                  <a:sym typeface="Cambria Bold"/>
                </a:rPr>
                <a:t>Barrier for Learners</a:t>
              </a:r>
            </a:p>
          </p:txBody>
        </p:sp>
      </p:grpSp>
      <p:grpSp>
        <p:nvGrpSpPr>
          <p:cNvPr id="35" name="Group 35"/>
          <p:cNvGrpSpPr/>
          <p:nvPr/>
        </p:nvGrpSpPr>
        <p:grpSpPr>
          <a:xfrm>
            <a:off x="11996928" y="7406640"/>
            <a:ext cx="3497580" cy="1851660"/>
            <a:chOff x="0" y="0"/>
            <a:chExt cx="4663440" cy="2468880"/>
          </a:xfrm>
        </p:grpSpPr>
        <p:sp>
          <p:nvSpPr>
            <p:cNvPr id="36" name="Freeform 36"/>
            <p:cNvSpPr/>
            <p:nvPr/>
          </p:nvSpPr>
          <p:spPr>
            <a:xfrm>
              <a:off x="0" y="0"/>
              <a:ext cx="4663440" cy="2468880"/>
            </a:xfrm>
            <a:custGeom>
              <a:avLst/>
              <a:gdLst/>
              <a:ahLst/>
              <a:cxnLst/>
              <a:rect l="l" t="t" r="r" b="b"/>
              <a:pathLst>
                <a:path w="4663440" h="2468880">
                  <a:moveTo>
                    <a:pt x="0" y="0"/>
                  </a:moveTo>
                  <a:lnTo>
                    <a:pt x="4663440" y="0"/>
                  </a:lnTo>
                  <a:lnTo>
                    <a:pt x="4663440" y="2468880"/>
                  </a:lnTo>
                  <a:lnTo>
                    <a:pt x="0" y="2468880"/>
                  </a:lnTo>
                  <a:close/>
                </a:path>
              </a:pathLst>
            </a:custGeom>
            <a:blipFill>
              <a:blip r:embed="rId3">
                <a:alphaModFix amt="0"/>
              </a:blip>
              <a:stretch>
                <a:fillRect l="-17925" r="-17925"/>
              </a:stretch>
            </a:blipFill>
          </p:spPr>
        </p:sp>
        <p:sp>
          <p:nvSpPr>
            <p:cNvPr id="37" name="TextBox 37"/>
            <p:cNvSpPr txBox="1"/>
            <p:nvPr/>
          </p:nvSpPr>
          <p:spPr>
            <a:xfrm>
              <a:off x="0" y="-57150"/>
              <a:ext cx="4663440" cy="2526030"/>
            </a:xfrm>
            <a:prstGeom prst="rect">
              <a:avLst/>
            </a:prstGeom>
          </p:spPr>
          <p:txBody>
            <a:bodyPr lIns="0" tIns="0" rIns="0" bIns="0" rtlCol="0" anchor="ctr"/>
            <a:lstStyle/>
            <a:p>
              <a:pPr algn="l">
                <a:lnSpc>
                  <a:spcPts val="2277"/>
                </a:lnSpc>
              </a:pPr>
              <a:r>
                <a:rPr lang="en-US" sz="1650">
                  <a:solidFill>
                    <a:srgbClr val="5B6472"/>
                  </a:solidFill>
                  <a:latin typeface="Calibri (MS)"/>
                  <a:ea typeface="Calibri (MS)"/>
                  <a:cs typeface="Calibri (MS)"/>
                  <a:sym typeface="Calibri (MS)"/>
                </a:rPr>
                <a:t>Students, researchers and indie developers without a high-end PC or cloud budget are locked out of serious training.</a:t>
              </a:r>
            </a:p>
          </p:txBody>
        </p:sp>
      </p:grpSp>
      <p:sp>
        <p:nvSpPr>
          <p:cNvPr id="38" name="Freeform 38"/>
          <p:cNvSpPr/>
          <p:nvPr/>
        </p:nvSpPr>
        <p:spPr>
          <a:xfrm>
            <a:off x="12203905" y="6343305"/>
            <a:ext cx="354141" cy="224719"/>
          </a:xfrm>
          <a:custGeom>
            <a:avLst/>
            <a:gdLst/>
            <a:ahLst/>
            <a:cxnLst/>
            <a:rect l="l" t="t" r="r" b="b"/>
            <a:pathLst>
              <a:path w="354141" h="224719">
                <a:moveTo>
                  <a:pt x="0" y="0"/>
                </a:moveTo>
                <a:lnTo>
                  <a:pt x="354142" y="0"/>
                </a:lnTo>
                <a:lnTo>
                  <a:pt x="354142" y="224718"/>
                </a:lnTo>
                <a:lnTo>
                  <a:pt x="0" y="224718"/>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39" name="TextBox 39"/>
          <p:cNvSpPr txBox="1"/>
          <p:nvPr/>
        </p:nvSpPr>
        <p:spPr>
          <a:xfrm>
            <a:off x="7008495" y="940284"/>
            <a:ext cx="4193500" cy="580390"/>
          </a:xfrm>
          <a:prstGeom prst="rect">
            <a:avLst/>
          </a:prstGeom>
        </p:spPr>
        <p:txBody>
          <a:bodyPr wrap="square" lIns="0" tIns="0" rIns="0" bIns="0" rtlCol="0" anchor="t">
            <a:spAutoFit/>
          </a:bodyPr>
          <a:lstStyle/>
          <a:p>
            <a:pPr algn="ctr">
              <a:lnSpc>
                <a:spcPts val="4759"/>
              </a:lnSpc>
              <a:spcBef>
                <a:spcPct val="0"/>
              </a:spcBef>
            </a:pPr>
            <a:r>
              <a:rPr lang="en-US" sz="3399" b="1" dirty="0">
                <a:solidFill>
                  <a:srgbClr val="000000"/>
                </a:solidFill>
                <a:latin typeface="Canva Sans Bold"/>
                <a:ea typeface="Canva Sans Bold"/>
                <a:cs typeface="Canva Sans Bold"/>
                <a:sym typeface="Canva Sans Bold"/>
              </a:rPr>
              <a:t>Problem Statement</a:t>
            </a:r>
          </a:p>
        </p:txBody>
      </p:sp>
      <p:sp>
        <p:nvSpPr>
          <p:cNvPr id="40" name="Freeform 40"/>
          <p:cNvSpPr/>
          <p:nvPr/>
        </p:nvSpPr>
        <p:spPr>
          <a:xfrm>
            <a:off x="3079779" y="6324655"/>
            <a:ext cx="222954" cy="262019"/>
          </a:xfrm>
          <a:custGeom>
            <a:avLst/>
            <a:gdLst/>
            <a:ahLst/>
            <a:cxnLst/>
            <a:rect l="l" t="t" r="r" b="b"/>
            <a:pathLst>
              <a:path w="222954" h="262019">
                <a:moveTo>
                  <a:pt x="0" y="0"/>
                </a:moveTo>
                <a:lnTo>
                  <a:pt x="222954" y="0"/>
                </a:lnTo>
                <a:lnTo>
                  <a:pt x="222954" y="262018"/>
                </a:lnTo>
                <a:lnTo>
                  <a:pt x="0" y="262018"/>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41" name="Freeform 41"/>
          <p:cNvSpPr/>
          <p:nvPr/>
        </p:nvSpPr>
        <p:spPr>
          <a:xfrm>
            <a:off x="7648266" y="6317814"/>
            <a:ext cx="275699" cy="275699"/>
          </a:xfrm>
          <a:custGeom>
            <a:avLst/>
            <a:gdLst/>
            <a:ahLst/>
            <a:cxnLst/>
            <a:rect l="l" t="t" r="r" b="b"/>
            <a:pathLst>
              <a:path w="275699" h="275699">
                <a:moveTo>
                  <a:pt x="0" y="0"/>
                </a:moveTo>
                <a:lnTo>
                  <a:pt x="275700" y="0"/>
                </a:lnTo>
                <a:lnTo>
                  <a:pt x="275700" y="275700"/>
                </a:lnTo>
                <a:lnTo>
                  <a:pt x="0" y="275700"/>
                </a:lnTo>
                <a:lnTo>
                  <a:pt x="0" y="0"/>
                </a:lnTo>
                <a:close/>
              </a:path>
            </a:pathLst>
          </a:custGeom>
          <a:blipFill>
            <a:blip>
              <a:extLst>
                <a:ext uri="{96DAC541-7B7A-43D3-8B79-37D633B846F1}">
                  <asvg:svgBlip xmlns:asvg="http://schemas.microsoft.com/office/drawing/2016/SVG/main" r:embed="rId6"/>
                </a:ext>
              </a:extLst>
            </a:blip>
            <a:stretch>
              <a:fillRect/>
            </a:stretch>
          </a:blipFill>
        </p:spPr>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26" b="-26"/>
              </a:stretch>
            </a:blipFill>
          </p:spPr>
        </p:sp>
      </p:grpSp>
      <p:sp>
        <p:nvSpPr>
          <p:cNvPr id="4" name="TextBox 4"/>
          <p:cNvSpPr txBox="1"/>
          <p:nvPr/>
        </p:nvSpPr>
        <p:spPr>
          <a:xfrm>
            <a:off x="5241167" y="959340"/>
            <a:ext cx="7951208" cy="580390"/>
          </a:xfrm>
          <a:prstGeom prst="rect">
            <a:avLst/>
          </a:prstGeom>
        </p:spPr>
        <p:txBody>
          <a:bodyPr wrap="square" lIns="0" tIns="0" rIns="0" bIns="0" rtlCol="0" anchor="t">
            <a:spAutoFit/>
          </a:bodyPr>
          <a:lstStyle/>
          <a:p>
            <a:pPr algn="ctr">
              <a:lnSpc>
                <a:spcPts val="4759"/>
              </a:lnSpc>
              <a:spcBef>
                <a:spcPct val="0"/>
              </a:spcBef>
            </a:pPr>
            <a:r>
              <a:rPr lang="en-US" sz="3399" b="1" dirty="0">
                <a:solidFill>
                  <a:srgbClr val="000000"/>
                </a:solidFill>
                <a:latin typeface="Canva Sans Bold"/>
                <a:ea typeface="Canva Sans Bold"/>
                <a:cs typeface="Canva Sans Bold"/>
                <a:sym typeface="Canva Sans Bold"/>
              </a:rPr>
              <a:t>Facts &amp; Figures Behind The Problem</a:t>
            </a:r>
          </a:p>
        </p:txBody>
      </p:sp>
      <p:grpSp>
        <p:nvGrpSpPr>
          <p:cNvPr id="5" name="Group 5"/>
          <p:cNvGrpSpPr/>
          <p:nvPr/>
        </p:nvGrpSpPr>
        <p:grpSpPr>
          <a:xfrm>
            <a:off x="2441067" y="3662362"/>
            <a:ext cx="3242310" cy="2556510"/>
            <a:chOff x="0" y="0"/>
            <a:chExt cx="4323080" cy="3408680"/>
          </a:xfrm>
        </p:grpSpPr>
        <p:sp>
          <p:nvSpPr>
            <p:cNvPr id="6" name="Freeform 6"/>
            <p:cNvSpPr/>
            <p:nvPr/>
          </p:nvSpPr>
          <p:spPr>
            <a:xfrm>
              <a:off x="0" y="0"/>
              <a:ext cx="4323080" cy="3408680"/>
            </a:xfrm>
            <a:custGeom>
              <a:avLst/>
              <a:gdLst/>
              <a:ahLst/>
              <a:cxnLst/>
              <a:rect l="l" t="t" r="r" b="b"/>
              <a:pathLst>
                <a:path w="4323080" h="3408680">
                  <a:moveTo>
                    <a:pt x="0" y="129032"/>
                  </a:moveTo>
                  <a:cubicBezTo>
                    <a:pt x="0" y="57785"/>
                    <a:pt x="57785" y="0"/>
                    <a:pt x="129032" y="0"/>
                  </a:cubicBezTo>
                  <a:lnTo>
                    <a:pt x="4194048" y="0"/>
                  </a:lnTo>
                  <a:cubicBezTo>
                    <a:pt x="4265295" y="0"/>
                    <a:pt x="4323080" y="57785"/>
                    <a:pt x="4323080" y="129032"/>
                  </a:cubicBezTo>
                  <a:lnTo>
                    <a:pt x="4323080" y="3279648"/>
                  </a:lnTo>
                  <a:cubicBezTo>
                    <a:pt x="4323080" y="3350895"/>
                    <a:pt x="4265295" y="3408680"/>
                    <a:pt x="4194048" y="3408680"/>
                  </a:cubicBezTo>
                  <a:lnTo>
                    <a:pt x="129032" y="3408680"/>
                  </a:lnTo>
                  <a:cubicBezTo>
                    <a:pt x="57785" y="3408680"/>
                    <a:pt x="0" y="3350895"/>
                    <a:pt x="0" y="3279648"/>
                  </a:cubicBezTo>
                  <a:close/>
                </a:path>
              </a:pathLst>
            </a:custGeom>
            <a:solidFill>
              <a:srgbClr val="F1E6D3"/>
            </a:solidFill>
            <a:ln w="47625" cap="sq">
              <a:solidFill>
                <a:srgbClr val="E9DCC8"/>
              </a:solidFill>
              <a:prstDash val="solid"/>
              <a:miter/>
            </a:ln>
          </p:spPr>
        </p:sp>
      </p:grpSp>
      <p:grpSp>
        <p:nvGrpSpPr>
          <p:cNvPr id="7" name="Group 7"/>
          <p:cNvGrpSpPr/>
          <p:nvPr/>
        </p:nvGrpSpPr>
        <p:grpSpPr>
          <a:xfrm>
            <a:off x="2642616" y="3809048"/>
            <a:ext cx="2839212" cy="754380"/>
            <a:chOff x="0" y="0"/>
            <a:chExt cx="3785616" cy="1005840"/>
          </a:xfrm>
        </p:grpSpPr>
        <p:sp>
          <p:nvSpPr>
            <p:cNvPr id="8" name="Freeform 8"/>
            <p:cNvSpPr/>
            <p:nvPr/>
          </p:nvSpPr>
          <p:spPr>
            <a:xfrm>
              <a:off x="0" y="0"/>
              <a:ext cx="3785616" cy="1005840"/>
            </a:xfrm>
            <a:custGeom>
              <a:avLst/>
              <a:gdLst/>
              <a:ahLst/>
              <a:cxnLst/>
              <a:rect l="l" t="t" r="r" b="b"/>
              <a:pathLst>
                <a:path w="3785616" h="1005840">
                  <a:moveTo>
                    <a:pt x="0" y="0"/>
                  </a:moveTo>
                  <a:lnTo>
                    <a:pt x="3785616" y="0"/>
                  </a:lnTo>
                  <a:lnTo>
                    <a:pt x="3785616" y="1005840"/>
                  </a:lnTo>
                  <a:lnTo>
                    <a:pt x="0" y="1005840"/>
                  </a:lnTo>
                  <a:close/>
                </a:path>
              </a:pathLst>
            </a:custGeom>
            <a:blipFill>
              <a:blip r:embed="rId3">
                <a:alphaModFix amt="0"/>
              </a:blip>
              <a:stretch>
                <a:fillRect t="-23334" b="-23334"/>
              </a:stretch>
            </a:blipFill>
          </p:spPr>
        </p:sp>
        <p:sp>
          <p:nvSpPr>
            <p:cNvPr id="9" name="TextBox 9"/>
            <p:cNvSpPr txBox="1"/>
            <p:nvPr/>
          </p:nvSpPr>
          <p:spPr>
            <a:xfrm>
              <a:off x="0" y="-19050"/>
              <a:ext cx="3785616" cy="1024890"/>
            </a:xfrm>
            <a:prstGeom prst="rect">
              <a:avLst/>
            </a:prstGeom>
          </p:spPr>
          <p:txBody>
            <a:bodyPr lIns="0" tIns="0" rIns="0" bIns="0" rtlCol="0" anchor="ctr"/>
            <a:lstStyle/>
            <a:p>
              <a:pPr algn="l">
                <a:lnSpc>
                  <a:spcPts val="3779"/>
                </a:lnSpc>
              </a:pPr>
              <a:r>
                <a:rPr lang="en-US" sz="3150" b="1">
                  <a:solidFill>
                    <a:srgbClr val="C8912E"/>
                  </a:solidFill>
                  <a:latin typeface="Cambria Bold"/>
                  <a:ea typeface="Cambria Bold"/>
                  <a:cs typeface="Cambria Bold"/>
                  <a:sym typeface="Cambria Bold"/>
                </a:rPr>
                <a:t>$2–10/hr</a:t>
              </a:r>
            </a:p>
          </p:txBody>
        </p:sp>
      </p:grpSp>
      <p:grpSp>
        <p:nvGrpSpPr>
          <p:cNvPr id="10" name="Group 10"/>
          <p:cNvGrpSpPr/>
          <p:nvPr/>
        </p:nvGrpSpPr>
        <p:grpSpPr>
          <a:xfrm>
            <a:off x="2642616" y="4604575"/>
            <a:ext cx="2839212" cy="1440180"/>
            <a:chOff x="0" y="0"/>
            <a:chExt cx="3785616" cy="1920240"/>
          </a:xfrm>
        </p:grpSpPr>
        <p:sp>
          <p:nvSpPr>
            <p:cNvPr id="11" name="Freeform 11"/>
            <p:cNvSpPr/>
            <p:nvPr/>
          </p:nvSpPr>
          <p:spPr>
            <a:xfrm>
              <a:off x="0" y="0"/>
              <a:ext cx="3785616" cy="1920240"/>
            </a:xfrm>
            <a:custGeom>
              <a:avLst/>
              <a:gdLst/>
              <a:ahLst/>
              <a:cxnLst/>
              <a:rect l="l" t="t" r="r" b="b"/>
              <a:pathLst>
                <a:path w="3785616" h="1920240">
                  <a:moveTo>
                    <a:pt x="0" y="0"/>
                  </a:moveTo>
                  <a:lnTo>
                    <a:pt x="3785616" y="0"/>
                  </a:lnTo>
                  <a:lnTo>
                    <a:pt x="3785616" y="1920240"/>
                  </a:lnTo>
                  <a:lnTo>
                    <a:pt x="0" y="1920240"/>
                  </a:lnTo>
                  <a:close/>
                </a:path>
              </a:pathLst>
            </a:custGeom>
            <a:blipFill>
              <a:blip r:embed="rId3">
                <a:alphaModFix amt="0"/>
              </a:blip>
              <a:stretch>
                <a:fillRect l="-15081" r="-15081"/>
              </a:stretch>
            </a:blipFill>
          </p:spPr>
        </p:sp>
        <p:sp>
          <p:nvSpPr>
            <p:cNvPr id="12" name="TextBox 12"/>
            <p:cNvSpPr txBox="1"/>
            <p:nvPr/>
          </p:nvSpPr>
          <p:spPr>
            <a:xfrm>
              <a:off x="0" y="-47625"/>
              <a:ext cx="3785616" cy="1967865"/>
            </a:xfrm>
            <a:prstGeom prst="rect">
              <a:avLst/>
            </a:prstGeom>
          </p:spPr>
          <p:txBody>
            <a:bodyPr lIns="0" tIns="0" rIns="0" bIns="0" rtlCol="0" anchor="ctr"/>
            <a:lstStyle/>
            <a:p>
              <a:pPr algn="l">
                <a:lnSpc>
                  <a:spcPts val="1846"/>
                </a:lnSpc>
              </a:pPr>
              <a:r>
                <a:rPr lang="en-US" sz="1425">
                  <a:solidFill>
                    <a:srgbClr val="5B6472"/>
                  </a:solidFill>
                  <a:latin typeface="Calibri (MS)"/>
                  <a:ea typeface="Calibri (MS)"/>
                  <a:cs typeface="Calibri (MS)"/>
                  <a:sym typeface="Calibri (MS)"/>
                </a:rPr>
                <a:t>Cloud GPU pricing — a mid-sized run can cost ₹15,000–₹50,000</a:t>
              </a:r>
            </a:p>
          </p:txBody>
        </p:sp>
      </p:grpSp>
      <p:grpSp>
        <p:nvGrpSpPr>
          <p:cNvPr id="13" name="Group 13"/>
          <p:cNvGrpSpPr/>
          <p:nvPr/>
        </p:nvGrpSpPr>
        <p:grpSpPr>
          <a:xfrm>
            <a:off x="5828919" y="3662362"/>
            <a:ext cx="3242310" cy="2556510"/>
            <a:chOff x="0" y="0"/>
            <a:chExt cx="4323080" cy="3408680"/>
          </a:xfrm>
        </p:grpSpPr>
        <p:sp>
          <p:nvSpPr>
            <p:cNvPr id="14" name="Freeform 14"/>
            <p:cNvSpPr/>
            <p:nvPr/>
          </p:nvSpPr>
          <p:spPr>
            <a:xfrm>
              <a:off x="0" y="0"/>
              <a:ext cx="4323080" cy="3408680"/>
            </a:xfrm>
            <a:custGeom>
              <a:avLst/>
              <a:gdLst/>
              <a:ahLst/>
              <a:cxnLst/>
              <a:rect l="l" t="t" r="r" b="b"/>
              <a:pathLst>
                <a:path w="4323080" h="3408680">
                  <a:moveTo>
                    <a:pt x="0" y="129032"/>
                  </a:moveTo>
                  <a:cubicBezTo>
                    <a:pt x="0" y="57785"/>
                    <a:pt x="57785" y="0"/>
                    <a:pt x="129032" y="0"/>
                  </a:cubicBezTo>
                  <a:lnTo>
                    <a:pt x="4194048" y="0"/>
                  </a:lnTo>
                  <a:cubicBezTo>
                    <a:pt x="4265295" y="0"/>
                    <a:pt x="4323080" y="57785"/>
                    <a:pt x="4323080" y="129032"/>
                  </a:cubicBezTo>
                  <a:lnTo>
                    <a:pt x="4323080" y="3279648"/>
                  </a:lnTo>
                  <a:cubicBezTo>
                    <a:pt x="4323080" y="3350895"/>
                    <a:pt x="4265295" y="3408680"/>
                    <a:pt x="4194048" y="3408680"/>
                  </a:cubicBezTo>
                  <a:lnTo>
                    <a:pt x="129032" y="3408680"/>
                  </a:lnTo>
                  <a:cubicBezTo>
                    <a:pt x="57785" y="3408680"/>
                    <a:pt x="0" y="3350895"/>
                    <a:pt x="0" y="3279648"/>
                  </a:cubicBezTo>
                  <a:close/>
                </a:path>
              </a:pathLst>
            </a:custGeom>
            <a:solidFill>
              <a:srgbClr val="F1E6D3"/>
            </a:solidFill>
            <a:ln w="47625" cap="sq">
              <a:solidFill>
                <a:srgbClr val="E9DCC8"/>
              </a:solidFill>
              <a:prstDash val="solid"/>
              <a:miter/>
            </a:ln>
          </p:spPr>
        </p:sp>
      </p:grpSp>
      <p:grpSp>
        <p:nvGrpSpPr>
          <p:cNvPr id="15" name="Group 15"/>
          <p:cNvGrpSpPr/>
          <p:nvPr/>
        </p:nvGrpSpPr>
        <p:grpSpPr>
          <a:xfrm>
            <a:off x="6030468" y="3809048"/>
            <a:ext cx="2839212" cy="754380"/>
            <a:chOff x="0" y="0"/>
            <a:chExt cx="3785616" cy="1005840"/>
          </a:xfrm>
        </p:grpSpPr>
        <p:sp>
          <p:nvSpPr>
            <p:cNvPr id="16" name="Freeform 16"/>
            <p:cNvSpPr/>
            <p:nvPr/>
          </p:nvSpPr>
          <p:spPr>
            <a:xfrm>
              <a:off x="0" y="0"/>
              <a:ext cx="3785616" cy="1005840"/>
            </a:xfrm>
            <a:custGeom>
              <a:avLst/>
              <a:gdLst/>
              <a:ahLst/>
              <a:cxnLst/>
              <a:rect l="l" t="t" r="r" b="b"/>
              <a:pathLst>
                <a:path w="3785616" h="1005840">
                  <a:moveTo>
                    <a:pt x="0" y="0"/>
                  </a:moveTo>
                  <a:lnTo>
                    <a:pt x="3785616" y="0"/>
                  </a:lnTo>
                  <a:lnTo>
                    <a:pt x="3785616" y="1005840"/>
                  </a:lnTo>
                  <a:lnTo>
                    <a:pt x="0" y="1005840"/>
                  </a:lnTo>
                  <a:close/>
                </a:path>
              </a:pathLst>
            </a:custGeom>
            <a:blipFill>
              <a:blip r:embed="rId3">
                <a:alphaModFix amt="0"/>
              </a:blip>
              <a:stretch>
                <a:fillRect t="-23334" b="-23334"/>
              </a:stretch>
            </a:blipFill>
          </p:spPr>
        </p:sp>
        <p:sp>
          <p:nvSpPr>
            <p:cNvPr id="17" name="TextBox 17"/>
            <p:cNvSpPr txBox="1"/>
            <p:nvPr/>
          </p:nvSpPr>
          <p:spPr>
            <a:xfrm>
              <a:off x="0" y="-19050"/>
              <a:ext cx="3785616" cy="1024890"/>
            </a:xfrm>
            <a:prstGeom prst="rect">
              <a:avLst/>
            </a:prstGeom>
          </p:spPr>
          <p:txBody>
            <a:bodyPr lIns="0" tIns="0" rIns="0" bIns="0" rtlCol="0" anchor="ctr"/>
            <a:lstStyle/>
            <a:p>
              <a:pPr algn="l">
                <a:lnSpc>
                  <a:spcPts val="3779"/>
                </a:lnSpc>
              </a:pPr>
              <a:r>
                <a:rPr lang="en-US" sz="3150" b="1">
                  <a:solidFill>
                    <a:srgbClr val="C8912E"/>
                  </a:solidFill>
                  <a:latin typeface="Cambria Bold"/>
                  <a:ea typeface="Cambria Bold"/>
                  <a:cs typeface="Cambria Bold"/>
                  <a:sym typeface="Cambria Bold"/>
                </a:rPr>
                <a:t>200%</a:t>
              </a:r>
            </a:p>
          </p:txBody>
        </p:sp>
      </p:grpSp>
      <p:grpSp>
        <p:nvGrpSpPr>
          <p:cNvPr id="18" name="Group 18"/>
          <p:cNvGrpSpPr/>
          <p:nvPr/>
        </p:nvGrpSpPr>
        <p:grpSpPr>
          <a:xfrm>
            <a:off x="6030468" y="4604575"/>
            <a:ext cx="2839212" cy="1440180"/>
            <a:chOff x="0" y="0"/>
            <a:chExt cx="3785616" cy="1920240"/>
          </a:xfrm>
        </p:grpSpPr>
        <p:sp>
          <p:nvSpPr>
            <p:cNvPr id="19" name="Freeform 19"/>
            <p:cNvSpPr/>
            <p:nvPr/>
          </p:nvSpPr>
          <p:spPr>
            <a:xfrm>
              <a:off x="0" y="0"/>
              <a:ext cx="3785616" cy="1920240"/>
            </a:xfrm>
            <a:custGeom>
              <a:avLst/>
              <a:gdLst/>
              <a:ahLst/>
              <a:cxnLst/>
              <a:rect l="l" t="t" r="r" b="b"/>
              <a:pathLst>
                <a:path w="3785616" h="1920240">
                  <a:moveTo>
                    <a:pt x="0" y="0"/>
                  </a:moveTo>
                  <a:lnTo>
                    <a:pt x="3785616" y="0"/>
                  </a:lnTo>
                  <a:lnTo>
                    <a:pt x="3785616" y="1920240"/>
                  </a:lnTo>
                  <a:lnTo>
                    <a:pt x="0" y="1920240"/>
                  </a:lnTo>
                  <a:close/>
                </a:path>
              </a:pathLst>
            </a:custGeom>
            <a:blipFill>
              <a:blip r:embed="rId3">
                <a:alphaModFix amt="0"/>
              </a:blip>
              <a:stretch>
                <a:fillRect l="-15081" r="-15081"/>
              </a:stretch>
            </a:blipFill>
          </p:spPr>
        </p:sp>
        <p:sp>
          <p:nvSpPr>
            <p:cNvPr id="20" name="TextBox 20"/>
            <p:cNvSpPr txBox="1"/>
            <p:nvPr/>
          </p:nvSpPr>
          <p:spPr>
            <a:xfrm>
              <a:off x="0" y="-47625"/>
              <a:ext cx="3785616" cy="1967865"/>
            </a:xfrm>
            <a:prstGeom prst="rect">
              <a:avLst/>
            </a:prstGeom>
          </p:spPr>
          <p:txBody>
            <a:bodyPr lIns="0" tIns="0" rIns="0" bIns="0" rtlCol="0" anchor="ctr"/>
            <a:lstStyle/>
            <a:p>
              <a:pPr algn="l">
                <a:lnSpc>
                  <a:spcPts val="1846"/>
                </a:lnSpc>
              </a:pPr>
              <a:r>
                <a:rPr lang="en-US" sz="1425">
                  <a:solidFill>
                    <a:srgbClr val="5B6472"/>
                  </a:solidFill>
                  <a:latin typeface="Calibri (MS)"/>
                  <a:ea typeface="Calibri (MS)"/>
                  <a:cs typeface="Calibri (MS)"/>
                  <a:sym typeface="Calibri (MS)"/>
                </a:rPr>
                <a:t>Rise in GPU hardware prices, 2020 to 2024</a:t>
              </a:r>
            </a:p>
          </p:txBody>
        </p:sp>
      </p:grpSp>
      <p:grpSp>
        <p:nvGrpSpPr>
          <p:cNvPr id="21" name="Group 21"/>
          <p:cNvGrpSpPr/>
          <p:nvPr/>
        </p:nvGrpSpPr>
        <p:grpSpPr>
          <a:xfrm>
            <a:off x="9216771" y="3662362"/>
            <a:ext cx="3242310" cy="2556510"/>
            <a:chOff x="0" y="0"/>
            <a:chExt cx="4323080" cy="3408680"/>
          </a:xfrm>
        </p:grpSpPr>
        <p:sp>
          <p:nvSpPr>
            <p:cNvPr id="22" name="Freeform 22"/>
            <p:cNvSpPr/>
            <p:nvPr/>
          </p:nvSpPr>
          <p:spPr>
            <a:xfrm>
              <a:off x="0" y="0"/>
              <a:ext cx="4323080" cy="3408680"/>
            </a:xfrm>
            <a:custGeom>
              <a:avLst/>
              <a:gdLst/>
              <a:ahLst/>
              <a:cxnLst/>
              <a:rect l="l" t="t" r="r" b="b"/>
              <a:pathLst>
                <a:path w="4323080" h="3408680">
                  <a:moveTo>
                    <a:pt x="0" y="129032"/>
                  </a:moveTo>
                  <a:cubicBezTo>
                    <a:pt x="0" y="57785"/>
                    <a:pt x="57785" y="0"/>
                    <a:pt x="129032" y="0"/>
                  </a:cubicBezTo>
                  <a:lnTo>
                    <a:pt x="4194048" y="0"/>
                  </a:lnTo>
                  <a:cubicBezTo>
                    <a:pt x="4265295" y="0"/>
                    <a:pt x="4323080" y="57785"/>
                    <a:pt x="4323080" y="129032"/>
                  </a:cubicBezTo>
                  <a:lnTo>
                    <a:pt x="4323080" y="3279648"/>
                  </a:lnTo>
                  <a:cubicBezTo>
                    <a:pt x="4323080" y="3350895"/>
                    <a:pt x="4265295" y="3408680"/>
                    <a:pt x="4194048" y="3408680"/>
                  </a:cubicBezTo>
                  <a:lnTo>
                    <a:pt x="129032" y="3408680"/>
                  </a:lnTo>
                  <a:cubicBezTo>
                    <a:pt x="57785" y="3408680"/>
                    <a:pt x="0" y="3350895"/>
                    <a:pt x="0" y="3279648"/>
                  </a:cubicBezTo>
                  <a:close/>
                </a:path>
              </a:pathLst>
            </a:custGeom>
            <a:solidFill>
              <a:srgbClr val="F1E6D3"/>
            </a:solidFill>
            <a:ln w="47625" cap="sq">
              <a:solidFill>
                <a:srgbClr val="E9DCC8"/>
              </a:solidFill>
              <a:prstDash val="solid"/>
              <a:miter/>
            </a:ln>
          </p:spPr>
        </p:sp>
      </p:grpSp>
      <p:grpSp>
        <p:nvGrpSpPr>
          <p:cNvPr id="23" name="Group 23"/>
          <p:cNvGrpSpPr/>
          <p:nvPr/>
        </p:nvGrpSpPr>
        <p:grpSpPr>
          <a:xfrm>
            <a:off x="9418320" y="3809048"/>
            <a:ext cx="2839212" cy="754380"/>
            <a:chOff x="0" y="0"/>
            <a:chExt cx="3785616" cy="1005840"/>
          </a:xfrm>
        </p:grpSpPr>
        <p:sp>
          <p:nvSpPr>
            <p:cNvPr id="24" name="Freeform 24"/>
            <p:cNvSpPr/>
            <p:nvPr/>
          </p:nvSpPr>
          <p:spPr>
            <a:xfrm>
              <a:off x="0" y="0"/>
              <a:ext cx="3785616" cy="1005840"/>
            </a:xfrm>
            <a:custGeom>
              <a:avLst/>
              <a:gdLst/>
              <a:ahLst/>
              <a:cxnLst/>
              <a:rect l="l" t="t" r="r" b="b"/>
              <a:pathLst>
                <a:path w="3785616" h="1005840">
                  <a:moveTo>
                    <a:pt x="0" y="0"/>
                  </a:moveTo>
                  <a:lnTo>
                    <a:pt x="3785616" y="0"/>
                  </a:lnTo>
                  <a:lnTo>
                    <a:pt x="3785616" y="1005840"/>
                  </a:lnTo>
                  <a:lnTo>
                    <a:pt x="0" y="1005840"/>
                  </a:lnTo>
                  <a:close/>
                </a:path>
              </a:pathLst>
            </a:custGeom>
            <a:blipFill>
              <a:blip r:embed="rId3">
                <a:alphaModFix amt="0"/>
              </a:blip>
              <a:stretch>
                <a:fillRect t="-23334" b="-23334"/>
              </a:stretch>
            </a:blipFill>
          </p:spPr>
        </p:sp>
        <p:sp>
          <p:nvSpPr>
            <p:cNvPr id="25" name="TextBox 25"/>
            <p:cNvSpPr txBox="1"/>
            <p:nvPr/>
          </p:nvSpPr>
          <p:spPr>
            <a:xfrm>
              <a:off x="0" y="-19050"/>
              <a:ext cx="3785616" cy="1024890"/>
            </a:xfrm>
            <a:prstGeom prst="rect">
              <a:avLst/>
            </a:prstGeom>
          </p:spPr>
          <p:txBody>
            <a:bodyPr lIns="0" tIns="0" rIns="0" bIns="0" rtlCol="0" anchor="ctr"/>
            <a:lstStyle/>
            <a:p>
              <a:pPr algn="l">
                <a:lnSpc>
                  <a:spcPts val="3779"/>
                </a:lnSpc>
              </a:pPr>
              <a:r>
                <a:rPr lang="en-US" sz="3150" b="1">
                  <a:solidFill>
                    <a:srgbClr val="C8912E"/>
                  </a:solidFill>
                  <a:latin typeface="Cambria Bold"/>
                  <a:ea typeface="Cambria Bold"/>
                  <a:cs typeface="Cambria Bold"/>
                  <a:sym typeface="Cambria Bold"/>
                </a:rPr>
                <a:t>2×</a:t>
              </a:r>
            </a:p>
          </p:txBody>
        </p:sp>
      </p:grpSp>
      <p:grpSp>
        <p:nvGrpSpPr>
          <p:cNvPr id="26" name="Group 26"/>
          <p:cNvGrpSpPr/>
          <p:nvPr/>
        </p:nvGrpSpPr>
        <p:grpSpPr>
          <a:xfrm>
            <a:off x="9418320" y="4604575"/>
            <a:ext cx="2839212" cy="1440180"/>
            <a:chOff x="0" y="0"/>
            <a:chExt cx="3785616" cy="1920240"/>
          </a:xfrm>
        </p:grpSpPr>
        <p:sp>
          <p:nvSpPr>
            <p:cNvPr id="27" name="Freeform 27"/>
            <p:cNvSpPr/>
            <p:nvPr/>
          </p:nvSpPr>
          <p:spPr>
            <a:xfrm>
              <a:off x="0" y="0"/>
              <a:ext cx="3785616" cy="1920240"/>
            </a:xfrm>
            <a:custGeom>
              <a:avLst/>
              <a:gdLst/>
              <a:ahLst/>
              <a:cxnLst/>
              <a:rect l="l" t="t" r="r" b="b"/>
              <a:pathLst>
                <a:path w="3785616" h="1920240">
                  <a:moveTo>
                    <a:pt x="0" y="0"/>
                  </a:moveTo>
                  <a:lnTo>
                    <a:pt x="3785616" y="0"/>
                  </a:lnTo>
                  <a:lnTo>
                    <a:pt x="3785616" y="1920240"/>
                  </a:lnTo>
                  <a:lnTo>
                    <a:pt x="0" y="1920240"/>
                  </a:lnTo>
                  <a:close/>
                </a:path>
              </a:pathLst>
            </a:custGeom>
            <a:blipFill>
              <a:blip r:embed="rId3">
                <a:alphaModFix amt="0"/>
              </a:blip>
              <a:stretch>
                <a:fillRect l="-15081" r="-15081"/>
              </a:stretch>
            </a:blipFill>
          </p:spPr>
        </p:sp>
        <p:sp>
          <p:nvSpPr>
            <p:cNvPr id="28" name="TextBox 28"/>
            <p:cNvSpPr txBox="1"/>
            <p:nvPr/>
          </p:nvSpPr>
          <p:spPr>
            <a:xfrm>
              <a:off x="0" y="-47625"/>
              <a:ext cx="3785616" cy="1967865"/>
            </a:xfrm>
            <a:prstGeom prst="rect">
              <a:avLst/>
            </a:prstGeom>
          </p:spPr>
          <p:txBody>
            <a:bodyPr lIns="0" tIns="0" rIns="0" bIns="0" rtlCol="0" anchor="ctr"/>
            <a:lstStyle/>
            <a:p>
              <a:pPr algn="l">
                <a:lnSpc>
                  <a:spcPts val="1846"/>
                </a:lnSpc>
              </a:pPr>
              <a:r>
                <a:rPr lang="en-US" sz="1425">
                  <a:solidFill>
                    <a:srgbClr val="5B6472"/>
                  </a:solidFill>
                  <a:latin typeface="Calibri (MS)"/>
                  <a:ea typeface="Calibri (MS)"/>
                  <a:cs typeface="Calibri (MS)"/>
                  <a:sym typeface="Calibri (MS)"/>
                </a:rPr>
                <a:t>Growth in AI compute demand every six months</a:t>
              </a:r>
            </a:p>
          </p:txBody>
        </p:sp>
      </p:grpSp>
      <p:grpSp>
        <p:nvGrpSpPr>
          <p:cNvPr id="29" name="Group 29"/>
          <p:cNvGrpSpPr/>
          <p:nvPr/>
        </p:nvGrpSpPr>
        <p:grpSpPr>
          <a:xfrm>
            <a:off x="12604623" y="3662362"/>
            <a:ext cx="3242310" cy="2556510"/>
            <a:chOff x="0" y="0"/>
            <a:chExt cx="4323080" cy="3408680"/>
          </a:xfrm>
        </p:grpSpPr>
        <p:sp>
          <p:nvSpPr>
            <p:cNvPr id="30" name="Freeform 30"/>
            <p:cNvSpPr/>
            <p:nvPr/>
          </p:nvSpPr>
          <p:spPr>
            <a:xfrm>
              <a:off x="0" y="0"/>
              <a:ext cx="4323080" cy="3408680"/>
            </a:xfrm>
            <a:custGeom>
              <a:avLst/>
              <a:gdLst/>
              <a:ahLst/>
              <a:cxnLst/>
              <a:rect l="l" t="t" r="r" b="b"/>
              <a:pathLst>
                <a:path w="4323080" h="3408680">
                  <a:moveTo>
                    <a:pt x="0" y="129032"/>
                  </a:moveTo>
                  <a:cubicBezTo>
                    <a:pt x="0" y="57785"/>
                    <a:pt x="57785" y="0"/>
                    <a:pt x="129032" y="0"/>
                  </a:cubicBezTo>
                  <a:lnTo>
                    <a:pt x="4194048" y="0"/>
                  </a:lnTo>
                  <a:cubicBezTo>
                    <a:pt x="4265295" y="0"/>
                    <a:pt x="4323080" y="57785"/>
                    <a:pt x="4323080" y="129032"/>
                  </a:cubicBezTo>
                  <a:lnTo>
                    <a:pt x="4323080" y="3279648"/>
                  </a:lnTo>
                  <a:cubicBezTo>
                    <a:pt x="4323080" y="3350895"/>
                    <a:pt x="4265295" y="3408680"/>
                    <a:pt x="4194048" y="3408680"/>
                  </a:cubicBezTo>
                  <a:lnTo>
                    <a:pt x="129032" y="3408680"/>
                  </a:lnTo>
                  <a:cubicBezTo>
                    <a:pt x="57785" y="3408680"/>
                    <a:pt x="0" y="3350895"/>
                    <a:pt x="0" y="3279648"/>
                  </a:cubicBezTo>
                  <a:close/>
                </a:path>
              </a:pathLst>
            </a:custGeom>
            <a:solidFill>
              <a:srgbClr val="F1E6D3"/>
            </a:solidFill>
            <a:ln w="47625" cap="sq">
              <a:solidFill>
                <a:srgbClr val="E9DCC8"/>
              </a:solidFill>
              <a:prstDash val="solid"/>
              <a:miter/>
            </a:ln>
          </p:spPr>
        </p:sp>
      </p:grpSp>
      <p:grpSp>
        <p:nvGrpSpPr>
          <p:cNvPr id="31" name="Group 31"/>
          <p:cNvGrpSpPr/>
          <p:nvPr/>
        </p:nvGrpSpPr>
        <p:grpSpPr>
          <a:xfrm>
            <a:off x="12806172" y="3809048"/>
            <a:ext cx="2839212" cy="754380"/>
            <a:chOff x="0" y="0"/>
            <a:chExt cx="3785616" cy="1005840"/>
          </a:xfrm>
        </p:grpSpPr>
        <p:sp>
          <p:nvSpPr>
            <p:cNvPr id="32" name="Freeform 32"/>
            <p:cNvSpPr/>
            <p:nvPr/>
          </p:nvSpPr>
          <p:spPr>
            <a:xfrm>
              <a:off x="0" y="0"/>
              <a:ext cx="3785616" cy="1005840"/>
            </a:xfrm>
            <a:custGeom>
              <a:avLst/>
              <a:gdLst/>
              <a:ahLst/>
              <a:cxnLst/>
              <a:rect l="l" t="t" r="r" b="b"/>
              <a:pathLst>
                <a:path w="3785616" h="1005840">
                  <a:moveTo>
                    <a:pt x="0" y="0"/>
                  </a:moveTo>
                  <a:lnTo>
                    <a:pt x="3785616" y="0"/>
                  </a:lnTo>
                  <a:lnTo>
                    <a:pt x="3785616" y="1005840"/>
                  </a:lnTo>
                  <a:lnTo>
                    <a:pt x="0" y="1005840"/>
                  </a:lnTo>
                  <a:close/>
                </a:path>
              </a:pathLst>
            </a:custGeom>
            <a:blipFill>
              <a:blip r:embed="rId3">
                <a:alphaModFix amt="0"/>
              </a:blip>
              <a:stretch>
                <a:fillRect t="-23334" b="-23334"/>
              </a:stretch>
            </a:blipFill>
          </p:spPr>
        </p:sp>
        <p:sp>
          <p:nvSpPr>
            <p:cNvPr id="33" name="TextBox 33"/>
            <p:cNvSpPr txBox="1"/>
            <p:nvPr/>
          </p:nvSpPr>
          <p:spPr>
            <a:xfrm>
              <a:off x="0" y="-19050"/>
              <a:ext cx="3785616" cy="1024890"/>
            </a:xfrm>
            <a:prstGeom prst="rect">
              <a:avLst/>
            </a:prstGeom>
          </p:spPr>
          <p:txBody>
            <a:bodyPr lIns="0" tIns="0" rIns="0" bIns="0" rtlCol="0" anchor="ctr"/>
            <a:lstStyle/>
            <a:p>
              <a:pPr algn="l">
                <a:lnSpc>
                  <a:spcPts val="3779"/>
                </a:lnSpc>
              </a:pPr>
              <a:r>
                <a:rPr lang="en-US" sz="3150" b="1">
                  <a:solidFill>
                    <a:srgbClr val="C8912E"/>
                  </a:solidFill>
                  <a:latin typeface="Cambria Bold"/>
                  <a:ea typeface="Cambria Bold"/>
                  <a:cs typeface="Cambria Bold"/>
                  <a:sym typeface="Cambria Bold"/>
                </a:rPr>
                <a:t>70%</a:t>
              </a:r>
            </a:p>
          </p:txBody>
        </p:sp>
      </p:grpSp>
      <p:grpSp>
        <p:nvGrpSpPr>
          <p:cNvPr id="34" name="Group 34"/>
          <p:cNvGrpSpPr/>
          <p:nvPr/>
        </p:nvGrpSpPr>
        <p:grpSpPr>
          <a:xfrm>
            <a:off x="12806172" y="4604575"/>
            <a:ext cx="2839212" cy="1440180"/>
            <a:chOff x="0" y="0"/>
            <a:chExt cx="3785616" cy="1920240"/>
          </a:xfrm>
        </p:grpSpPr>
        <p:sp>
          <p:nvSpPr>
            <p:cNvPr id="35" name="Freeform 35"/>
            <p:cNvSpPr/>
            <p:nvPr/>
          </p:nvSpPr>
          <p:spPr>
            <a:xfrm>
              <a:off x="0" y="0"/>
              <a:ext cx="3785616" cy="1920240"/>
            </a:xfrm>
            <a:custGeom>
              <a:avLst/>
              <a:gdLst/>
              <a:ahLst/>
              <a:cxnLst/>
              <a:rect l="l" t="t" r="r" b="b"/>
              <a:pathLst>
                <a:path w="3785616" h="1920240">
                  <a:moveTo>
                    <a:pt x="0" y="0"/>
                  </a:moveTo>
                  <a:lnTo>
                    <a:pt x="3785616" y="0"/>
                  </a:lnTo>
                  <a:lnTo>
                    <a:pt x="3785616" y="1920240"/>
                  </a:lnTo>
                  <a:lnTo>
                    <a:pt x="0" y="1920240"/>
                  </a:lnTo>
                  <a:close/>
                </a:path>
              </a:pathLst>
            </a:custGeom>
            <a:blipFill>
              <a:blip r:embed="rId3">
                <a:alphaModFix amt="0"/>
              </a:blip>
              <a:stretch>
                <a:fillRect l="-15081" r="-15081"/>
              </a:stretch>
            </a:blipFill>
          </p:spPr>
        </p:sp>
        <p:sp>
          <p:nvSpPr>
            <p:cNvPr id="36" name="TextBox 36"/>
            <p:cNvSpPr txBox="1"/>
            <p:nvPr/>
          </p:nvSpPr>
          <p:spPr>
            <a:xfrm>
              <a:off x="0" y="-47625"/>
              <a:ext cx="3785616" cy="1967865"/>
            </a:xfrm>
            <a:prstGeom prst="rect">
              <a:avLst/>
            </a:prstGeom>
          </p:spPr>
          <p:txBody>
            <a:bodyPr lIns="0" tIns="0" rIns="0" bIns="0" rtlCol="0" anchor="ctr"/>
            <a:lstStyle/>
            <a:p>
              <a:pPr algn="l">
                <a:lnSpc>
                  <a:spcPts val="1846"/>
                </a:lnSpc>
              </a:pPr>
              <a:r>
                <a:rPr lang="en-US" sz="1425">
                  <a:solidFill>
                    <a:srgbClr val="5B6472"/>
                  </a:solidFill>
                  <a:latin typeface="Calibri (MS)"/>
                  <a:ea typeface="Calibri (MS)"/>
                  <a:cs typeface="Calibri (MS)"/>
                  <a:sym typeface="Calibri (MS)"/>
                </a:rPr>
                <a:t>ML students say hardware limits stop effective training</a:t>
              </a:r>
            </a:p>
          </p:txBody>
        </p:sp>
      </p:grpSp>
      <p:grpSp>
        <p:nvGrpSpPr>
          <p:cNvPr id="37" name="Group 37"/>
          <p:cNvGrpSpPr/>
          <p:nvPr/>
        </p:nvGrpSpPr>
        <p:grpSpPr>
          <a:xfrm>
            <a:off x="2441067" y="6552248"/>
            <a:ext cx="3242310" cy="2556510"/>
            <a:chOff x="0" y="0"/>
            <a:chExt cx="4323080" cy="3408680"/>
          </a:xfrm>
        </p:grpSpPr>
        <p:sp>
          <p:nvSpPr>
            <p:cNvPr id="38" name="Freeform 38"/>
            <p:cNvSpPr/>
            <p:nvPr/>
          </p:nvSpPr>
          <p:spPr>
            <a:xfrm>
              <a:off x="0" y="0"/>
              <a:ext cx="4323080" cy="3408680"/>
            </a:xfrm>
            <a:custGeom>
              <a:avLst/>
              <a:gdLst/>
              <a:ahLst/>
              <a:cxnLst/>
              <a:rect l="l" t="t" r="r" b="b"/>
              <a:pathLst>
                <a:path w="4323080" h="3408680">
                  <a:moveTo>
                    <a:pt x="0" y="129032"/>
                  </a:moveTo>
                  <a:cubicBezTo>
                    <a:pt x="0" y="57785"/>
                    <a:pt x="57785" y="0"/>
                    <a:pt x="129032" y="0"/>
                  </a:cubicBezTo>
                  <a:lnTo>
                    <a:pt x="4194048" y="0"/>
                  </a:lnTo>
                  <a:cubicBezTo>
                    <a:pt x="4265295" y="0"/>
                    <a:pt x="4323080" y="57785"/>
                    <a:pt x="4323080" y="129032"/>
                  </a:cubicBezTo>
                  <a:lnTo>
                    <a:pt x="4323080" y="3279648"/>
                  </a:lnTo>
                  <a:cubicBezTo>
                    <a:pt x="4323080" y="3350895"/>
                    <a:pt x="4265295" y="3408680"/>
                    <a:pt x="4194048" y="3408680"/>
                  </a:cubicBezTo>
                  <a:lnTo>
                    <a:pt x="129032" y="3408680"/>
                  </a:lnTo>
                  <a:cubicBezTo>
                    <a:pt x="57785" y="3408680"/>
                    <a:pt x="0" y="3350895"/>
                    <a:pt x="0" y="3279648"/>
                  </a:cubicBezTo>
                  <a:close/>
                </a:path>
              </a:pathLst>
            </a:custGeom>
            <a:solidFill>
              <a:srgbClr val="FDF8F1"/>
            </a:solidFill>
            <a:ln w="47625" cap="sq">
              <a:solidFill>
                <a:srgbClr val="E9DCC8"/>
              </a:solidFill>
              <a:prstDash val="solid"/>
              <a:miter/>
            </a:ln>
          </p:spPr>
        </p:sp>
      </p:grpSp>
      <p:grpSp>
        <p:nvGrpSpPr>
          <p:cNvPr id="39" name="Group 39"/>
          <p:cNvGrpSpPr/>
          <p:nvPr/>
        </p:nvGrpSpPr>
        <p:grpSpPr>
          <a:xfrm>
            <a:off x="2642616" y="6698933"/>
            <a:ext cx="2839212" cy="754380"/>
            <a:chOff x="0" y="0"/>
            <a:chExt cx="3785616" cy="1005840"/>
          </a:xfrm>
        </p:grpSpPr>
        <p:sp>
          <p:nvSpPr>
            <p:cNvPr id="40" name="Freeform 40"/>
            <p:cNvSpPr/>
            <p:nvPr/>
          </p:nvSpPr>
          <p:spPr>
            <a:xfrm>
              <a:off x="0" y="0"/>
              <a:ext cx="3785616" cy="1005840"/>
            </a:xfrm>
            <a:custGeom>
              <a:avLst/>
              <a:gdLst/>
              <a:ahLst/>
              <a:cxnLst/>
              <a:rect l="l" t="t" r="r" b="b"/>
              <a:pathLst>
                <a:path w="3785616" h="1005840">
                  <a:moveTo>
                    <a:pt x="0" y="0"/>
                  </a:moveTo>
                  <a:lnTo>
                    <a:pt x="3785616" y="0"/>
                  </a:lnTo>
                  <a:lnTo>
                    <a:pt x="3785616" y="1005840"/>
                  </a:lnTo>
                  <a:lnTo>
                    <a:pt x="0" y="1005840"/>
                  </a:lnTo>
                  <a:close/>
                </a:path>
              </a:pathLst>
            </a:custGeom>
            <a:blipFill>
              <a:blip r:embed="rId3">
                <a:alphaModFix amt="0"/>
              </a:blip>
              <a:stretch>
                <a:fillRect t="-23334" b="-23334"/>
              </a:stretch>
            </a:blipFill>
          </p:spPr>
        </p:sp>
        <p:sp>
          <p:nvSpPr>
            <p:cNvPr id="41" name="TextBox 41"/>
            <p:cNvSpPr txBox="1"/>
            <p:nvPr/>
          </p:nvSpPr>
          <p:spPr>
            <a:xfrm>
              <a:off x="0" y="-19050"/>
              <a:ext cx="3785616" cy="1024890"/>
            </a:xfrm>
            <a:prstGeom prst="rect">
              <a:avLst/>
            </a:prstGeom>
          </p:spPr>
          <p:txBody>
            <a:bodyPr lIns="0" tIns="0" rIns="0" bIns="0" rtlCol="0" anchor="ctr"/>
            <a:lstStyle/>
            <a:p>
              <a:pPr algn="l">
                <a:lnSpc>
                  <a:spcPts val="3779"/>
                </a:lnSpc>
              </a:pPr>
              <a:r>
                <a:rPr lang="en-US" sz="3150" b="1">
                  <a:solidFill>
                    <a:srgbClr val="C8912E"/>
                  </a:solidFill>
                  <a:latin typeface="Cambria Bold"/>
                  <a:ea typeface="Cambria Bold"/>
                  <a:cs typeface="Cambria Bold"/>
                  <a:sym typeface="Cambria Bold"/>
                </a:rPr>
                <a:t>45%</a:t>
              </a:r>
            </a:p>
          </p:txBody>
        </p:sp>
      </p:grpSp>
      <p:grpSp>
        <p:nvGrpSpPr>
          <p:cNvPr id="42" name="Group 42"/>
          <p:cNvGrpSpPr/>
          <p:nvPr/>
        </p:nvGrpSpPr>
        <p:grpSpPr>
          <a:xfrm>
            <a:off x="2642616" y="7494461"/>
            <a:ext cx="2839212" cy="1440180"/>
            <a:chOff x="0" y="0"/>
            <a:chExt cx="3785616" cy="1920240"/>
          </a:xfrm>
        </p:grpSpPr>
        <p:sp>
          <p:nvSpPr>
            <p:cNvPr id="43" name="Freeform 43"/>
            <p:cNvSpPr/>
            <p:nvPr/>
          </p:nvSpPr>
          <p:spPr>
            <a:xfrm>
              <a:off x="0" y="0"/>
              <a:ext cx="3785616" cy="1920240"/>
            </a:xfrm>
            <a:custGeom>
              <a:avLst/>
              <a:gdLst/>
              <a:ahLst/>
              <a:cxnLst/>
              <a:rect l="l" t="t" r="r" b="b"/>
              <a:pathLst>
                <a:path w="3785616" h="1920240">
                  <a:moveTo>
                    <a:pt x="0" y="0"/>
                  </a:moveTo>
                  <a:lnTo>
                    <a:pt x="3785616" y="0"/>
                  </a:lnTo>
                  <a:lnTo>
                    <a:pt x="3785616" y="1920240"/>
                  </a:lnTo>
                  <a:lnTo>
                    <a:pt x="0" y="1920240"/>
                  </a:lnTo>
                  <a:close/>
                </a:path>
              </a:pathLst>
            </a:custGeom>
            <a:blipFill>
              <a:blip r:embed="rId3">
                <a:alphaModFix amt="0"/>
              </a:blip>
              <a:stretch>
                <a:fillRect l="-15081" r="-15081"/>
              </a:stretch>
            </a:blipFill>
          </p:spPr>
        </p:sp>
        <p:sp>
          <p:nvSpPr>
            <p:cNvPr id="44" name="TextBox 44"/>
            <p:cNvSpPr txBox="1"/>
            <p:nvPr/>
          </p:nvSpPr>
          <p:spPr>
            <a:xfrm>
              <a:off x="0" y="-47625"/>
              <a:ext cx="3785616" cy="1967865"/>
            </a:xfrm>
            <a:prstGeom prst="rect">
              <a:avLst/>
            </a:prstGeom>
          </p:spPr>
          <p:txBody>
            <a:bodyPr lIns="0" tIns="0" rIns="0" bIns="0" rtlCol="0" anchor="ctr"/>
            <a:lstStyle/>
            <a:p>
              <a:pPr algn="l">
                <a:lnSpc>
                  <a:spcPts val="1846"/>
                </a:lnSpc>
              </a:pPr>
              <a:r>
                <a:rPr lang="en-US" sz="1425">
                  <a:solidFill>
                    <a:srgbClr val="5B6472"/>
                  </a:solidFill>
                  <a:latin typeface="Calibri (MS)"/>
                  <a:ea typeface="Calibri (MS)"/>
                  <a:cs typeface="Calibri (MS)"/>
                  <a:sym typeface="Calibri (MS)"/>
                </a:rPr>
                <a:t>Companies report compute-related project delays</a:t>
              </a:r>
            </a:p>
          </p:txBody>
        </p:sp>
      </p:grpSp>
      <p:grpSp>
        <p:nvGrpSpPr>
          <p:cNvPr id="45" name="Group 45"/>
          <p:cNvGrpSpPr/>
          <p:nvPr/>
        </p:nvGrpSpPr>
        <p:grpSpPr>
          <a:xfrm>
            <a:off x="5828919" y="6552248"/>
            <a:ext cx="3242310" cy="2556510"/>
            <a:chOff x="0" y="0"/>
            <a:chExt cx="4323080" cy="3408680"/>
          </a:xfrm>
        </p:grpSpPr>
        <p:sp>
          <p:nvSpPr>
            <p:cNvPr id="46" name="Freeform 46"/>
            <p:cNvSpPr/>
            <p:nvPr/>
          </p:nvSpPr>
          <p:spPr>
            <a:xfrm>
              <a:off x="0" y="0"/>
              <a:ext cx="4323080" cy="3408680"/>
            </a:xfrm>
            <a:custGeom>
              <a:avLst/>
              <a:gdLst/>
              <a:ahLst/>
              <a:cxnLst/>
              <a:rect l="l" t="t" r="r" b="b"/>
              <a:pathLst>
                <a:path w="4323080" h="3408680">
                  <a:moveTo>
                    <a:pt x="0" y="129032"/>
                  </a:moveTo>
                  <a:cubicBezTo>
                    <a:pt x="0" y="57785"/>
                    <a:pt x="57785" y="0"/>
                    <a:pt x="129032" y="0"/>
                  </a:cubicBezTo>
                  <a:lnTo>
                    <a:pt x="4194048" y="0"/>
                  </a:lnTo>
                  <a:cubicBezTo>
                    <a:pt x="4265295" y="0"/>
                    <a:pt x="4323080" y="57785"/>
                    <a:pt x="4323080" y="129032"/>
                  </a:cubicBezTo>
                  <a:lnTo>
                    <a:pt x="4323080" y="3279648"/>
                  </a:lnTo>
                  <a:cubicBezTo>
                    <a:pt x="4323080" y="3350895"/>
                    <a:pt x="4265295" y="3408680"/>
                    <a:pt x="4194048" y="3408680"/>
                  </a:cubicBezTo>
                  <a:lnTo>
                    <a:pt x="129032" y="3408680"/>
                  </a:lnTo>
                  <a:cubicBezTo>
                    <a:pt x="57785" y="3408680"/>
                    <a:pt x="0" y="3350895"/>
                    <a:pt x="0" y="3279648"/>
                  </a:cubicBezTo>
                  <a:close/>
                </a:path>
              </a:pathLst>
            </a:custGeom>
            <a:solidFill>
              <a:srgbClr val="FDF8F1"/>
            </a:solidFill>
            <a:ln w="47625" cap="sq">
              <a:solidFill>
                <a:srgbClr val="E9DCC8"/>
              </a:solidFill>
              <a:prstDash val="solid"/>
              <a:miter/>
            </a:ln>
          </p:spPr>
        </p:sp>
      </p:grpSp>
      <p:grpSp>
        <p:nvGrpSpPr>
          <p:cNvPr id="47" name="Group 47"/>
          <p:cNvGrpSpPr/>
          <p:nvPr/>
        </p:nvGrpSpPr>
        <p:grpSpPr>
          <a:xfrm>
            <a:off x="6030468" y="6698933"/>
            <a:ext cx="2839212" cy="754380"/>
            <a:chOff x="0" y="0"/>
            <a:chExt cx="3785616" cy="1005840"/>
          </a:xfrm>
        </p:grpSpPr>
        <p:sp>
          <p:nvSpPr>
            <p:cNvPr id="48" name="Freeform 48"/>
            <p:cNvSpPr/>
            <p:nvPr/>
          </p:nvSpPr>
          <p:spPr>
            <a:xfrm>
              <a:off x="0" y="0"/>
              <a:ext cx="3785616" cy="1005840"/>
            </a:xfrm>
            <a:custGeom>
              <a:avLst/>
              <a:gdLst/>
              <a:ahLst/>
              <a:cxnLst/>
              <a:rect l="l" t="t" r="r" b="b"/>
              <a:pathLst>
                <a:path w="3785616" h="1005840">
                  <a:moveTo>
                    <a:pt x="0" y="0"/>
                  </a:moveTo>
                  <a:lnTo>
                    <a:pt x="3785616" y="0"/>
                  </a:lnTo>
                  <a:lnTo>
                    <a:pt x="3785616" y="1005840"/>
                  </a:lnTo>
                  <a:lnTo>
                    <a:pt x="0" y="1005840"/>
                  </a:lnTo>
                  <a:close/>
                </a:path>
              </a:pathLst>
            </a:custGeom>
            <a:blipFill>
              <a:blip r:embed="rId3">
                <a:alphaModFix amt="0"/>
              </a:blip>
              <a:stretch>
                <a:fillRect t="-23334" b="-23334"/>
              </a:stretch>
            </a:blipFill>
          </p:spPr>
        </p:sp>
        <p:sp>
          <p:nvSpPr>
            <p:cNvPr id="49" name="TextBox 49"/>
            <p:cNvSpPr txBox="1"/>
            <p:nvPr/>
          </p:nvSpPr>
          <p:spPr>
            <a:xfrm>
              <a:off x="0" y="-19050"/>
              <a:ext cx="3785616" cy="1024890"/>
            </a:xfrm>
            <a:prstGeom prst="rect">
              <a:avLst/>
            </a:prstGeom>
          </p:spPr>
          <p:txBody>
            <a:bodyPr lIns="0" tIns="0" rIns="0" bIns="0" rtlCol="0" anchor="ctr"/>
            <a:lstStyle/>
            <a:p>
              <a:pPr algn="l">
                <a:lnSpc>
                  <a:spcPts val="3779"/>
                </a:lnSpc>
              </a:pPr>
              <a:r>
                <a:rPr lang="en-US" sz="3150" b="1">
                  <a:solidFill>
                    <a:srgbClr val="C8912E"/>
                  </a:solidFill>
                  <a:latin typeface="Cambria Bold"/>
                  <a:ea typeface="Cambria Bold"/>
                  <a:cs typeface="Cambria Bold"/>
                  <a:sym typeface="Cambria Bold"/>
                </a:rPr>
                <a:t>10–15%</a:t>
              </a:r>
            </a:p>
          </p:txBody>
        </p:sp>
      </p:grpSp>
      <p:grpSp>
        <p:nvGrpSpPr>
          <p:cNvPr id="50" name="Group 50"/>
          <p:cNvGrpSpPr/>
          <p:nvPr/>
        </p:nvGrpSpPr>
        <p:grpSpPr>
          <a:xfrm>
            <a:off x="6030468" y="7494461"/>
            <a:ext cx="2839212" cy="1440180"/>
            <a:chOff x="0" y="0"/>
            <a:chExt cx="3785616" cy="1920240"/>
          </a:xfrm>
        </p:grpSpPr>
        <p:sp>
          <p:nvSpPr>
            <p:cNvPr id="51" name="Freeform 51"/>
            <p:cNvSpPr/>
            <p:nvPr/>
          </p:nvSpPr>
          <p:spPr>
            <a:xfrm>
              <a:off x="0" y="0"/>
              <a:ext cx="3785616" cy="1920240"/>
            </a:xfrm>
            <a:custGeom>
              <a:avLst/>
              <a:gdLst/>
              <a:ahLst/>
              <a:cxnLst/>
              <a:rect l="l" t="t" r="r" b="b"/>
              <a:pathLst>
                <a:path w="3785616" h="1920240">
                  <a:moveTo>
                    <a:pt x="0" y="0"/>
                  </a:moveTo>
                  <a:lnTo>
                    <a:pt x="3785616" y="0"/>
                  </a:lnTo>
                  <a:lnTo>
                    <a:pt x="3785616" y="1920240"/>
                  </a:lnTo>
                  <a:lnTo>
                    <a:pt x="0" y="1920240"/>
                  </a:lnTo>
                  <a:close/>
                </a:path>
              </a:pathLst>
            </a:custGeom>
            <a:blipFill>
              <a:blip r:embed="rId3">
                <a:alphaModFix amt="0"/>
              </a:blip>
              <a:stretch>
                <a:fillRect l="-15081" r="-15081"/>
              </a:stretch>
            </a:blipFill>
          </p:spPr>
        </p:sp>
        <p:sp>
          <p:nvSpPr>
            <p:cNvPr id="52" name="TextBox 52"/>
            <p:cNvSpPr txBox="1"/>
            <p:nvPr/>
          </p:nvSpPr>
          <p:spPr>
            <a:xfrm>
              <a:off x="0" y="-47625"/>
              <a:ext cx="3785616" cy="1967865"/>
            </a:xfrm>
            <a:prstGeom prst="rect">
              <a:avLst/>
            </a:prstGeom>
          </p:spPr>
          <p:txBody>
            <a:bodyPr lIns="0" tIns="0" rIns="0" bIns="0" rtlCol="0" anchor="ctr"/>
            <a:lstStyle/>
            <a:p>
              <a:pPr algn="l">
                <a:lnSpc>
                  <a:spcPts val="1846"/>
                </a:lnSpc>
              </a:pPr>
              <a:r>
                <a:rPr lang="en-US" sz="1425">
                  <a:solidFill>
                    <a:srgbClr val="5B6472"/>
                  </a:solidFill>
                  <a:latin typeface="Calibri (MS)"/>
                  <a:ea typeface="Calibri (MS)"/>
                  <a:cs typeface="Calibri (MS)"/>
                  <a:sym typeface="Calibri (MS)"/>
                </a:rPr>
                <a:t>ML learners with a dedicated GPU — rest rely on laptops, 10–20× slower</a:t>
              </a:r>
            </a:p>
          </p:txBody>
        </p:sp>
      </p:grpSp>
      <p:grpSp>
        <p:nvGrpSpPr>
          <p:cNvPr id="53" name="Group 53"/>
          <p:cNvGrpSpPr/>
          <p:nvPr/>
        </p:nvGrpSpPr>
        <p:grpSpPr>
          <a:xfrm>
            <a:off x="9216771" y="6552248"/>
            <a:ext cx="3242310" cy="2556510"/>
            <a:chOff x="0" y="0"/>
            <a:chExt cx="4323080" cy="3408680"/>
          </a:xfrm>
        </p:grpSpPr>
        <p:sp>
          <p:nvSpPr>
            <p:cNvPr id="54" name="Freeform 54"/>
            <p:cNvSpPr/>
            <p:nvPr/>
          </p:nvSpPr>
          <p:spPr>
            <a:xfrm>
              <a:off x="0" y="0"/>
              <a:ext cx="4323080" cy="3408680"/>
            </a:xfrm>
            <a:custGeom>
              <a:avLst/>
              <a:gdLst/>
              <a:ahLst/>
              <a:cxnLst/>
              <a:rect l="l" t="t" r="r" b="b"/>
              <a:pathLst>
                <a:path w="4323080" h="3408680">
                  <a:moveTo>
                    <a:pt x="0" y="129032"/>
                  </a:moveTo>
                  <a:cubicBezTo>
                    <a:pt x="0" y="57785"/>
                    <a:pt x="57785" y="0"/>
                    <a:pt x="129032" y="0"/>
                  </a:cubicBezTo>
                  <a:lnTo>
                    <a:pt x="4194048" y="0"/>
                  </a:lnTo>
                  <a:cubicBezTo>
                    <a:pt x="4265295" y="0"/>
                    <a:pt x="4323080" y="57785"/>
                    <a:pt x="4323080" y="129032"/>
                  </a:cubicBezTo>
                  <a:lnTo>
                    <a:pt x="4323080" y="3279648"/>
                  </a:lnTo>
                  <a:cubicBezTo>
                    <a:pt x="4323080" y="3350895"/>
                    <a:pt x="4265295" y="3408680"/>
                    <a:pt x="4194048" y="3408680"/>
                  </a:cubicBezTo>
                  <a:lnTo>
                    <a:pt x="129032" y="3408680"/>
                  </a:lnTo>
                  <a:cubicBezTo>
                    <a:pt x="57785" y="3408680"/>
                    <a:pt x="0" y="3350895"/>
                    <a:pt x="0" y="3279648"/>
                  </a:cubicBezTo>
                  <a:close/>
                </a:path>
              </a:pathLst>
            </a:custGeom>
            <a:solidFill>
              <a:srgbClr val="FDF8F1"/>
            </a:solidFill>
            <a:ln w="47625" cap="sq">
              <a:solidFill>
                <a:srgbClr val="E9DCC8"/>
              </a:solidFill>
              <a:prstDash val="solid"/>
              <a:miter/>
            </a:ln>
          </p:spPr>
        </p:sp>
      </p:grpSp>
      <p:grpSp>
        <p:nvGrpSpPr>
          <p:cNvPr id="55" name="Group 55"/>
          <p:cNvGrpSpPr/>
          <p:nvPr/>
        </p:nvGrpSpPr>
        <p:grpSpPr>
          <a:xfrm>
            <a:off x="9418320" y="6698933"/>
            <a:ext cx="2839212" cy="754380"/>
            <a:chOff x="0" y="0"/>
            <a:chExt cx="3785616" cy="1005840"/>
          </a:xfrm>
        </p:grpSpPr>
        <p:sp>
          <p:nvSpPr>
            <p:cNvPr id="56" name="Freeform 56"/>
            <p:cNvSpPr/>
            <p:nvPr/>
          </p:nvSpPr>
          <p:spPr>
            <a:xfrm>
              <a:off x="0" y="0"/>
              <a:ext cx="3785616" cy="1005840"/>
            </a:xfrm>
            <a:custGeom>
              <a:avLst/>
              <a:gdLst/>
              <a:ahLst/>
              <a:cxnLst/>
              <a:rect l="l" t="t" r="r" b="b"/>
              <a:pathLst>
                <a:path w="3785616" h="1005840">
                  <a:moveTo>
                    <a:pt x="0" y="0"/>
                  </a:moveTo>
                  <a:lnTo>
                    <a:pt x="3785616" y="0"/>
                  </a:lnTo>
                  <a:lnTo>
                    <a:pt x="3785616" y="1005840"/>
                  </a:lnTo>
                  <a:lnTo>
                    <a:pt x="0" y="1005840"/>
                  </a:lnTo>
                  <a:close/>
                </a:path>
              </a:pathLst>
            </a:custGeom>
            <a:blipFill>
              <a:blip r:embed="rId3">
                <a:alphaModFix amt="0"/>
              </a:blip>
              <a:stretch>
                <a:fillRect t="-23334" b="-23334"/>
              </a:stretch>
            </a:blipFill>
          </p:spPr>
        </p:sp>
        <p:sp>
          <p:nvSpPr>
            <p:cNvPr id="57" name="TextBox 57"/>
            <p:cNvSpPr txBox="1"/>
            <p:nvPr/>
          </p:nvSpPr>
          <p:spPr>
            <a:xfrm>
              <a:off x="0" y="-19050"/>
              <a:ext cx="3785616" cy="1024890"/>
            </a:xfrm>
            <a:prstGeom prst="rect">
              <a:avLst/>
            </a:prstGeom>
          </p:spPr>
          <p:txBody>
            <a:bodyPr lIns="0" tIns="0" rIns="0" bIns="0" rtlCol="0" anchor="ctr"/>
            <a:lstStyle/>
            <a:p>
              <a:pPr algn="l">
                <a:lnSpc>
                  <a:spcPts val="3779"/>
                </a:lnSpc>
              </a:pPr>
              <a:r>
                <a:rPr lang="en-US" sz="3150" b="1">
                  <a:solidFill>
                    <a:srgbClr val="C8912E"/>
                  </a:solidFill>
                  <a:latin typeface="Cambria Bold"/>
                  <a:ea typeface="Cambria Bold"/>
                  <a:cs typeface="Cambria Bold"/>
                  <a:sym typeface="Cambria Bold"/>
                </a:rPr>
                <a:t>30–40%</a:t>
              </a:r>
            </a:p>
          </p:txBody>
        </p:sp>
      </p:grpSp>
      <p:grpSp>
        <p:nvGrpSpPr>
          <p:cNvPr id="58" name="Group 58"/>
          <p:cNvGrpSpPr/>
          <p:nvPr/>
        </p:nvGrpSpPr>
        <p:grpSpPr>
          <a:xfrm>
            <a:off x="9418320" y="7494461"/>
            <a:ext cx="2839212" cy="1440180"/>
            <a:chOff x="0" y="0"/>
            <a:chExt cx="3785616" cy="1920240"/>
          </a:xfrm>
        </p:grpSpPr>
        <p:sp>
          <p:nvSpPr>
            <p:cNvPr id="59" name="Freeform 59"/>
            <p:cNvSpPr/>
            <p:nvPr/>
          </p:nvSpPr>
          <p:spPr>
            <a:xfrm>
              <a:off x="0" y="0"/>
              <a:ext cx="3785616" cy="1920240"/>
            </a:xfrm>
            <a:custGeom>
              <a:avLst/>
              <a:gdLst/>
              <a:ahLst/>
              <a:cxnLst/>
              <a:rect l="l" t="t" r="r" b="b"/>
              <a:pathLst>
                <a:path w="3785616" h="1920240">
                  <a:moveTo>
                    <a:pt x="0" y="0"/>
                  </a:moveTo>
                  <a:lnTo>
                    <a:pt x="3785616" y="0"/>
                  </a:lnTo>
                  <a:lnTo>
                    <a:pt x="3785616" y="1920240"/>
                  </a:lnTo>
                  <a:lnTo>
                    <a:pt x="0" y="1920240"/>
                  </a:lnTo>
                  <a:close/>
                </a:path>
              </a:pathLst>
            </a:custGeom>
            <a:blipFill>
              <a:blip r:embed="rId3">
                <a:alphaModFix amt="0"/>
              </a:blip>
              <a:stretch>
                <a:fillRect l="-15081" r="-15081"/>
              </a:stretch>
            </a:blipFill>
          </p:spPr>
        </p:sp>
        <p:sp>
          <p:nvSpPr>
            <p:cNvPr id="60" name="TextBox 60"/>
            <p:cNvSpPr txBox="1"/>
            <p:nvPr/>
          </p:nvSpPr>
          <p:spPr>
            <a:xfrm>
              <a:off x="0" y="-47625"/>
              <a:ext cx="3785616" cy="1967865"/>
            </a:xfrm>
            <a:prstGeom prst="rect">
              <a:avLst/>
            </a:prstGeom>
          </p:spPr>
          <p:txBody>
            <a:bodyPr lIns="0" tIns="0" rIns="0" bIns="0" rtlCol="0" anchor="ctr"/>
            <a:lstStyle/>
            <a:p>
              <a:pPr algn="l">
                <a:lnSpc>
                  <a:spcPts val="1846"/>
                </a:lnSpc>
              </a:pPr>
              <a:r>
                <a:rPr lang="en-US" sz="1425">
                  <a:solidFill>
                    <a:srgbClr val="5B6472"/>
                  </a:solidFill>
                  <a:latin typeface="Calibri (MS)"/>
                  <a:ea typeface="Calibri (MS)"/>
                  <a:cs typeface="Calibri (MS)"/>
                  <a:sym typeface="Calibri (MS)"/>
                </a:rPr>
                <a:t>Extra long-term spend, locked into one cloud provider</a:t>
              </a:r>
            </a:p>
          </p:txBody>
        </p:sp>
      </p:grpSp>
      <p:grpSp>
        <p:nvGrpSpPr>
          <p:cNvPr id="61" name="Group 61"/>
          <p:cNvGrpSpPr/>
          <p:nvPr/>
        </p:nvGrpSpPr>
        <p:grpSpPr>
          <a:xfrm>
            <a:off x="12604623" y="6552248"/>
            <a:ext cx="3242310" cy="2556510"/>
            <a:chOff x="0" y="0"/>
            <a:chExt cx="4323080" cy="3408680"/>
          </a:xfrm>
        </p:grpSpPr>
        <p:sp>
          <p:nvSpPr>
            <p:cNvPr id="62" name="Freeform 62"/>
            <p:cNvSpPr/>
            <p:nvPr/>
          </p:nvSpPr>
          <p:spPr>
            <a:xfrm>
              <a:off x="0" y="0"/>
              <a:ext cx="4323080" cy="3408680"/>
            </a:xfrm>
            <a:custGeom>
              <a:avLst/>
              <a:gdLst/>
              <a:ahLst/>
              <a:cxnLst/>
              <a:rect l="l" t="t" r="r" b="b"/>
              <a:pathLst>
                <a:path w="4323080" h="3408680">
                  <a:moveTo>
                    <a:pt x="0" y="129032"/>
                  </a:moveTo>
                  <a:cubicBezTo>
                    <a:pt x="0" y="57785"/>
                    <a:pt x="57785" y="0"/>
                    <a:pt x="129032" y="0"/>
                  </a:cubicBezTo>
                  <a:lnTo>
                    <a:pt x="4194048" y="0"/>
                  </a:lnTo>
                  <a:cubicBezTo>
                    <a:pt x="4265295" y="0"/>
                    <a:pt x="4323080" y="57785"/>
                    <a:pt x="4323080" y="129032"/>
                  </a:cubicBezTo>
                  <a:lnTo>
                    <a:pt x="4323080" y="3279648"/>
                  </a:lnTo>
                  <a:cubicBezTo>
                    <a:pt x="4323080" y="3350895"/>
                    <a:pt x="4265295" y="3408680"/>
                    <a:pt x="4194048" y="3408680"/>
                  </a:cubicBezTo>
                  <a:lnTo>
                    <a:pt x="129032" y="3408680"/>
                  </a:lnTo>
                  <a:cubicBezTo>
                    <a:pt x="57785" y="3408680"/>
                    <a:pt x="0" y="3350895"/>
                    <a:pt x="0" y="3279648"/>
                  </a:cubicBezTo>
                  <a:close/>
                </a:path>
              </a:pathLst>
            </a:custGeom>
            <a:solidFill>
              <a:srgbClr val="FDF8F1"/>
            </a:solidFill>
            <a:ln w="47625" cap="sq">
              <a:solidFill>
                <a:srgbClr val="E9DCC8"/>
              </a:solidFill>
              <a:prstDash val="solid"/>
              <a:miter/>
            </a:ln>
          </p:spPr>
        </p:sp>
      </p:grpSp>
      <p:grpSp>
        <p:nvGrpSpPr>
          <p:cNvPr id="63" name="Group 63"/>
          <p:cNvGrpSpPr/>
          <p:nvPr/>
        </p:nvGrpSpPr>
        <p:grpSpPr>
          <a:xfrm>
            <a:off x="12806172" y="6698933"/>
            <a:ext cx="2839212" cy="754380"/>
            <a:chOff x="0" y="0"/>
            <a:chExt cx="3785616" cy="1005840"/>
          </a:xfrm>
        </p:grpSpPr>
        <p:sp>
          <p:nvSpPr>
            <p:cNvPr id="64" name="Freeform 64"/>
            <p:cNvSpPr/>
            <p:nvPr/>
          </p:nvSpPr>
          <p:spPr>
            <a:xfrm>
              <a:off x="0" y="0"/>
              <a:ext cx="3785616" cy="1005840"/>
            </a:xfrm>
            <a:custGeom>
              <a:avLst/>
              <a:gdLst/>
              <a:ahLst/>
              <a:cxnLst/>
              <a:rect l="l" t="t" r="r" b="b"/>
              <a:pathLst>
                <a:path w="3785616" h="1005840">
                  <a:moveTo>
                    <a:pt x="0" y="0"/>
                  </a:moveTo>
                  <a:lnTo>
                    <a:pt x="3785616" y="0"/>
                  </a:lnTo>
                  <a:lnTo>
                    <a:pt x="3785616" y="1005840"/>
                  </a:lnTo>
                  <a:lnTo>
                    <a:pt x="0" y="1005840"/>
                  </a:lnTo>
                  <a:close/>
                </a:path>
              </a:pathLst>
            </a:custGeom>
            <a:blipFill>
              <a:blip r:embed="rId3">
                <a:alphaModFix amt="0"/>
              </a:blip>
              <a:stretch>
                <a:fillRect t="-23334" b="-23334"/>
              </a:stretch>
            </a:blipFill>
          </p:spPr>
        </p:sp>
        <p:sp>
          <p:nvSpPr>
            <p:cNvPr id="65" name="TextBox 65"/>
            <p:cNvSpPr txBox="1"/>
            <p:nvPr/>
          </p:nvSpPr>
          <p:spPr>
            <a:xfrm>
              <a:off x="0" y="-19050"/>
              <a:ext cx="3785616" cy="1024890"/>
            </a:xfrm>
            <a:prstGeom prst="rect">
              <a:avLst/>
            </a:prstGeom>
          </p:spPr>
          <p:txBody>
            <a:bodyPr lIns="0" tIns="0" rIns="0" bIns="0" rtlCol="0" anchor="ctr"/>
            <a:lstStyle/>
            <a:p>
              <a:pPr algn="l">
                <a:lnSpc>
                  <a:spcPts val="3779"/>
                </a:lnSpc>
              </a:pPr>
              <a:r>
                <a:rPr lang="en-US" sz="3150" b="1">
                  <a:solidFill>
                    <a:srgbClr val="C8912E"/>
                  </a:solidFill>
                  <a:latin typeface="Cambria Bold"/>
                  <a:ea typeface="Cambria Bold"/>
                  <a:cs typeface="Cambria Bold"/>
                  <a:sym typeface="Cambria Bold"/>
                </a:rPr>
                <a:t>80%+</a:t>
              </a:r>
            </a:p>
          </p:txBody>
        </p:sp>
      </p:grpSp>
      <p:grpSp>
        <p:nvGrpSpPr>
          <p:cNvPr id="66" name="Group 66"/>
          <p:cNvGrpSpPr/>
          <p:nvPr/>
        </p:nvGrpSpPr>
        <p:grpSpPr>
          <a:xfrm>
            <a:off x="12806172" y="7494461"/>
            <a:ext cx="2839212" cy="1440180"/>
            <a:chOff x="0" y="0"/>
            <a:chExt cx="3785616" cy="1920240"/>
          </a:xfrm>
        </p:grpSpPr>
        <p:sp>
          <p:nvSpPr>
            <p:cNvPr id="67" name="Freeform 67"/>
            <p:cNvSpPr/>
            <p:nvPr/>
          </p:nvSpPr>
          <p:spPr>
            <a:xfrm>
              <a:off x="0" y="0"/>
              <a:ext cx="3785616" cy="1920240"/>
            </a:xfrm>
            <a:custGeom>
              <a:avLst/>
              <a:gdLst/>
              <a:ahLst/>
              <a:cxnLst/>
              <a:rect l="l" t="t" r="r" b="b"/>
              <a:pathLst>
                <a:path w="3785616" h="1920240">
                  <a:moveTo>
                    <a:pt x="0" y="0"/>
                  </a:moveTo>
                  <a:lnTo>
                    <a:pt x="3785616" y="0"/>
                  </a:lnTo>
                  <a:lnTo>
                    <a:pt x="3785616" y="1920240"/>
                  </a:lnTo>
                  <a:lnTo>
                    <a:pt x="0" y="1920240"/>
                  </a:lnTo>
                  <a:close/>
                </a:path>
              </a:pathLst>
            </a:custGeom>
            <a:blipFill>
              <a:blip r:embed="rId3">
                <a:alphaModFix amt="0"/>
              </a:blip>
              <a:stretch>
                <a:fillRect l="-15081" r="-15081"/>
              </a:stretch>
            </a:blipFill>
          </p:spPr>
        </p:sp>
        <p:sp>
          <p:nvSpPr>
            <p:cNvPr id="68" name="TextBox 68"/>
            <p:cNvSpPr txBox="1"/>
            <p:nvPr/>
          </p:nvSpPr>
          <p:spPr>
            <a:xfrm>
              <a:off x="0" y="-47625"/>
              <a:ext cx="3785616" cy="1967865"/>
            </a:xfrm>
            <a:prstGeom prst="rect">
              <a:avLst/>
            </a:prstGeom>
          </p:spPr>
          <p:txBody>
            <a:bodyPr lIns="0" tIns="0" rIns="0" bIns="0" rtlCol="0" anchor="ctr"/>
            <a:lstStyle/>
            <a:p>
              <a:pPr algn="l">
                <a:lnSpc>
                  <a:spcPts val="1846"/>
                </a:lnSpc>
              </a:pPr>
              <a:r>
                <a:rPr lang="en-US" sz="1425">
                  <a:solidFill>
                    <a:srgbClr val="5B6472"/>
                  </a:solidFill>
                  <a:latin typeface="Calibri (MS)"/>
                  <a:ea typeface="Calibri (MS)"/>
                  <a:cs typeface="Calibri (MS)"/>
                  <a:sym typeface="Calibri (MS)"/>
                </a:rPr>
                <a:t>Learners with no GPU access, stretching training to days</a:t>
              </a:r>
            </a:p>
          </p:txBody>
        </p:sp>
      </p:grpSp>
      <p:sp>
        <p:nvSpPr>
          <p:cNvPr id="69" name="TextBox 69"/>
          <p:cNvSpPr txBox="1"/>
          <p:nvPr/>
        </p:nvSpPr>
        <p:spPr>
          <a:xfrm>
            <a:off x="1791115" y="2196954"/>
            <a:ext cx="14705769" cy="808184"/>
          </a:xfrm>
          <a:prstGeom prst="rect">
            <a:avLst/>
          </a:prstGeom>
        </p:spPr>
        <p:txBody>
          <a:bodyPr lIns="0" tIns="0" rIns="0" bIns="0" rtlCol="0" anchor="t">
            <a:spAutoFit/>
          </a:bodyPr>
          <a:lstStyle/>
          <a:p>
            <a:pPr algn="just">
              <a:lnSpc>
                <a:spcPts val="3229"/>
              </a:lnSpc>
              <a:spcBef>
                <a:spcPct val="0"/>
              </a:spcBef>
            </a:pPr>
            <a:r>
              <a:rPr lang="en-US" sz="2306">
                <a:solidFill>
                  <a:srgbClr val="000000"/>
                </a:solidFill>
                <a:latin typeface="Canva Sans"/>
                <a:ea typeface="Canva Sans"/>
                <a:cs typeface="Canva Sans"/>
                <a:sym typeface="Canva Sans"/>
              </a:rPr>
              <a:t>Machine learning training has a compute problem. Cloud GPUs are expensive, hardware is getting pricier every year, and most learners simply don't have access to the horsepower they need.</a:t>
            </a:r>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26" b="-26"/>
              </a:stretch>
            </a:blipFill>
          </p:spPr>
        </p:sp>
      </p:grpSp>
      <p:grpSp>
        <p:nvGrpSpPr>
          <p:cNvPr id="4" name="Group 4"/>
          <p:cNvGrpSpPr/>
          <p:nvPr/>
        </p:nvGrpSpPr>
        <p:grpSpPr>
          <a:xfrm>
            <a:off x="2320290" y="4529138"/>
            <a:ext cx="3182112" cy="3218758"/>
            <a:chOff x="0" y="0"/>
            <a:chExt cx="4242816" cy="4291678"/>
          </a:xfrm>
        </p:grpSpPr>
        <p:sp>
          <p:nvSpPr>
            <p:cNvPr id="5" name="Freeform 5"/>
            <p:cNvSpPr/>
            <p:nvPr/>
          </p:nvSpPr>
          <p:spPr>
            <a:xfrm>
              <a:off x="0" y="0"/>
              <a:ext cx="4242816" cy="4291678"/>
            </a:xfrm>
            <a:custGeom>
              <a:avLst/>
              <a:gdLst/>
              <a:ahLst/>
              <a:cxnLst/>
              <a:rect l="l" t="t" r="r" b="b"/>
              <a:pathLst>
                <a:path w="4242816" h="4291678">
                  <a:moveTo>
                    <a:pt x="0" y="179652"/>
                  </a:moveTo>
                  <a:cubicBezTo>
                    <a:pt x="0" y="80400"/>
                    <a:pt x="73660" y="0"/>
                    <a:pt x="164592" y="0"/>
                  </a:cubicBezTo>
                  <a:lnTo>
                    <a:pt x="4078224" y="0"/>
                  </a:lnTo>
                  <a:cubicBezTo>
                    <a:pt x="4169156" y="0"/>
                    <a:pt x="4242816" y="80400"/>
                    <a:pt x="4242816" y="179652"/>
                  </a:cubicBezTo>
                  <a:lnTo>
                    <a:pt x="4242816" y="4112026"/>
                  </a:lnTo>
                  <a:cubicBezTo>
                    <a:pt x="4242816" y="4211278"/>
                    <a:pt x="4169156" y="4291678"/>
                    <a:pt x="4078224" y="4291678"/>
                  </a:cubicBezTo>
                  <a:lnTo>
                    <a:pt x="164592" y="4291678"/>
                  </a:lnTo>
                  <a:cubicBezTo>
                    <a:pt x="73660" y="4291678"/>
                    <a:pt x="0" y="4211278"/>
                    <a:pt x="0" y="4112026"/>
                  </a:cubicBezTo>
                  <a:close/>
                </a:path>
              </a:pathLst>
            </a:custGeom>
            <a:solidFill>
              <a:srgbClr val="F1E6D3"/>
            </a:solidFill>
            <a:ln w="38100" cap="sq">
              <a:solidFill>
                <a:srgbClr val="E9DCC8"/>
              </a:solidFill>
              <a:prstDash val="solid"/>
              <a:miter/>
            </a:ln>
          </p:spPr>
        </p:sp>
      </p:grpSp>
      <p:grpSp>
        <p:nvGrpSpPr>
          <p:cNvPr id="6" name="Group 6"/>
          <p:cNvGrpSpPr/>
          <p:nvPr/>
        </p:nvGrpSpPr>
        <p:grpSpPr>
          <a:xfrm>
            <a:off x="2594610" y="4734878"/>
            <a:ext cx="1371600" cy="891540"/>
            <a:chOff x="0" y="0"/>
            <a:chExt cx="1828800" cy="1188720"/>
          </a:xfrm>
        </p:grpSpPr>
        <p:sp>
          <p:nvSpPr>
            <p:cNvPr id="7" name="Freeform 7"/>
            <p:cNvSpPr/>
            <p:nvPr/>
          </p:nvSpPr>
          <p:spPr>
            <a:xfrm>
              <a:off x="0" y="0"/>
              <a:ext cx="1828800" cy="1188720"/>
            </a:xfrm>
            <a:custGeom>
              <a:avLst/>
              <a:gdLst/>
              <a:ahLst/>
              <a:cxnLst/>
              <a:rect l="l" t="t" r="r" b="b"/>
              <a:pathLst>
                <a:path w="1828800" h="1188720">
                  <a:moveTo>
                    <a:pt x="0" y="0"/>
                  </a:moveTo>
                  <a:lnTo>
                    <a:pt x="1828800" y="0"/>
                  </a:lnTo>
                  <a:lnTo>
                    <a:pt x="1828800" y="1188720"/>
                  </a:lnTo>
                  <a:lnTo>
                    <a:pt x="0" y="1188720"/>
                  </a:lnTo>
                  <a:close/>
                </a:path>
              </a:pathLst>
            </a:custGeom>
            <a:blipFill>
              <a:blip r:embed="rId3">
                <a:alphaModFix amt="0"/>
              </a:blip>
              <a:stretch>
                <a:fillRect l="-33397" r="-33397"/>
              </a:stretch>
            </a:blipFill>
          </p:spPr>
        </p:sp>
        <p:sp>
          <p:nvSpPr>
            <p:cNvPr id="8" name="TextBox 8"/>
            <p:cNvSpPr txBox="1"/>
            <p:nvPr/>
          </p:nvSpPr>
          <p:spPr>
            <a:xfrm>
              <a:off x="0" y="-9525"/>
              <a:ext cx="1828800" cy="1198245"/>
            </a:xfrm>
            <a:prstGeom prst="rect">
              <a:avLst/>
            </a:prstGeom>
          </p:spPr>
          <p:txBody>
            <a:bodyPr lIns="0" tIns="0" rIns="0" bIns="0" rtlCol="0" anchor="ctr"/>
            <a:lstStyle/>
            <a:p>
              <a:pPr algn="l">
                <a:lnSpc>
                  <a:spcPts val="5040"/>
                </a:lnSpc>
              </a:pPr>
              <a:r>
                <a:rPr lang="en-US" sz="4200" b="1">
                  <a:solidFill>
                    <a:srgbClr val="C8912E"/>
                  </a:solidFill>
                  <a:latin typeface="Cambria Bold"/>
                  <a:ea typeface="Cambria Bold"/>
                  <a:cs typeface="Cambria Bold"/>
                  <a:sym typeface="Cambria Bold"/>
                </a:rPr>
                <a:t>1</a:t>
              </a:r>
            </a:p>
          </p:txBody>
        </p:sp>
      </p:grpSp>
      <p:grpSp>
        <p:nvGrpSpPr>
          <p:cNvPr id="9" name="Group 9"/>
          <p:cNvGrpSpPr/>
          <p:nvPr/>
        </p:nvGrpSpPr>
        <p:grpSpPr>
          <a:xfrm>
            <a:off x="2594610" y="5598985"/>
            <a:ext cx="2633472" cy="617220"/>
            <a:chOff x="0" y="0"/>
            <a:chExt cx="3511296" cy="822960"/>
          </a:xfrm>
        </p:grpSpPr>
        <p:sp>
          <p:nvSpPr>
            <p:cNvPr id="10" name="Freeform 10"/>
            <p:cNvSpPr/>
            <p:nvPr/>
          </p:nvSpPr>
          <p:spPr>
            <a:xfrm>
              <a:off x="0" y="0"/>
              <a:ext cx="3511296" cy="822960"/>
            </a:xfrm>
            <a:custGeom>
              <a:avLst/>
              <a:gdLst/>
              <a:ahLst/>
              <a:cxnLst/>
              <a:rect l="l" t="t" r="r" b="b"/>
              <a:pathLst>
                <a:path w="3511296" h="822960">
                  <a:moveTo>
                    <a:pt x="0" y="0"/>
                  </a:moveTo>
                  <a:lnTo>
                    <a:pt x="3511296" y="0"/>
                  </a:lnTo>
                  <a:lnTo>
                    <a:pt x="3511296" y="822960"/>
                  </a:lnTo>
                  <a:lnTo>
                    <a:pt x="0" y="822960"/>
                  </a:lnTo>
                  <a:close/>
                </a:path>
              </a:pathLst>
            </a:custGeom>
            <a:blipFill>
              <a:blip r:embed="rId3">
                <a:alphaModFix amt="0"/>
              </a:blip>
              <a:stretch>
                <a:fillRect t="-33136" b="-33136"/>
              </a:stretch>
            </a:blipFill>
          </p:spPr>
        </p:sp>
        <p:sp>
          <p:nvSpPr>
            <p:cNvPr id="11" name="TextBox 11"/>
            <p:cNvSpPr txBox="1"/>
            <p:nvPr/>
          </p:nvSpPr>
          <p:spPr>
            <a:xfrm>
              <a:off x="0" y="-9525"/>
              <a:ext cx="3511296" cy="832485"/>
            </a:xfrm>
            <a:prstGeom prst="rect">
              <a:avLst/>
            </a:prstGeom>
          </p:spPr>
          <p:txBody>
            <a:bodyPr lIns="0" tIns="0" rIns="0" bIns="0" rtlCol="0" anchor="ctr"/>
            <a:lstStyle/>
            <a:p>
              <a:pPr algn="l">
                <a:lnSpc>
                  <a:spcPts val="2430"/>
                </a:lnSpc>
              </a:pPr>
              <a:r>
                <a:rPr lang="en-US" sz="2025" b="1">
                  <a:solidFill>
                    <a:srgbClr val="26324A"/>
                  </a:solidFill>
                  <a:latin typeface="Cambria Bold"/>
                  <a:ea typeface="Cambria Bold"/>
                  <a:cs typeface="Cambria Bold"/>
                  <a:sym typeface="Cambria Bold"/>
                </a:rPr>
                <a:t>Upload</a:t>
              </a:r>
            </a:p>
          </p:txBody>
        </p:sp>
      </p:grpSp>
      <p:grpSp>
        <p:nvGrpSpPr>
          <p:cNvPr id="12" name="Group 12"/>
          <p:cNvGrpSpPr/>
          <p:nvPr/>
        </p:nvGrpSpPr>
        <p:grpSpPr>
          <a:xfrm>
            <a:off x="2594610" y="6175058"/>
            <a:ext cx="2633472" cy="1234440"/>
            <a:chOff x="0" y="0"/>
            <a:chExt cx="3511296" cy="1645920"/>
          </a:xfrm>
        </p:grpSpPr>
        <p:sp>
          <p:nvSpPr>
            <p:cNvPr id="13" name="Freeform 13"/>
            <p:cNvSpPr/>
            <p:nvPr/>
          </p:nvSpPr>
          <p:spPr>
            <a:xfrm>
              <a:off x="0" y="0"/>
              <a:ext cx="3511296" cy="1645920"/>
            </a:xfrm>
            <a:custGeom>
              <a:avLst/>
              <a:gdLst/>
              <a:ahLst/>
              <a:cxnLst/>
              <a:rect l="l" t="t" r="r" b="b"/>
              <a:pathLst>
                <a:path w="3511296" h="1645920">
                  <a:moveTo>
                    <a:pt x="0" y="0"/>
                  </a:moveTo>
                  <a:lnTo>
                    <a:pt x="3511296" y="0"/>
                  </a:lnTo>
                  <a:lnTo>
                    <a:pt x="3511296" y="1645920"/>
                  </a:lnTo>
                  <a:lnTo>
                    <a:pt x="0" y="1645920"/>
                  </a:lnTo>
                  <a:close/>
                </a:path>
              </a:pathLst>
            </a:custGeom>
            <a:blipFill>
              <a:blip r:embed="rId3">
                <a:alphaModFix amt="0"/>
              </a:blip>
              <a:stretch>
                <a:fillRect l="-10142" r="-10142"/>
              </a:stretch>
            </a:blipFill>
          </p:spPr>
        </p:sp>
        <p:sp>
          <p:nvSpPr>
            <p:cNvPr id="14" name="TextBox 14"/>
            <p:cNvSpPr txBox="1"/>
            <p:nvPr/>
          </p:nvSpPr>
          <p:spPr>
            <a:xfrm>
              <a:off x="0" y="-47625"/>
              <a:ext cx="3511296" cy="1693545"/>
            </a:xfrm>
            <a:prstGeom prst="rect">
              <a:avLst/>
            </a:prstGeom>
          </p:spPr>
          <p:txBody>
            <a:bodyPr lIns="0" tIns="0" rIns="0" bIns="0" rtlCol="0" anchor="ctr"/>
            <a:lstStyle/>
            <a:p>
              <a:pPr algn="l">
                <a:lnSpc>
                  <a:spcPts val="1975"/>
                </a:lnSpc>
              </a:pPr>
              <a:r>
                <a:rPr lang="en-US" sz="1470">
                  <a:solidFill>
                    <a:srgbClr val="26324A"/>
                  </a:solidFill>
                  <a:latin typeface="Calibri (MS)"/>
                  <a:ea typeface="Calibri (MS)"/>
                  <a:cs typeface="Calibri (MS)"/>
                  <a:sym typeface="Calibri (MS)"/>
                </a:rPr>
                <a:t>User uploads a ZIP with training code, data &amp; requirements.txt.</a:t>
              </a:r>
            </a:p>
          </p:txBody>
        </p:sp>
      </p:grpSp>
      <p:grpSp>
        <p:nvGrpSpPr>
          <p:cNvPr id="15" name="Group 15"/>
          <p:cNvGrpSpPr/>
          <p:nvPr/>
        </p:nvGrpSpPr>
        <p:grpSpPr>
          <a:xfrm>
            <a:off x="5735574" y="4529138"/>
            <a:ext cx="3182112" cy="3218758"/>
            <a:chOff x="0" y="0"/>
            <a:chExt cx="4242816" cy="4291678"/>
          </a:xfrm>
        </p:grpSpPr>
        <p:sp>
          <p:nvSpPr>
            <p:cNvPr id="16" name="Freeform 16"/>
            <p:cNvSpPr/>
            <p:nvPr/>
          </p:nvSpPr>
          <p:spPr>
            <a:xfrm>
              <a:off x="0" y="0"/>
              <a:ext cx="4242816" cy="4291678"/>
            </a:xfrm>
            <a:custGeom>
              <a:avLst/>
              <a:gdLst/>
              <a:ahLst/>
              <a:cxnLst/>
              <a:rect l="l" t="t" r="r" b="b"/>
              <a:pathLst>
                <a:path w="4242816" h="4291678">
                  <a:moveTo>
                    <a:pt x="0" y="179652"/>
                  </a:moveTo>
                  <a:cubicBezTo>
                    <a:pt x="0" y="80400"/>
                    <a:pt x="73660" y="0"/>
                    <a:pt x="164592" y="0"/>
                  </a:cubicBezTo>
                  <a:lnTo>
                    <a:pt x="4078224" y="0"/>
                  </a:lnTo>
                  <a:cubicBezTo>
                    <a:pt x="4169156" y="0"/>
                    <a:pt x="4242816" y="80400"/>
                    <a:pt x="4242816" y="179652"/>
                  </a:cubicBezTo>
                  <a:lnTo>
                    <a:pt x="4242816" y="4112026"/>
                  </a:lnTo>
                  <a:cubicBezTo>
                    <a:pt x="4242816" y="4211278"/>
                    <a:pt x="4169156" y="4291678"/>
                    <a:pt x="4078224" y="4291678"/>
                  </a:cubicBezTo>
                  <a:lnTo>
                    <a:pt x="164592" y="4291678"/>
                  </a:lnTo>
                  <a:cubicBezTo>
                    <a:pt x="73660" y="4291678"/>
                    <a:pt x="0" y="4211278"/>
                    <a:pt x="0" y="4112026"/>
                  </a:cubicBezTo>
                  <a:close/>
                </a:path>
              </a:pathLst>
            </a:custGeom>
            <a:solidFill>
              <a:srgbClr val="FDF8F1"/>
            </a:solidFill>
            <a:ln w="38100" cap="sq">
              <a:solidFill>
                <a:srgbClr val="E9DCC8"/>
              </a:solidFill>
              <a:prstDash val="solid"/>
              <a:miter/>
            </a:ln>
          </p:spPr>
        </p:sp>
      </p:grpSp>
      <p:grpSp>
        <p:nvGrpSpPr>
          <p:cNvPr id="17" name="Group 17"/>
          <p:cNvGrpSpPr/>
          <p:nvPr/>
        </p:nvGrpSpPr>
        <p:grpSpPr>
          <a:xfrm>
            <a:off x="6009894" y="4734878"/>
            <a:ext cx="1371600" cy="891540"/>
            <a:chOff x="0" y="0"/>
            <a:chExt cx="1828800" cy="1188720"/>
          </a:xfrm>
        </p:grpSpPr>
        <p:sp>
          <p:nvSpPr>
            <p:cNvPr id="18" name="Freeform 18"/>
            <p:cNvSpPr/>
            <p:nvPr/>
          </p:nvSpPr>
          <p:spPr>
            <a:xfrm>
              <a:off x="0" y="0"/>
              <a:ext cx="1828800" cy="1188720"/>
            </a:xfrm>
            <a:custGeom>
              <a:avLst/>
              <a:gdLst/>
              <a:ahLst/>
              <a:cxnLst/>
              <a:rect l="l" t="t" r="r" b="b"/>
              <a:pathLst>
                <a:path w="1828800" h="1188720">
                  <a:moveTo>
                    <a:pt x="0" y="0"/>
                  </a:moveTo>
                  <a:lnTo>
                    <a:pt x="1828800" y="0"/>
                  </a:lnTo>
                  <a:lnTo>
                    <a:pt x="1828800" y="1188720"/>
                  </a:lnTo>
                  <a:lnTo>
                    <a:pt x="0" y="1188720"/>
                  </a:lnTo>
                  <a:close/>
                </a:path>
              </a:pathLst>
            </a:custGeom>
            <a:blipFill>
              <a:blip r:embed="rId3">
                <a:alphaModFix amt="0"/>
              </a:blip>
              <a:stretch>
                <a:fillRect l="-33397" r="-33397"/>
              </a:stretch>
            </a:blipFill>
          </p:spPr>
        </p:sp>
        <p:sp>
          <p:nvSpPr>
            <p:cNvPr id="19" name="TextBox 19"/>
            <p:cNvSpPr txBox="1"/>
            <p:nvPr/>
          </p:nvSpPr>
          <p:spPr>
            <a:xfrm>
              <a:off x="0" y="-9525"/>
              <a:ext cx="1828800" cy="1198245"/>
            </a:xfrm>
            <a:prstGeom prst="rect">
              <a:avLst/>
            </a:prstGeom>
          </p:spPr>
          <p:txBody>
            <a:bodyPr lIns="0" tIns="0" rIns="0" bIns="0" rtlCol="0" anchor="ctr"/>
            <a:lstStyle/>
            <a:p>
              <a:pPr algn="l">
                <a:lnSpc>
                  <a:spcPts val="5040"/>
                </a:lnSpc>
              </a:pPr>
              <a:r>
                <a:rPr lang="en-US" sz="4200" b="1">
                  <a:solidFill>
                    <a:srgbClr val="C8912E"/>
                  </a:solidFill>
                  <a:latin typeface="Cambria Bold"/>
                  <a:ea typeface="Cambria Bold"/>
                  <a:cs typeface="Cambria Bold"/>
                  <a:sym typeface="Cambria Bold"/>
                </a:rPr>
                <a:t>2</a:t>
              </a:r>
            </a:p>
          </p:txBody>
        </p:sp>
      </p:grpSp>
      <p:grpSp>
        <p:nvGrpSpPr>
          <p:cNvPr id="20" name="Group 20"/>
          <p:cNvGrpSpPr/>
          <p:nvPr/>
        </p:nvGrpSpPr>
        <p:grpSpPr>
          <a:xfrm>
            <a:off x="6009894" y="5598985"/>
            <a:ext cx="2633472" cy="617220"/>
            <a:chOff x="0" y="0"/>
            <a:chExt cx="3511296" cy="822960"/>
          </a:xfrm>
        </p:grpSpPr>
        <p:sp>
          <p:nvSpPr>
            <p:cNvPr id="21" name="Freeform 21"/>
            <p:cNvSpPr/>
            <p:nvPr/>
          </p:nvSpPr>
          <p:spPr>
            <a:xfrm>
              <a:off x="0" y="0"/>
              <a:ext cx="3511296" cy="822960"/>
            </a:xfrm>
            <a:custGeom>
              <a:avLst/>
              <a:gdLst/>
              <a:ahLst/>
              <a:cxnLst/>
              <a:rect l="l" t="t" r="r" b="b"/>
              <a:pathLst>
                <a:path w="3511296" h="822960">
                  <a:moveTo>
                    <a:pt x="0" y="0"/>
                  </a:moveTo>
                  <a:lnTo>
                    <a:pt x="3511296" y="0"/>
                  </a:lnTo>
                  <a:lnTo>
                    <a:pt x="3511296" y="822960"/>
                  </a:lnTo>
                  <a:lnTo>
                    <a:pt x="0" y="822960"/>
                  </a:lnTo>
                  <a:close/>
                </a:path>
              </a:pathLst>
            </a:custGeom>
            <a:blipFill>
              <a:blip r:embed="rId3">
                <a:alphaModFix amt="0"/>
              </a:blip>
              <a:stretch>
                <a:fillRect t="-33136" b="-33136"/>
              </a:stretch>
            </a:blipFill>
          </p:spPr>
        </p:sp>
        <p:sp>
          <p:nvSpPr>
            <p:cNvPr id="22" name="TextBox 22"/>
            <p:cNvSpPr txBox="1"/>
            <p:nvPr/>
          </p:nvSpPr>
          <p:spPr>
            <a:xfrm>
              <a:off x="0" y="-9525"/>
              <a:ext cx="3511296" cy="832485"/>
            </a:xfrm>
            <a:prstGeom prst="rect">
              <a:avLst/>
            </a:prstGeom>
          </p:spPr>
          <p:txBody>
            <a:bodyPr lIns="0" tIns="0" rIns="0" bIns="0" rtlCol="0" anchor="ctr"/>
            <a:lstStyle/>
            <a:p>
              <a:pPr algn="l">
                <a:lnSpc>
                  <a:spcPts val="2430"/>
                </a:lnSpc>
              </a:pPr>
              <a:r>
                <a:rPr lang="en-US" sz="2025" b="1">
                  <a:solidFill>
                    <a:srgbClr val="26324A"/>
                  </a:solidFill>
                  <a:latin typeface="Cambria Bold"/>
                  <a:ea typeface="Cambria Bold"/>
                  <a:cs typeface="Cambria Bold"/>
                  <a:sym typeface="Cambria Bold"/>
                </a:rPr>
                <a:t>Reserve &amp; Publish</a:t>
              </a:r>
            </a:p>
          </p:txBody>
        </p:sp>
      </p:grpSp>
      <p:grpSp>
        <p:nvGrpSpPr>
          <p:cNvPr id="23" name="Group 23"/>
          <p:cNvGrpSpPr/>
          <p:nvPr/>
        </p:nvGrpSpPr>
        <p:grpSpPr>
          <a:xfrm>
            <a:off x="6009894" y="6282880"/>
            <a:ext cx="2633472" cy="1234440"/>
            <a:chOff x="0" y="0"/>
            <a:chExt cx="3511296" cy="1645920"/>
          </a:xfrm>
        </p:grpSpPr>
        <p:sp>
          <p:nvSpPr>
            <p:cNvPr id="24" name="Freeform 24"/>
            <p:cNvSpPr/>
            <p:nvPr/>
          </p:nvSpPr>
          <p:spPr>
            <a:xfrm>
              <a:off x="0" y="0"/>
              <a:ext cx="3511296" cy="1645920"/>
            </a:xfrm>
            <a:custGeom>
              <a:avLst/>
              <a:gdLst/>
              <a:ahLst/>
              <a:cxnLst/>
              <a:rect l="l" t="t" r="r" b="b"/>
              <a:pathLst>
                <a:path w="3511296" h="1645920">
                  <a:moveTo>
                    <a:pt x="0" y="0"/>
                  </a:moveTo>
                  <a:lnTo>
                    <a:pt x="3511296" y="0"/>
                  </a:lnTo>
                  <a:lnTo>
                    <a:pt x="3511296" y="1645920"/>
                  </a:lnTo>
                  <a:lnTo>
                    <a:pt x="0" y="1645920"/>
                  </a:lnTo>
                  <a:close/>
                </a:path>
              </a:pathLst>
            </a:custGeom>
            <a:blipFill>
              <a:blip r:embed="rId3">
                <a:alphaModFix amt="0"/>
              </a:blip>
              <a:stretch>
                <a:fillRect l="-10142" r="-10142"/>
              </a:stretch>
            </a:blipFill>
          </p:spPr>
        </p:sp>
        <p:sp>
          <p:nvSpPr>
            <p:cNvPr id="25" name="TextBox 25"/>
            <p:cNvSpPr txBox="1"/>
            <p:nvPr/>
          </p:nvSpPr>
          <p:spPr>
            <a:xfrm>
              <a:off x="0" y="-47625"/>
              <a:ext cx="3511296" cy="1693545"/>
            </a:xfrm>
            <a:prstGeom prst="rect">
              <a:avLst/>
            </a:prstGeom>
          </p:spPr>
          <p:txBody>
            <a:bodyPr lIns="0" tIns="0" rIns="0" bIns="0" rtlCol="0" anchor="ctr"/>
            <a:lstStyle/>
            <a:p>
              <a:pPr algn="l">
                <a:lnSpc>
                  <a:spcPts val="1975"/>
                </a:lnSpc>
              </a:pPr>
              <a:r>
                <a:rPr lang="en-US" sz="1470">
                  <a:solidFill>
                    <a:srgbClr val="26324A"/>
                  </a:solidFill>
                  <a:latin typeface="Calibri (MS)"/>
                  <a:ea typeface="Calibri (MS)"/>
                  <a:cs typeface="Calibri (MS)"/>
                  <a:sym typeface="Calibri (MS)"/>
                </a:rPr>
                <a:t>User tops up their wallet and publishes the job — funds are reserved, not charged yet.</a:t>
              </a:r>
            </a:p>
          </p:txBody>
        </p:sp>
      </p:grpSp>
      <p:grpSp>
        <p:nvGrpSpPr>
          <p:cNvPr id="26" name="Group 26"/>
          <p:cNvGrpSpPr/>
          <p:nvPr/>
        </p:nvGrpSpPr>
        <p:grpSpPr>
          <a:xfrm>
            <a:off x="9150858" y="4529138"/>
            <a:ext cx="3182112" cy="3218758"/>
            <a:chOff x="0" y="0"/>
            <a:chExt cx="4242816" cy="4291678"/>
          </a:xfrm>
        </p:grpSpPr>
        <p:sp>
          <p:nvSpPr>
            <p:cNvPr id="27" name="Freeform 27"/>
            <p:cNvSpPr/>
            <p:nvPr/>
          </p:nvSpPr>
          <p:spPr>
            <a:xfrm>
              <a:off x="0" y="0"/>
              <a:ext cx="4242816" cy="4291678"/>
            </a:xfrm>
            <a:custGeom>
              <a:avLst/>
              <a:gdLst/>
              <a:ahLst/>
              <a:cxnLst/>
              <a:rect l="l" t="t" r="r" b="b"/>
              <a:pathLst>
                <a:path w="4242816" h="4291678">
                  <a:moveTo>
                    <a:pt x="0" y="179652"/>
                  </a:moveTo>
                  <a:cubicBezTo>
                    <a:pt x="0" y="80400"/>
                    <a:pt x="73660" y="0"/>
                    <a:pt x="164592" y="0"/>
                  </a:cubicBezTo>
                  <a:lnTo>
                    <a:pt x="4078224" y="0"/>
                  </a:lnTo>
                  <a:cubicBezTo>
                    <a:pt x="4169156" y="0"/>
                    <a:pt x="4242816" y="80400"/>
                    <a:pt x="4242816" y="179652"/>
                  </a:cubicBezTo>
                  <a:lnTo>
                    <a:pt x="4242816" y="4112026"/>
                  </a:lnTo>
                  <a:cubicBezTo>
                    <a:pt x="4242816" y="4211278"/>
                    <a:pt x="4169156" y="4291678"/>
                    <a:pt x="4078224" y="4291678"/>
                  </a:cubicBezTo>
                  <a:lnTo>
                    <a:pt x="164592" y="4291678"/>
                  </a:lnTo>
                  <a:cubicBezTo>
                    <a:pt x="73660" y="4291678"/>
                    <a:pt x="0" y="4211278"/>
                    <a:pt x="0" y="4112026"/>
                  </a:cubicBezTo>
                  <a:close/>
                </a:path>
              </a:pathLst>
            </a:custGeom>
            <a:solidFill>
              <a:srgbClr val="F1E6D3"/>
            </a:solidFill>
            <a:ln w="38100" cap="sq">
              <a:solidFill>
                <a:srgbClr val="E9DCC8"/>
              </a:solidFill>
              <a:prstDash val="solid"/>
              <a:miter/>
            </a:ln>
          </p:spPr>
        </p:sp>
      </p:grpSp>
      <p:grpSp>
        <p:nvGrpSpPr>
          <p:cNvPr id="28" name="Group 28"/>
          <p:cNvGrpSpPr/>
          <p:nvPr/>
        </p:nvGrpSpPr>
        <p:grpSpPr>
          <a:xfrm>
            <a:off x="9425178" y="4734878"/>
            <a:ext cx="1371600" cy="891540"/>
            <a:chOff x="0" y="0"/>
            <a:chExt cx="1828800" cy="1188720"/>
          </a:xfrm>
        </p:grpSpPr>
        <p:sp>
          <p:nvSpPr>
            <p:cNvPr id="29" name="Freeform 29"/>
            <p:cNvSpPr/>
            <p:nvPr/>
          </p:nvSpPr>
          <p:spPr>
            <a:xfrm>
              <a:off x="0" y="0"/>
              <a:ext cx="1828800" cy="1188720"/>
            </a:xfrm>
            <a:custGeom>
              <a:avLst/>
              <a:gdLst/>
              <a:ahLst/>
              <a:cxnLst/>
              <a:rect l="l" t="t" r="r" b="b"/>
              <a:pathLst>
                <a:path w="1828800" h="1188720">
                  <a:moveTo>
                    <a:pt x="0" y="0"/>
                  </a:moveTo>
                  <a:lnTo>
                    <a:pt x="1828800" y="0"/>
                  </a:lnTo>
                  <a:lnTo>
                    <a:pt x="1828800" y="1188720"/>
                  </a:lnTo>
                  <a:lnTo>
                    <a:pt x="0" y="1188720"/>
                  </a:lnTo>
                  <a:close/>
                </a:path>
              </a:pathLst>
            </a:custGeom>
            <a:blipFill>
              <a:blip r:embed="rId3">
                <a:alphaModFix amt="0"/>
              </a:blip>
              <a:stretch>
                <a:fillRect l="-33397" r="-33397"/>
              </a:stretch>
            </a:blipFill>
          </p:spPr>
        </p:sp>
        <p:sp>
          <p:nvSpPr>
            <p:cNvPr id="30" name="TextBox 30"/>
            <p:cNvSpPr txBox="1"/>
            <p:nvPr/>
          </p:nvSpPr>
          <p:spPr>
            <a:xfrm>
              <a:off x="0" y="-9525"/>
              <a:ext cx="1828800" cy="1198245"/>
            </a:xfrm>
            <a:prstGeom prst="rect">
              <a:avLst/>
            </a:prstGeom>
          </p:spPr>
          <p:txBody>
            <a:bodyPr lIns="0" tIns="0" rIns="0" bIns="0" rtlCol="0" anchor="ctr"/>
            <a:lstStyle/>
            <a:p>
              <a:pPr algn="l">
                <a:lnSpc>
                  <a:spcPts val="5040"/>
                </a:lnSpc>
              </a:pPr>
              <a:r>
                <a:rPr lang="en-US" sz="4200" b="1">
                  <a:solidFill>
                    <a:srgbClr val="C8912E"/>
                  </a:solidFill>
                  <a:latin typeface="Cambria Bold"/>
                  <a:ea typeface="Cambria Bold"/>
                  <a:cs typeface="Cambria Bold"/>
                  <a:sym typeface="Cambria Bold"/>
                </a:rPr>
                <a:t>3</a:t>
              </a:r>
            </a:p>
          </p:txBody>
        </p:sp>
      </p:grpSp>
      <p:grpSp>
        <p:nvGrpSpPr>
          <p:cNvPr id="31" name="Group 31"/>
          <p:cNvGrpSpPr/>
          <p:nvPr/>
        </p:nvGrpSpPr>
        <p:grpSpPr>
          <a:xfrm>
            <a:off x="9425178" y="5598985"/>
            <a:ext cx="2633472" cy="617220"/>
            <a:chOff x="0" y="0"/>
            <a:chExt cx="3511296" cy="822960"/>
          </a:xfrm>
        </p:grpSpPr>
        <p:sp>
          <p:nvSpPr>
            <p:cNvPr id="32" name="Freeform 32"/>
            <p:cNvSpPr/>
            <p:nvPr/>
          </p:nvSpPr>
          <p:spPr>
            <a:xfrm>
              <a:off x="0" y="0"/>
              <a:ext cx="3511296" cy="822960"/>
            </a:xfrm>
            <a:custGeom>
              <a:avLst/>
              <a:gdLst/>
              <a:ahLst/>
              <a:cxnLst/>
              <a:rect l="l" t="t" r="r" b="b"/>
              <a:pathLst>
                <a:path w="3511296" h="822960">
                  <a:moveTo>
                    <a:pt x="0" y="0"/>
                  </a:moveTo>
                  <a:lnTo>
                    <a:pt x="3511296" y="0"/>
                  </a:lnTo>
                  <a:lnTo>
                    <a:pt x="3511296" y="822960"/>
                  </a:lnTo>
                  <a:lnTo>
                    <a:pt x="0" y="822960"/>
                  </a:lnTo>
                  <a:close/>
                </a:path>
              </a:pathLst>
            </a:custGeom>
            <a:solidFill>
              <a:srgbClr val="F1E6D3">
                <a:alpha val="0"/>
              </a:srgbClr>
            </a:solidFill>
          </p:spPr>
        </p:sp>
        <p:sp>
          <p:nvSpPr>
            <p:cNvPr id="33" name="TextBox 33"/>
            <p:cNvSpPr txBox="1"/>
            <p:nvPr/>
          </p:nvSpPr>
          <p:spPr>
            <a:xfrm>
              <a:off x="0" y="-9525"/>
              <a:ext cx="3511296" cy="832485"/>
            </a:xfrm>
            <a:prstGeom prst="rect">
              <a:avLst/>
            </a:prstGeom>
          </p:spPr>
          <p:txBody>
            <a:bodyPr lIns="0" tIns="0" rIns="0" bIns="0" rtlCol="0" anchor="ctr"/>
            <a:lstStyle/>
            <a:p>
              <a:pPr algn="l">
                <a:lnSpc>
                  <a:spcPts val="2430"/>
                </a:lnSpc>
              </a:pPr>
              <a:r>
                <a:rPr lang="en-US" sz="2025" b="1">
                  <a:solidFill>
                    <a:srgbClr val="26324A"/>
                  </a:solidFill>
                  <a:latin typeface="Cambria Bold"/>
                  <a:ea typeface="Cambria Bold"/>
                  <a:cs typeface="Cambria Bold"/>
                  <a:sym typeface="Cambria Bold"/>
                </a:rPr>
                <a:t>Train</a:t>
              </a:r>
            </a:p>
          </p:txBody>
        </p:sp>
      </p:grpSp>
      <p:grpSp>
        <p:nvGrpSpPr>
          <p:cNvPr id="34" name="Group 34"/>
          <p:cNvGrpSpPr/>
          <p:nvPr/>
        </p:nvGrpSpPr>
        <p:grpSpPr>
          <a:xfrm>
            <a:off x="9425178" y="6254305"/>
            <a:ext cx="2633472" cy="1234440"/>
            <a:chOff x="0" y="0"/>
            <a:chExt cx="3511296" cy="1645920"/>
          </a:xfrm>
        </p:grpSpPr>
        <p:sp>
          <p:nvSpPr>
            <p:cNvPr id="35" name="Freeform 35"/>
            <p:cNvSpPr/>
            <p:nvPr/>
          </p:nvSpPr>
          <p:spPr>
            <a:xfrm>
              <a:off x="0" y="0"/>
              <a:ext cx="3511296" cy="1645920"/>
            </a:xfrm>
            <a:custGeom>
              <a:avLst/>
              <a:gdLst/>
              <a:ahLst/>
              <a:cxnLst/>
              <a:rect l="l" t="t" r="r" b="b"/>
              <a:pathLst>
                <a:path w="3511296" h="1645920">
                  <a:moveTo>
                    <a:pt x="0" y="0"/>
                  </a:moveTo>
                  <a:lnTo>
                    <a:pt x="3511296" y="0"/>
                  </a:lnTo>
                  <a:lnTo>
                    <a:pt x="3511296" y="1645920"/>
                  </a:lnTo>
                  <a:lnTo>
                    <a:pt x="0" y="1645920"/>
                  </a:lnTo>
                  <a:close/>
                </a:path>
              </a:pathLst>
            </a:custGeom>
            <a:blipFill>
              <a:blip r:embed="rId3">
                <a:alphaModFix amt="0"/>
              </a:blip>
              <a:stretch>
                <a:fillRect l="-10142" r="-10142"/>
              </a:stretch>
            </a:blipFill>
          </p:spPr>
        </p:sp>
        <p:sp>
          <p:nvSpPr>
            <p:cNvPr id="36" name="TextBox 36"/>
            <p:cNvSpPr txBox="1"/>
            <p:nvPr/>
          </p:nvSpPr>
          <p:spPr>
            <a:xfrm>
              <a:off x="0" y="-47625"/>
              <a:ext cx="3511296" cy="1693545"/>
            </a:xfrm>
            <a:prstGeom prst="rect">
              <a:avLst/>
            </a:prstGeom>
          </p:spPr>
          <p:txBody>
            <a:bodyPr lIns="0" tIns="0" rIns="0" bIns="0" rtlCol="0" anchor="ctr"/>
            <a:lstStyle/>
            <a:p>
              <a:pPr algn="l">
                <a:lnSpc>
                  <a:spcPts val="1975"/>
                </a:lnSpc>
              </a:pPr>
              <a:r>
                <a:rPr lang="en-US" sz="1470">
                  <a:solidFill>
                    <a:srgbClr val="26324A"/>
                  </a:solidFill>
                  <a:latin typeface="Calibri (MS)"/>
                  <a:ea typeface="Calibri (MS)"/>
                  <a:cs typeface="Calibri (MS)"/>
                  <a:sym typeface="Calibri (MS)"/>
                </a:rPr>
                <a:t>A free worker node trains the model in an isolated Docker container.</a:t>
              </a:r>
            </a:p>
          </p:txBody>
        </p:sp>
      </p:grpSp>
      <p:grpSp>
        <p:nvGrpSpPr>
          <p:cNvPr id="37" name="Group 37"/>
          <p:cNvGrpSpPr/>
          <p:nvPr/>
        </p:nvGrpSpPr>
        <p:grpSpPr>
          <a:xfrm>
            <a:off x="12566142" y="4529138"/>
            <a:ext cx="3182112" cy="3218758"/>
            <a:chOff x="0" y="0"/>
            <a:chExt cx="4242816" cy="4291678"/>
          </a:xfrm>
        </p:grpSpPr>
        <p:sp>
          <p:nvSpPr>
            <p:cNvPr id="38" name="Freeform 38"/>
            <p:cNvSpPr/>
            <p:nvPr/>
          </p:nvSpPr>
          <p:spPr>
            <a:xfrm>
              <a:off x="0" y="0"/>
              <a:ext cx="4242816" cy="4291678"/>
            </a:xfrm>
            <a:custGeom>
              <a:avLst/>
              <a:gdLst/>
              <a:ahLst/>
              <a:cxnLst/>
              <a:rect l="l" t="t" r="r" b="b"/>
              <a:pathLst>
                <a:path w="4242816" h="4291678">
                  <a:moveTo>
                    <a:pt x="0" y="179652"/>
                  </a:moveTo>
                  <a:cubicBezTo>
                    <a:pt x="0" y="80400"/>
                    <a:pt x="73660" y="0"/>
                    <a:pt x="164592" y="0"/>
                  </a:cubicBezTo>
                  <a:lnTo>
                    <a:pt x="4078224" y="0"/>
                  </a:lnTo>
                  <a:cubicBezTo>
                    <a:pt x="4169156" y="0"/>
                    <a:pt x="4242816" y="80400"/>
                    <a:pt x="4242816" y="179652"/>
                  </a:cubicBezTo>
                  <a:lnTo>
                    <a:pt x="4242816" y="4112026"/>
                  </a:lnTo>
                  <a:cubicBezTo>
                    <a:pt x="4242816" y="4211278"/>
                    <a:pt x="4169156" y="4291678"/>
                    <a:pt x="4078224" y="4291678"/>
                  </a:cubicBezTo>
                  <a:lnTo>
                    <a:pt x="164592" y="4291678"/>
                  </a:lnTo>
                  <a:cubicBezTo>
                    <a:pt x="73660" y="4291678"/>
                    <a:pt x="0" y="4211278"/>
                    <a:pt x="0" y="4112026"/>
                  </a:cubicBezTo>
                  <a:close/>
                </a:path>
              </a:pathLst>
            </a:custGeom>
            <a:solidFill>
              <a:srgbClr val="FDF8F1"/>
            </a:solidFill>
            <a:ln w="38100" cap="sq">
              <a:solidFill>
                <a:srgbClr val="E9DCC8"/>
              </a:solidFill>
              <a:prstDash val="solid"/>
              <a:miter/>
            </a:ln>
          </p:spPr>
        </p:sp>
      </p:grpSp>
      <p:grpSp>
        <p:nvGrpSpPr>
          <p:cNvPr id="39" name="Group 39"/>
          <p:cNvGrpSpPr/>
          <p:nvPr/>
        </p:nvGrpSpPr>
        <p:grpSpPr>
          <a:xfrm>
            <a:off x="12840462" y="4734878"/>
            <a:ext cx="1371600" cy="891540"/>
            <a:chOff x="0" y="0"/>
            <a:chExt cx="1828800" cy="1188720"/>
          </a:xfrm>
        </p:grpSpPr>
        <p:sp>
          <p:nvSpPr>
            <p:cNvPr id="40" name="Freeform 40"/>
            <p:cNvSpPr/>
            <p:nvPr/>
          </p:nvSpPr>
          <p:spPr>
            <a:xfrm>
              <a:off x="0" y="0"/>
              <a:ext cx="1828800" cy="1188720"/>
            </a:xfrm>
            <a:custGeom>
              <a:avLst/>
              <a:gdLst/>
              <a:ahLst/>
              <a:cxnLst/>
              <a:rect l="l" t="t" r="r" b="b"/>
              <a:pathLst>
                <a:path w="1828800" h="1188720">
                  <a:moveTo>
                    <a:pt x="0" y="0"/>
                  </a:moveTo>
                  <a:lnTo>
                    <a:pt x="1828800" y="0"/>
                  </a:lnTo>
                  <a:lnTo>
                    <a:pt x="1828800" y="1188720"/>
                  </a:lnTo>
                  <a:lnTo>
                    <a:pt x="0" y="1188720"/>
                  </a:lnTo>
                  <a:close/>
                </a:path>
              </a:pathLst>
            </a:custGeom>
            <a:blipFill>
              <a:blip r:embed="rId3">
                <a:alphaModFix amt="0"/>
              </a:blip>
              <a:stretch>
                <a:fillRect l="-33397" r="-33397"/>
              </a:stretch>
            </a:blipFill>
          </p:spPr>
        </p:sp>
        <p:sp>
          <p:nvSpPr>
            <p:cNvPr id="41" name="TextBox 41"/>
            <p:cNvSpPr txBox="1"/>
            <p:nvPr/>
          </p:nvSpPr>
          <p:spPr>
            <a:xfrm>
              <a:off x="0" y="-9525"/>
              <a:ext cx="1828800" cy="1198245"/>
            </a:xfrm>
            <a:prstGeom prst="rect">
              <a:avLst/>
            </a:prstGeom>
          </p:spPr>
          <p:txBody>
            <a:bodyPr lIns="0" tIns="0" rIns="0" bIns="0" rtlCol="0" anchor="ctr"/>
            <a:lstStyle/>
            <a:p>
              <a:pPr algn="l">
                <a:lnSpc>
                  <a:spcPts val="5040"/>
                </a:lnSpc>
              </a:pPr>
              <a:r>
                <a:rPr lang="en-US" sz="4200" b="1">
                  <a:solidFill>
                    <a:srgbClr val="C8912E"/>
                  </a:solidFill>
                  <a:latin typeface="Cambria Bold"/>
                  <a:ea typeface="Cambria Bold"/>
                  <a:cs typeface="Cambria Bold"/>
                  <a:sym typeface="Cambria Bold"/>
                </a:rPr>
                <a:t>4</a:t>
              </a:r>
            </a:p>
          </p:txBody>
        </p:sp>
      </p:grpSp>
      <p:grpSp>
        <p:nvGrpSpPr>
          <p:cNvPr id="42" name="Group 42"/>
          <p:cNvGrpSpPr/>
          <p:nvPr/>
        </p:nvGrpSpPr>
        <p:grpSpPr>
          <a:xfrm>
            <a:off x="12840462" y="5598985"/>
            <a:ext cx="2633472" cy="617220"/>
            <a:chOff x="0" y="0"/>
            <a:chExt cx="3511296" cy="822960"/>
          </a:xfrm>
        </p:grpSpPr>
        <p:sp>
          <p:nvSpPr>
            <p:cNvPr id="43" name="Freeform 43"/>
            <p:cNvSpPr/>
            <p:nvPr/>
          </p:nvSpPr>
          <p:spPr>
            <a:xfrm>
              <a:off x="0" y="0"/>
              <a:ext cx="3511296" cy="822960"/>
            </a:xfrm>
            <a:custGeom>
              <a:avLst/>
              <a:gdLst/>
              <a:ahLst/>
              <a:cxnLst/>
              <a:rect l="l" t="t" r="r" b="b"/>
              <a:pathLst>
                <a:path w="3511296" h="822960">
                  <a:moveTo>
                    <a:pt x="0" y="0"/>
                  </a:moveTo>
                  <a:lnTo>
                    <a:pt x="3511296" y="0"/>
                  </a:lnTo>
                  <a:lnTo>
                    <a:pt x="3511296" y="822960"/>
                  </a:lnTo>
                  <a:lnTo>
                    <a:pt x="0" y="822960"/>
                  </a:lnTo>
                  <a:close/>
                </a:path>
              </a:pathLst>
            </a:custGeom>
            <a:blipFill>
              <a:blip r:embed="rId3">
                <a:alphaModFix amt="0"/>
              </a:blip>
              <a:stretch>
                <a:fillRect t="-33136" b="-33136"/>
              </a:stretch>
            </a:blipFill>
          </p:spPr>
        </p:sp>
        <p:sp>
          <p:nvSpPr>
            <p:cNvPr id="44" name="TextBox 44"/>
            <p:cNvSpPr txBox="1"/>
            <p:nvPr/>
          </p:nvSpPr>
          <p:spPr>
            <a:xfrm>
              <a:off x="0" y="-9525"/>
              <a:ext cx="3511296" cy="832485"/>
            </a:xfrm>
            <a:prstGeom prst="rect">
              <a:avLst/>
            </a:prstGeom>
          </p:spPr>
          <p:txBody>
            <a:bodyPr lIns="0" tIns="0" rIns="0" bIns="0" rtlCol="0" anchor="ctr"/>
            <a:lstStyle/>
            <a:p>
              <a:pPr algn="l">
                <a:lnSpc>
                  <a:spcPts val="2430"/>
                </a:lnSpc>
              </a:pPr>
              <a:r>
                <a:rPr lang="en-US" sz="2025" b="1">
                  <a:solidFill>
                    <a:srgbClr val="26324A"/>
                  </a:solidFill>
                  <a:latin typeface="Cambria Bold"/>
                  <a:ea typeface="Cambria Bold"/>
                  <a:cs typeface="Cambria Bold"/>
                  <a:sym typeface="Cambria Bold"/>
                </a:rPr>
                <a:t>Download &amp; Pay</a:t>
              </a:r>
            </a:p>
          </p:txBody>
        </p:sp>
      </p:grpSp>
      <p:grpSp>
        <p:nvGrpSpPr>
          <p:cNvPr id="45" name="Group 45"/>
          <p:cNvGrpSpPr/>
          <p:nvPr/>
        </p:nvGrpSpPr>
        <p:grpSpPr>
          <a:xfrm>
            <a:off x="12840462" y="6387655"/>
            <a:ext cx="2633472" cy="1283837"/>
            <a:chOff x="0" y="0"/>
            <a:chExt cx="3511296" cy="1711782"/>
          </a:xfrm>
        </p:grpSpPr>
        <p:sp>
          <p:nvSpPr>
            <p:cNvPr id="46" name="Freeform 46"/>
            <p:cNvSpPr/>
            <p:nvPr/>
          </p:nvSpPr>
          <p:spPr>
            <a:xfrm>
              <a:off x="0" y="0"/>
              <a:ext cx="3511296" cy="1711782"/>
            </a:xfrm>
            <a:custGeom>
              <a:avLst/>
              <a:gdLst/>
              <a:ahLst/>
              <a:cxnLst/>
              <a:rect l="l" t="t" r="r" b="b"/>
              <a:pathLst>
                <a:path w="3511296" h="1711782">
                  <a:moveTo>
                    <a:pt x="0" y="0"/>
                  </a:moveTo>
                  <a:lnTo>
                    <a:pt x="3511296" y="0"/>
                  </a:lnTo>
                  <a:lnTo>
                    <a:pt x="3511296" y="1711782"/>
                  </a:lnTo>
                  <a:lnTo>
                    <a:pt x="0" y="1711782"/>
                  </a:lnTo>
                  <a:close/>
                </a:path>
              </a:pathLst>
            </a:custGeom>
            <a:blipFill>
              <a:blip r:embed="rId3">
                <a:alphaModFix amt="0"/>
              </a:blip>
              <a:stretch>
                <a:fillRect l="-10142" r="-10142" b="3847"/>
              </a:stretch>
            </a:blipFill>
          </p:spPr>
        </p:sp>
        <p:sp>
          <p:nvSpPr>
            <p:cNvPr id="47" name="TextBox 47"/>
            <p:cNvSpPr txBox="1"/>
            <p:nvPr/>
          </p:nvSpPr>
          <p:spPr>
            <a:xfrm>
              <a:off x="0" y="-47625"/>
              <a:ext cx="3511296" cy="1759407"/>
            </a:xfrm>
            <a:prstGeom prst="rect">
              <a:avLst/>
            </a:prstGeom>
          </p:spPr>
          <p:txBody>
            <a:bodyPr lIns="0" tIns="0" rIns="0" bIns="0" rtlCol="0" anchor="ctr"/>
            <a:lstStyle/>
            <a:p>
              <a:pPr algn="l">
                <a:lnSpc>
                  <a:spcPts val="1975"/>
                </a:lnSpc>
              </a:pPr>
              <a:r>
                <a:rPr lang="en-US" sz="1470">
                  <a:solidFill>
                    <a:srgbClr val="26324A"/>
                  </a:solidFill>
                  <a:latin typeface="Calibri (MS)"/>
                  <a:ea typeface="Calibri (MS)"/>
                  <a:cs typeface="Calibri (MS)"/>
                  <a:sym typeface="Calibri (MS)"/>
                </a:rPr>
                <a:t>Training finishes, user downloads the model, and payment is deducted only now — from the reserved balance.</a:t>
              </a:r>
            </a:p>
            <a:p>
              <a:pPr algn="l">
                <a:lnSpc>
                  <a:spcPts val="1975"/>
                </a:lnSpc>
              </a:pPr>
              <a:endParaRPr lang="en-US" sz="1470">
                <a:solidFill>
                  <a:srgbClr val="26324A"/>
                </a:solidFill>
                <a:latin typeface="Calibri (MS)"/>
                <a:ea typeface="Calibri (MS)"/>
                <a:cs typeface="Calibri (MS)"/>
                <a:sym typeface="Calibri (MS)"/>
              </a:endParaRPr>
            </a:p>
          </p:txBody>
        </p:sp>
      </p:grpSp>
      <p:grpSp>
        <p:nvGrpSpPr>
          <p:cNvPr id="48" name="Group 48"/>
          <p:cNvGrpSpPr/>
          <p:nvPr/>
        </p:nvGrpSpPr>
        <p:grpSpPr>
          <a:xfrm>
            <a:off x="2227548" y="7919346"/>
            <a:ext cx="13832905" cy="731265"/>
            <a:chOff x="0" y="0"/>
            <a:chExt cx="17297169" cy="914400"/>
          </a:xfrm>
        </p:grpSpPr>
        <p:sp>
          <p:nvSpPr>
            <p:cNvPr id="49" name="Freeform 49"/>
            <p:cNvSpPr/>
            <p:nvPr/>
          </p:nvSpPr>
          <p:spPr>
            <a:xfrm>
              <a:off x="0" y="0"/>
              <a:ext cx="17297169" cy="914400"/>
            </a:xfrm>
            <a:custGeom>
              <a:avLst/>
              <a:gdLst/>
              <a:ahLst/>
              <a:cxnLst/>
              <a:rect l="l" t="t" r="r" b="b"/>
              <a:pathLst>
                <a:path w="17297169" h="914400">
                  <a:moveTo>
                    <a:pt x="0" y="0"/>
                  </a:moveTo>
                  <a:lnTo>
                    <a:pt x="17297169" y="0"/>
                  </a:lnTo>
                  <a:lnTo>
                    <a:pt x="17297169" y="914400"/>
                  </a:lnTo>
                  <a:lnTo>
                    <a:pt x="0" y="914400"/>
                  </a:lnTo>
                  <a:close/>
                </a:path>
              </a:pathLst>
            </a:custGeom>
            <a:blipFill>
              <a:blip r:embed="rId3">
                <a:alphaModFix amt="0"/>
              </a:blip>
              <a:stretch>
                <a:fillRect t="-337752" r="-5199" b="-337752"/>
              </a:stretch>
            </a:blipFill>
          </p:spPr>
        </p:sp>
        <p:sp>
          <p:nvSpPr>
            <p:cNvPr id="50" name="TextBox 50"/>
            <p:cNvSpPr txBox="1"/>
            <p:nvPr/>
          </p:nvSpPr>
          <p:spPr>
            <a:xfrm>
              <a:off x="0" y="-38100"/>
              <a:ext cx="17297169" cy="952500"/>
            </a:xfrm>
            <a:prstGeom prst="rect">
              <a:avLst/>
            </a:prstGeom>
          </p:spPr>
          <p:txBody>
            <a:bodyPr lIns="0" tIns="0" rIns="0" bIns="0" rtlCol="0" anchor="ctr"/>
            <a:lstStyle/>
            <a:p>
              <a:pPr algn="ctr">
                <a:lnSpc>
                  <a:spcPts val="2160"/>
                </a:lnSpc>
              </a:pPr>
              <a:r>
                <a:rPr lang="en-US" sz="1800" b="1">
                  <a:solidFill>
                    <a:srgbClr val="26324A"/>
                  </a:solidFill>
                  <a:latin typeface="Calibri (MS) Bold"/>
                  <a:ea typeface="Calibri (MS) Bold"/>
                  <a:cs typeface="Calibri (MS) Bold"/>
                  <a:sym typeface="Calibri (MS) Bold"/>
                </a:rPr>
                <a:t>The result:  </a:t>
              </a:r>
              <a:r>
                <a:rPr lang="en-US" sz="1800" b="1">
                  <a:solidFill>
                    <a:srgbClr val="5B6472"/>
                  </a:solidFill>
                  <a:latin typeface="Calibri (MS) Bold"/>
                  <a:ea typeface="Calibri (MS) Bold"/>
                  <a:cs typeface="Calibri (MS) Bold"/>
                  <a:sym typeface="Calibri (MS) Bold"/>
                </a:rPr>
                <a:t>No cloud accounts, no infrastructure setup, and you're only charged once your model is actually trained.</a:t>
              </a:r>
            </a:p>
          </p:txBody>
        </p:sp>
      </p:grpSp>
      <p:sp>
        <p:nvSpPr>
          <p:cNvPr id="51" name="TextBox 51"/>
          <p:cNvSpPr txBox="1"/>
          <p:nvPr/>
        </p:nvSpPr>
        <p:spPr>
          <a:xfrm>
            <a:off x="7806333" y="962025"/>
            <a:ext cx="2675334" cy="580390"/>
          </a:xfrm>
          <a:prstGeom prst="rect">
            <a:avLst/>
          </a:prstGeom>
        </p:spPr>
        <p:txBody>
          <a:bodyPr lIns="0" tIns="0" rIns="0" bIns="0" rtlCol="0" anchor="t">
            <a:spAutoFit/>
          </a:bodyPr>
          <a:lstStyle/>
          <a:p>
            <a:pPr algn="ctr">
              <a:lnSpc>
                <a:spcPts val="4759"/>
              </a:lnSpc>
              <a:spcBef>
                <a:spcPct val="0"/>
              </a:spcBef>
            </a:pPr>
            <a:r>
              <a:rPr lang="en-US" sz="3399" b="1">
                <a:solidFill>
                  <a:srgbClr val="000000"/>
                </a:solidFill>
                <a:latin typeface="Canva Sans Bold"/>
                <a:ea typeface="Canva Sans Bold"/>
                <a:cs typeface="Canva Sans Bold"/>
                <a:sym typeface="Canva Sans Bold"/>
              </a:rPr>
              <a:t>Our Solution</a:t>
            </a:r>
          </a:p>
        </p:txBody>
      </p:sp>
      <p:sp>
        <p:nvSpPr>
          <p:cNvPr id="52" name="TextBox 52"/>
          <p:cNvSpPr txBox="1"/>
          <p:nvPr/>
        </p:nvSpPr>
        <p:spPr>
          <a:xfrm>
            <a:off x="1875348" y="2349354"/>
            <a:ext cx="14537303" cy="1627334"/>
          </a:xfrm>
          <a:prstGeom prst="rect">
            <a:avLst/>
          </a:prstGeom>
        </p:spPr>
        <p:txBody>
          <a:bodyPr lIns="0" tIns="0" rIns="0" bIns="0" rtlCol="0" anchor="t">
            <a:spAutoFit/>
          </a:bodyPr>
          <a:lstStyle/>
          <a:p>
            <a:pPr algn="just">
              <a:lnSpc>
                <a:spcPts val="3229"/>
              </a:lnSpc>
              <a:spcBef>
                <a:spcPct val="0"/>
              </a:spcBef>
            </a:pPr>
            <a:r>
              <a:rPr lang="en-US" sz="2306">
                <a:solidFill>
                  <a:srgbClr val="000000"/>
                </a:solidFill>
                <a:latin typeface="Canva Sans"/>
                <a:ea typeface="Canva Sans"/>
                <a:cs typeface="Canva Sans"/>
                <a:sym typeface="Canva Sans"/>
              </a:rPr>
              <a:t>DTrain works like a marketplace, not a subscription. Once a user tops up their wallet, funds are reserved the moment a job is published — but nothing is actually charged until training finishes successfully. This protects both sides: users only pay for work that's actually completed, and workers are guaranteed payment once they deliver.</a:t>
            </a:r>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287" y="0"/>
            <a:ext cx="18283142" cy="10287000"/>
            <a:chOff x="0" y="0"/>
            <a:chExt cx="24377523" cy="13716000"/>
          </a:xfrm>
        </p:grpSpPr>
        <p:sp>
          <p:nvSpPr>
            <p:cNvPr id="3" name="Freeform 3"/>
            <p:cNvSpPr/>
            <p:nvPr/>
          </p:nvSpPr>
          <p:spPr>
            <a:xfrm>
              <a:off x="0" y="0"/>
              <a:ext cx="24377523" cy="13716000"/>
            </a:xfrm>
            <a:custGeom>
              <a:avLst/>
              <a:gdLst/>
              <a:ahLst/>
              <a:cxnLst/>
              <a:rect l="l" t="t" r="r" b="b"/>
              <a:pathLst>
                <a:path w="24377523" h="13716000">
                  <a:moveTo>
                    <a:pt x="0" y="0"/>
                  </a:moveTo>
                  <a:lnTo>
                    <a:pt x="24377523" y="0"/>
                  </a:lnTo>
                  <a:lnTo>
                    <a:pt x="24377523" y="13716000"/>
                  </a:lnTo>
                  <a:lnTo>
                    <a:pt x="0" y="13716000"/>
                  </a:lnTo>
                  <a:lnTo>
                    <a:pt x="0" y="0"/>
                  </a:lnTo>
                  <a:close/>
                </a:path>
              </a:pathLst>
            </a:custGeom>
            <a:blipFill>
              <a:blip r:embed="rId2"/>
              <a:stretch>
                <a:fillRect t="-13" b="-13"/>
              </a:stretch>
            </a:blipFill>
          </p:spPr>
        </p:sp>
      </p:grpSp>
      <p:grpSp>
        <p:nvGrpSpPr>
          <p:cNvPr id="4" name="Group 4"/>
          <p:cNvGrpSpPr/>
          <p:nvPr/>
        </p:nvGrpSpPr>
        <p:grpSpPr>
          <a:xfrm>
            <a:off x="2331720" y="4699635"/>
            <a:ext cx="3154680" cy="3977640"/>
            <a:chOff x="0" y="0"/>
            <a:chExt cx="4206240" cy="5303520"/>
          </a:xfrm>
        </p:grpSpPr>
        <p:sp>
          <p:nvSpPr>
            <p:cNvPr id="5" name="Freeform 5"/>
            <p:cNvSpPr/>
            <p:nvPr/>
          </p:nvSpPr>
          <p:spPr>
            <a:xfrm>
              <a:off x="0" y="0"/>
              <a:ext cx="4206240" cy="5303520"/>
            </a:xfrm>
            <a:custGeom>
              <a:avLst/>
              <a:gdLst/>
              <a:ahLst/>
              <a:cxnLst/>
              <a:rect l="l" t="t" r="r" b="b"/>
              <a:pathLst>
                <a:path w="4206240" h="5303520">
                  <a:moveTo>
                    <a:pt x="0" y="164592"/>
                  </a:moveTo>
                  <a:cubicBezTo>
                    <a:pt x="0" y="73660"/>
                    <a:pt x="73660" y="0"/>
                    <a:pt x="164592" y="0"/>
                  </a:cubicBezTo>
                  <a:lnTo>
                    <a:pt x="4041648" y="0"/>
                  </a:lnTo>
                  <a:cubicBezTo>
                    <a:pt x="4132580" y="0"/>
                    <a:pt x="4206240" y="73660"/>
                    <a:pt x="4206240" y="164592"/>
                  </a:cubicBezTo>
                  <a:lnTo>
                    <a:pt x="4206240" y="5138928"/>
                  </a:lnTo>
                  <a:cubicBezTo>
                    <a:pt x="4206240" y="5229860"/>
                    <a:pt x="4132580" y="5303520"/>
                    <a:pt x="4041648" y="5303520"/>
                  </a:cubicBezTo>
                  <a:lnTo>
                    <a:pt x="164592" y="5303520"/>
                  </a:lnTo>
                  <a:cubicBezTo>
                    <a:pt x="73660" y="5303520"/>
                    <a:pt x="0" y="5229860"/>
                    <a:pt x="0" y="5138928"/>
                  </a:cubicBezTo>
                  <a:close/>
                </a:path>
              </a:pathLst>
            </a:custGeom>
            <a:solidFill>
              <a:srgbClr val="FDF8F1"/>
            </a:solidFill>
            <a:ln w="47625" cap="sq">
              <a:solidFill>
                <a:srgbClr val="E9DCC8"/>
              </a:solidFill>
              <a:prstDash val="solid"/>
              <a:miter/>
            </a:ln>
          </p:spPr>
        </p:sp>
      </p:grpSp>
      <p:grpSp>
        <p:nvGrpSpPr>
          <p:cNvPr id="6" name="Group 6"/>
          <p:cNvGrpSpPr/>
          <p:nvPr/>
        </p:nvGrpSpPr>
        <p:grpSpPr>
          <a:xfrm>
            <a:off x="2606040" y="5001387"/>
            <a:ext cx="685800" cy="685800"/>
            <a:chOff x="0" y="0"/>
            <a:chExt cx="914400" cy="914400"/>
          </a:xfrm>
        </p:grpSpPr>
        <p:sp>
          <p:nvSpPr>
            <p:cNvPr id="7" name="Freeform 7"/>
            <p:cNvSpPr/>
            <p:nvPr/>
          </p:nvSpPr>
          <p:spPr>
            <a:xfrm>
              <a:off x="0" y="0"/>
              <a:ext cx="914400" cy="914400"/>
            </a:xfrm>
            <a:custGeom>
              <a:avLst/>
              <a:gdLst/>
              <a:ahLst/>
              <a:cxnLst/>
              <a:rect l="l" t="t" r="r" b="b"/>
              <a:pathLst>
                <a:path w="914400" h="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F1E6D3"/>
            </a:solidFill>
          </p:spPr>
        </p:sp>
      </p:grpSp>
      <p:grpSp>
        <p:nvGrpSpPr>
          <p:cNvPr id="8" name="Group 8"/>
          <p:cNvGrpSpPr/>
          <p:nvPr/>
        </p:nvGrpSpPr>
        <p:grpSpPr>
          <a:xfrm>
            <a:off x="2606040" y="5934075"/>
            <a:ext cx="2606040" cy="891540"/>
            <a:chOff x="0" y="0"/>
            <a:chExt cx="3474720" cy="1188720"/>
          </a:xfrm>
        </p:grpSpPr>
        <p:sp>
          <p:nvSpPr>
            <p:cNvPr id="9" name="Freeform 9"/>
            <p:cNvSpPr/>
            <p:nvPr/>
          </p:nvSpPr>
          <p:spPr>
            <a:xfrm>
              <a:off x="0" y="0"/>
              <a:ext cx="3474720" cy="1188720"/>
            </a:xfrm>
            <a:custGeom>
              <a:avLst/>
              <a:gdLst/>
              <a:ahLst/>
              <a:cxnLst/>
              <a:rect l="l" t="t" r="r" b="b"/>
              <a:pathLst>
                <a:path w="3474720" h="1188720">
                  <a:moveTo>
                    <a:pt x="0" y="0"/>
                  </a:moveTo>
                  <a:lnTo>
                    <a:pt x="3474720" y="0"/>
                  </a:lnTo>
                  <a:lnTo>
                    <a:pt x="3474720" y="1188720"/>
                  </a:lnTo>
                  <a:lnTo>
                    <a:pt x="0" y="1188720"/>
                  </a:lnTo>
                  <a:close/>
                </a:path>
              </a:pathLst>
            </a:custGeom>
            <a:solidFill>
              <a:srgbClr val="C8912E">
                <a:alpha val="0"/>
              </a:srgbClr>
            </a:solidFill>
          </p:spPr>
        </p:sp>
        <p:sp>
          <p:nvSpPr>
            <p:cNvPr id="10" name="TextBox 10"/>
            <p:cNvSpPr txBox="1"/>
            <p:nvPr/>
          </p:nvSpPr>
          <p:spPr>
            <a:xfrm>
              <a:off x="0" y="-19050"/>
              <a:ext cx="3474720" cy="1207770"/>
            </a:xfrm>
            <a:prstGeom prst="rect">
              <a:avLst/>
            </a:prstGeom>
          </p:spPr>
          <p:txBody>
            <a:bodyPr lIns="0" tIns="0" rIns="0" bIns="0" rtlCol="0" anchor="ctr"/>
            <a:lstStyle/>
            <a:p>
              <a:pPr algn="l">
                <a:lnSpc>
                  <a:spcPts val="2268"/>
                </a:lnSpc>
              </a:pPr>
              <a:r>
                <a:rPr lang="en-US" sz="1800" b="1">
                  <a:solidFill>
                    <a:srgbClr val="C8912E"/>
                  </a:solidFill>
                  <a:latin typeface="Cambria Bold"/>
                  <a:ea typeface="Cambria Bold"/>
                  <a:cs typeface="Cambria Bold"/>
                  <a:sym typeface="Cambria Bold"/>
                </a:rPr>
                <a:t>User Web Dashboard</a:t>
              </a:r>
            </a:p>
          </p:txBody>
        </p:sp>
      </p:grpSp>
      <p:grpSp>
        <p:nvGrpSpPr>
          <p:cNvPr id="11" name="Group 11"/>
          <p:cNvGrpSpPr/>
          <p:nvPr/>
        </p:nvGrpSpPr>
        <p:grpSpPr>
          <a:xfrm>
            <a:off x="2606040" y="6825615"/>
            <a:ext cx="2606040" cy="1714500"/>
            <a:chOff x="0" y="0"/>
            <a:chExt cx="3474720" cy="2286000"/>
          </a:xfrm>
        </p:grpSpPr>
        <p:sp>
          <p:nvSpPr>
            <p:cNvPr id="12" name="Freeform 12"/>
            <p:cNvSpPr/>
            <p:nvPr/>
          </p:nvSpPr>
          <p:spPr>
            <a:xfrm>
              <a:off x="0" y="0"/>
              <a:ext cx="3474720" cy="2286000"/>
            </a:xfrm>
            <a:custGeom>
              <a:avLst/>
              <a:gdLst/>
              <a:ahLst/>
              <a:cxnLst/>
              <a:rect l="l" t="t" r="r" b="b"/>
              <a:pathLst>
                <a:path w="3474720" h="2286000">
                  <a:moveTo>
                    <a:pt x="0" y="0"/>
                  </a:moveTo>
                  <a:lnTo>
                    <a:pt x="3474720" y="0"/>
                  </a:lnTo>
                  <a:lnTo>
                    <a:pt x="3474720" y="2286000"/>
                  </a:lnTo>
                  <a:lnTo>
                    <a:pt x="0" y="2286000"/>
                  </a:lnTo>
                  <a:close/>
                </a:path>
              </a:pathLst>
            </a:custGeom>
            <a:blipFill>
              <a:blip r:embed="rId3">
                <a:alphaModFix amt="0"/>
              </a:blip>
              <a:stretch>
                <a:fillRect l="-34410" r="-34410"/>
              </a:stretch>
            </a:blipFill>
          </p:spPr>
        </p:sp>
        <p:sp>
          <p:nvSpPr>
            <p:cNvPr id="13" name="TextBox 13"/>
            <p:cNvSpPr txBox="1"/>
            <p:nvPr/>
          </p:nvSpPr>
          <p:spPr>
            <a:xfrm>
              <a:off x="0" y="-47625"/>
              <a:ext cx="3474720" cy="2333625"/>
            </a:xfrm>
            <a:prstGeom prst="rect">
              <a:avLst/>
            </a:prstGeom>
          </p:spPr>
          <p:txBody>
            <a:bodyPr lIns="0" tIns="0" rIns="0" bIns="0" rtlCol="0" anchor="ctr"/>
            <a:lstStyle/>
            <a:p>
              <a:pPr algn="l">
                <a:lnSpc>
                  <a:spcPts val="1863"/>
                </a:lnSpc>
              </a:pPr>
              <a:r>
                <a:rPr lang="en-US" sz="1350">
                  <a:solidFill>
                    <a:srgbClr val="26324A"/>
                  </a:solidFill>
                  <a:latin typeface="Calibri (MS)"/>
                  <a:ea typeface="Calibri (MS)"/>
                  <a:cs typeface="Calibri (MS)"/>
                  <a:sym typeface="Calibri (MS)"/>
                </a:rPr>
                <a:t>Where trainers upload jobs, review AI-quoted pricing, top up their wallet, and download finished models.</a:t>
              </a:r>
            </a:p>
          </p:txBody>
        </p:sp>
      </p:grpSp>
      <p:grpSp>
        <p:nvGrpSpPr>
          <p:cNvPr id="14" name="Group 14"/>
          <p:cNvGrpSpPr/>
          <p:nvPr/>
        </p:nvGrpSpPr>
        <p:grpSpPr>
          <a:xfrm>
            <a:off x="5829300" y="4699635"/>
            <a:ext cx="3154680" cy="3977640"/>
            <a:chOff x="0" y="0"/>
            <a:chExt cx="4206240" cy="5303520"/>
          </a:xfrm>
        </p:grpSpPr>
        <p:sp>
          <p:nvSpPr>
            <p:cNvPr id="15" name="Freeform 15"/>
            <p:cNvSpPr/>
            <p:nvPr/>
          </p:nvSpPr>
          <p:spPr>
            <a:xfrm>
              <a:off x="0" y="0"/>
              <a:ext cx="4206240" cy="5303520"/>
            </a:xfrm>
            <a:custGeom>
              <a:avLst/>
              <a:gdLst/>
              <a:ahLst/>
              <a:cxnLst/>
              <a:rect l="l" t="t" r="r" b="b"/>
              <a:pathLst>
                <a:path w="4206240" h="5303520">
                  <a:moveTo>
                    <a:pt x="0" y="164592"/>
                  </a:moveTo>
                  <a:cubicBezTo>
                    <a:pt x="0" y="73660"/>
                    <a:pt x="73660" y="0"/>
                    <a:pt x="164592" y="0"/>
                  </a:cubicBezTo>
                  <a:lnTo>
                    <a:pt x="4041648" y="0"/>
                  </a:lnTo>
                  <a:cubicBezTo>
                    <a:pt x="4132580" y="0"/>
                    <a:pt x="4206240" y="73660"/>
                    <a:pt x="4206240" y="164592"/>
                  </a:cubicBezTo>
                  <a:lnTo>
                    <a:pt x="4206240" y="5138928"/>
                  </a:lnTo>
                  <a:cubicBezTo>
                    <a:pt x="4206240" y="5229860"/>
                    <a:pt x="4132580" y="5303520"/>
                    <a:pt x="4041648" y="5303520"/>
                  </a:cubicBezTo>
                  <a:lnTo>
                    <a:pt x="164592" y="5303520"/>
                  </a:lnTo>
                  <a:cubicBezTo>
                    <a:pt x="73660" y="5303520"/>
                    <a:pt x="0" y="5229860"/>
                    <a:pt x="0" y="5138928"/>
                  </a:cubicBezTo>
                  <a:close/>
                </a:path>
              </a:pathLst>
            </a:custGeom>
            <a:solidFill>
              <a:srgbClr val="FDF8F1"/>
            </a:solidFill>
            <a:ln w="47625" cap="sq">
              <a:solidFill>
                <a:srgbClr val="E9DCC8"/>
              </a:solidFill>
              <a:prstDash val="solid"/>
              <a:miter/>
            </a:ln>
          </p:spPr>
        </p:sp>
      </p:grpSp>
      <p:grpSp>
        <p:nvGrpSpPr>
          <p:cNvPr id="16" name="Group 16"/>
          <p:cNvGrpSpPr/>
          <p:nvPr/>
        </p:nvGrpSpPr>
        <p:grpSpPr>
          <a:xfrm>
            <a:off x="6103620" y="5001387"/>
            <a:ext cx="685800" cy="685800"/>
            <a:chOff x="0" y="0"/>
            <a:chExt cx="914400" cy="914400"/>
          </a:xfrm>
        </p:grpSpPr>
        <p:sp>
          <p:nvSpPr>
            <p:cNvPr id="17" name="Freeform 17"/>
            <p:cNvSpPr/>
            <p:nvPr/>
          </p:nvSpPr>
          <p:spPr>
            <a:xfrm>
              <a:off x="0" y="0"/>
              <a:ext cx="914400" cy="914400"/>
            </a:xfrm>
            <a:custGeom>
              <a:avLst/>
              <a:gdLst/>
              <a:ahLst/>
              <a:cxnLst/>
              <a:rect l="l" t="t" r="r" b="b"/>
              <a:pathLst>
                <a:path w="914400" h="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F1E6D3"/>
            </a:solidFill>
          </p:spPr>
        </p:sp>
      </p:grpSp>
      <p:grpSp>
        <p:nvGrpSpPr>
          <p:cNvPr id="18" name="Group 18"/>
          <p:cNvGrpSpPr/>
          <p:nvPr/>
        </p:nvGrpSpPr>
        <p:grpSpPr>
          <a:xfrm>
            <a:off x="6103620" y="5934075"/>
            <a:ext cx="2606040" cy="891540"/>
            <a:chOff x="0" y="0"/>
            <a:chExt cx="3474720" cy="1188720"/>
          </a:xfrm>
        </p:grpSpPr>
        <p:sp>
          <p:nvSpPr>
            <p:cNvPr id="19" name="Freeform 19"/>
            <p:cNvSpPr/>
            <p:nvPr/>
          </p:nvSpPr>
          <p:spPr>
            <a:xfrm>
              <a:off x="0" y="0"/>
              <a:ext cx="3474720" cy="1188720"/>
            </a:xfrm>
            <a:custGeom>
              <a:avLst/>
              <a:gdLst/>
              <a:ahLst/>
              <a:cxnLst/>
              <a:rect l="l" t="t" r="r" b="b"/>
              <a:pathLst>
                <a:path w="3474720" h="1188720">
                  <a:moveTo>
                    <a:pt x="0" y="0"/>
                  </a:moveTo>
                  <a:lnTo>
                    <a:pt x="3474720" y="0"/>
                  </a:lnTo>
                  <a:lnTo>
                    <a:pt x="3474720" y="1188720"/>
                  </a:lnTo>
                  <a:lnTo>
                    <a:pt x="0" y="1188720"/>
                  </a:lnTo>
                  <a:close/>
                </a:path>
              </a:pathLst>
            </a:custGeom>
            <a:blipFill>
              <a:blip r:embed="rId3">
                <a:alphaModFix amt="0"/>
              </a:blip>
              <a:stretch>
                <a:fillRect t="-6956" b="-6956"/>
              </a:stretch>
            </a:blipFill>
          </p:spPr>
        </p:sp>
        <p:sp>
          <p:nvSpPr>
            <p:cNvPr id="20" name="TextBox 20"/>
            <p:cNvSpPr txBox="1"/>
            <p:nvPr/>
          </p:nvSpPr>
          <p:spPr>
            <a:xfrm>
              <a:off x="0" y="-19050"/>
              <a:ext cx="3474720" cy="1207770"/>
            </a:xfrm>
            <a:prstGeom prst="rect">
              <a:avLst/>
            </a:prstGeom>
          </p:spPr>
          <p:txBody>
            <a:bodyPr lIns="0" tIns="0" rIns="0" bIns="0" rtlCol="0" anchor="ctr"/>
            <a:lstStyle/>
            <a:p>
              <a:pPr algn="l">
                <a:lnSpc>
                  <a:spcPts val="2268"/>
                </a:lnSpc>
              </a:pPr>
              <a:r>
                <a:rPr lang="en-US" sz="1800" b="1">
                  <a:solidFill>
                    <a:srgbClr val="C8912E"/>
                  </a:solidFill>
                  <a:latin typeface="Cambria Bold"/>
                  <a:ea typeface="Cambria Bold"/>
                  <a:cs typeface="Cambria Bold"/>
                  <a:sym typeface="Cambria Bold"/>
                </a:rPr>
                <a:t>Backend API Server</a:t>
              </a:r>
            </a:p>
          </p:txBody>
        </p:sp>
      </p:grpSp>
      <p:grpSp>
        <p:nvGrpSpPr>
          <p:cNvPr id="21" name="Group 21"/>
          <p:cNvGrpSpPr/>
          <p:nvPr/>
        </p:nvGrpSpPr>
        <p:grpSpPr>
          <a:xfrm>
            <a:off x="6103620" y="6825615"/>
            <a:ext cx="2606040" cy="1714500"/>
            <a:chOff x="0" y="0"/>
            <a:chExt cx="3474720" cy="2286000"/>
          </a:xfrm>
        </p:grpSpPr>
        <p:sp>
          <p:nvSpPr>
            <p:cNvPr id="22" name="Freeform 22"/>
            <p:cNvSpPr/>
            <p:nvPr/>
          </p:nvSpPr>
          <p:spPr>
            <a:xfrm>
              <a:off x="0" y="0"/>
              <a:ext cx="3474720" cy="2286000"/>
            </a:xfrm>
            <a:custGeom>
              <a:avLst/>
              <a:gdLst/>
              <a:ahLst/>
              <a:cxnLst/>
              <a:rect l="l" t="t" r="r" b="b"/>
              <a:pathLst>
                <a:path w="3474720" h="2286000">
                  <a:moveTo>
                    <a:pt x="0" y="0"/>
                  </a:moveTo>
                  <a:lnTo>
                    <a:pt x="3474720" y="0"/>
                  </a:lnTo>
                  <a:lnTo>
                    <a:pt x="3474720" y="2286000"/>
                  </a:lnTo>
                  <a:lnTo>
                    <a:pt x="0" y="2286000"/>
                  </a:lnTo>
                  <a:close/>
                </a:path>
              </a:pathLst>
            </a:custGeom>
            <a:blipFill>
              <a:blip r:embed="rId3">
                <a:alphaModFix amt="0"/>
              </a:blip>
              <a:stretch>
                <a:fillRect l="-34410" r="-34410"/>
              </a:stretch>
            </a:blipFill>
          </p:spPr>
        </p:sp>
        <p:sp>
          <p:nvSpPr>
            <p:cNvPr id="23" name="TextBox 23"/>
            <p:cNvSpPr txBox="1"/>
            <p:nvPr/>
          </p:nvSpPr>
          <p:spPr>
            <a:xfrm>
              <a:off x="0" y="-47625"/>
              <a:ext cx="3474720" cy="2333625"/>
            </a:xfrm>
            <a:prstGeom prst="rect">
              <a:avLst/>
            </a:prstGeom>
          </p:spPr>
          <p:txBody>
            <a:bodyPr lIns="0" tIns="0" rIns="0" bIns="0" rtlCol="0" anchor="ctr"/>
            <a:lstStyle/>
            <a:p>
              <a:pPr algn="l">
                <a:lnSpc>
                  <a:spcPts val="1863"/>
                </a:lnSpc>
              </a:pPr>
              <a:r>
                <a:rPr lang="en-US" sz="1350">
                  <a:solidFill>
                    <a:srgbClr val="26324A"/>
                  </a:solidFill>
                  <a:latin typeface="Calibri (MS)"/>
                  <a:ea typeface="Calibri (MS)"/>
                  <a:cs typeface="Calibri (MS)"/>
                  <a:sym typeface="Calibri (MS)"/>
                </a:rPr>
                <a:t>The central hub — auth, job orchestration, the pricing engine, and payment settlement all run here.</a:t>
              </a:r>
            </a:p>
          </p:txBody>
        </p:sp>
      </p:grpSp>
      <p:grpSp>
        <p:nvGrpSpPr>
          <p:cNvPr id="24" name="Group 24"/>
          <p:cNvGrpSpPr/>
          <p:nvPr/>
        </p:nvGrpSpPr>
        <p:grpSpPr>
          <a:xfrm>
            <a:off x="9326880" y="4699635"/>
            <a:ext cx="3154680" cy="3977640"/>
            <a:chOff x="0" y="0"/>
            <a:chExt cx="4206240" cy="5303520"/>
          </a:xfrm>
        </p:grpSpPr>
        <p:sp>
          <p:nvSpPr>
            <p:cNvPr id="25" name="Freeform 25"/>
            <p:cNvSpPr/>
            <p:nvPr/>
          </p:nvSpPr>
          <p:spPr>
            <a:xfrm>
              <a:off x="0" y="0"/>
              <a:ext cx="4206240" cy="5303520"/>
            </a:xfrm>
            <a:custGeom>
              <a:avLst/>
              <a:gdLst/>
              <a:ahLst/>
              <a:cxnLst/>
              <a:rect l="l" t="t" r="r" b="b"/>
              <a:pathLst>
                <a:path w="4206240" h="5303520">
                  <a:moveTo>
                    <a:pt x="0" y="164592"/>
                  </a:moveTo>
                  <a:cubicBezTo>
                    <a:pt x="0" y="73660"/>
                    <a:pt x="73660" y="0"/>
                    <a:pt x="164592" y="0"/>
                  </a:cubicBezTo>
                  <a:lnTo>
                    <a:pt x="4041648" y="0"/>
                  </a:lnTo>
                  <a:cubicBezTo>
                    <a:pt x="4132580" y="0"/>
                    <a:pt x="4206240" y="73660"/>
                    <a:pt x="4206240" y="164592"/>
                  </a:cubicBezTo>
                  <a:lnTo>
                    <a:pt x="4206240" y="5138928"/>
                  </a:lnTo>
                  <a:cubicBezTo>
                    <a:pt x="4206240" y="5229860"/>
                    <a:pt x="4132580" y="5303520"/>
                    <a:pt x="4041648" y="5303520"/>
                  </a:cubicBezTo>
                  <a:lnTo>
                    <a:pt x="164592" y="5303520"/>
                  </a:lnTo>
                  <a:cubicBezTo>
                    <a:pt x="73660" y="5303520"/>
                    <a:pt x="0" y="5229860"/>
                    <a:pt x="0" y="5138928"/>
                  </a:cubicBezTo>
                  <a:close/>
                </a:path>
              </a:pathLst>
            </a:custGeom>
            <a:solidFill>
              <a:srgbClr val="FDF8F1"/>
            </a:solidFill>
            <a:ln w="47625" cap="sq">
              <a:solidFill>
                <a:srgbClr val="E9DCC8"/>
              </a:solidFill>
              <a:prstDash val="solid"/>
              <a:miter/>
            </a:ln>
          </p:spPr>
        </p:sp>
      </p:grpSp>
      <p:grpSp>
        <p:nvGrpSpPr>
          <p:cNvPr id="26" name="Group 26"/>
          <p:cNvGrpSpPr/>
          <p:nvPr/>
        </p:nvGrpSpPr>
        <p:grpSpPr>
          <a:xfrm>
            <a:off x="9601200" y="5001387"/>
            <a:ext cx="685800" cy="685800"/>
            <a:chOff x="0" y="0"/>
            <a:chExt cx="914400" cy="914400"/>
          </a:xfrm>
        </p:grpSpPr>
        <p:sp>
          <p:nvSpPr>
            <p:cNvPr id="27" name="Freeform 27"/>
            <p:cNvSpPr/>
            <p:nvPr/>
          </p:nvSpPr>
          <p:spPr>
            <a:xfrm>
              <a:off x="0" y="0"/>
              <a:ext cx="914400" cy="914400"/>
            </a:xfrm>
            <a:custGeom>
              <a:avLst/>
              <a:gdLst/>
              <a:ahLst/>
              <a:cxnLst/>
              <a:rect l="l" t="t" r="r" b="b"/>
              <a:pathLst>
                <a:path w="914400" h="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F1E6D3"/>
            </a:solidFill>
          </p:spPr>
        </p:sp>
      </p:grpSp>
      <p:grpSp>
        <p:nvGrpSpPr>
          <p:cNvPr id="28" name="Group 28"/>
          <p:cNvGrpSpPr/>
          <p:nvPr/>
        </p:nvGrpSpPr>
        <p:grpSpPr>
          <a:xfrm>
            <a:off x="9601200" y="5720269"/>
            <a:ext cx="2606040" cy="1319151"/>
            <a:chOff x="0" y="0"/>
            <a:chExt cx="3474720" cy="1758869"/>
          </a:xfrm>
        </p:grpSpPr>
        <p:sp>
          <p:nvSpPr>
            <p:cNvPr id="29" name="Freeform 29"/>
            <p:cNvSpPr/>
            <p:nvPr/>
          </p:nvSpPr>
          <p:spPr>
            <a:xfrm>
              <a:off x="0" y="0"/>
              <a:ext cx="3474720" cy="1758869"/>
            </a:xfrm>
            <a:custGeom>
              <a:avLst/>
              <a:gdLst/>
              <a:ahLst/>
              <a:cxnLst/>
              <a:rect l="l" t="t" r="r" b="b"/>
              <a:pathLst>
                <a:path w="3474720" h="1758869">
                  <a:moveTo>
                    <a:pt x="0" y="0"/>
                  </a:moveTo>
                  <a:lnTo>
                    <a:pt x="3474720" y="0"/>
                  </a:lnTo>
                  <a:lnTo>
                    <a:pt x="3474720" y="1758869"/>
                  </a:lnTo>
                  <a:lnTo>
                    <a:pt x="0" y="1758869"/>
                  </a:lnTo>
                  <a:close/>
                </a:path>
              </a:pathLst>
            </a:custGeom>
            <a:blipFill>
              <a:blip r:embed="rId3">
                <a:alphaModFix amt="0"/>
              </a:blip>
              <a:stretch>
                <a:fillRect t="-4701" b="27714"/>
              </a:stretch>
            </a:blipFill>
          </p:spPr>
        </p:sp>
        <p:sp>
          <p:nvSpPr>
            <p:cNvPr id="30" name="TextBox 30"/>
            <p:cNvSpPr txBox="1"/>
            <p:nvPr/>
          </p:nvSpPr>
          <p:spPr>
            <a:xfrm>
              <a:off x="0" y="-19050"/>
              <a:ext cx="3474720" cy="1777919"/>
            </a:xfrm>
            <a:prstGeom prst="rect">
              <a:avLst/>
            </a:prstGeom>
          </p:spPr>
          <p:txBody>
            <a:bodyPr lIns="0" tIns="0" rIns="0" bIns="0" rtlCol="0" anchor="ctr"/>
            <a:lstStyle/>
            <a:p>
              <a:pPr algn="l">
                <a:lnSpc>
                  <a:spcPts val="2268"/>
                </a:lnSpc>
              </a:pPr>
              <a:r>
                <a:rPr lang="en-US" sz="1800" b="1">
                  <a:solidFill>
                    <a:srgbClr val="C8912E"/>
                  </a:solidFill>
                  <a:latin typeface="Cambria Bold"/>
                  <a:ea typeface="Cambria Bold"/>
                  <a:cs typeface="Cambria Bold"/>
                  <a:sym typeface="Cambria Bold"/>
                </a:rPr>
                <a:t>Electron Worker </a:t>
              </a:r>
            </a:p>
          </p:txBody>
        </p:sp>
      </p:grpSp>
      <p:grpSp>
        <p:nvGrpSpPr>
          <p:cNvPr id="31" name="Group 31"/>
          <p:cNvGrpSpPr/>
          <p:nvPr/>
        </p:nvGrpSpPr>
        <p:grpSpPr>
          <a:xfrm>
            <a:off x="9601200" y="6825615"/>
            <a:ext cx="2606040" cy="1714500"/>
            <a:chOff x="0" y="0"/>
            <a:chExt cx="3474720" cy="2286000"/>
          </a:xfrm>
        </p:grpSpPr>
        <p:sp>
          <p:nvSpPr>
            <p:cNvPr id="32" name="Freeform 32"/>
            <p:cNvSpPr/>
            <p:nvPr/>
          </p:nvSpPr>
          <p:spPr>
            <a:xfrm>
              <a:off x="0" y="0"/>
              <a:ext cx="3474720" cy="2286000"/>
            </a:xfrm>
            <a:custGeom>
              <a:avLst/>
              <a:gdLst/>
              <a:ahLst/>
              <a:cxnLst/>
              <a:rect l="l" t="t" r="r" b="b"/>
              <a:pathLst>
                <a:path w="3474720" h="2286000">
                  <a:moveTo>
                    <a:pt x="0" y="0"/>
                  </a:moveTo>
                  <a:lnTo>
                    <a:pt x="3474720" y="0"/>
                  </a:lnTo>
                  <a:lnTo>
                    <a:pt x="3474720" y="2286000"/>
                  </a:lnTo>
                  <a:lnTo>
                    <a:pt x="0" y="2286000"/>
                  </a:lnTo>
                  <a:close/>
                </a:path>
              </a:pathLst>
            </a:custGeom>
            <a:blipFill>
              <a:blip r:embed="rId3">
                <a:alphaModFix amt="0"/>
              </a:blip>
              <a:stretch>
                <a:fillRect l="-34410" r="-34410"/>
              </a:stretch>
            </a:blipFill>
          </p:spPr>
        </p:sp>
        <p:sp>
          <p:nvSpPr>
            <p:cNvPr id="33" name="TextBox 33"/>
            <p:cNvSpPr txBox="1"/>
            <p:nvPr/>
          </p:nvSpPr>
          <p:spPr>
            <a:xfrm>
              <a:off x="0" y="-47625"/>
              <a:ext cx="3474720" cy="2333625"/>
            </a:xfrm>
            <a:prstGeom prst="rect">
              <a:avLst/>
            </a:prstGeom>
          </p:spPr>
          <p:txBody>
            <a:bodyPr lIns="0" tIns="0" rIns="0" bIns="0" rtlCol="0" anchor="ctr"/>
            <a:lstStyle/>
            <a:p>
              <a:pPr algn="l">
                <a:lnSpc>
                  <a:spcPts val="1863"/>
                </a:lnSpc>
              </a:pPr>
              <a:r>
                <a:rPr lang="en-US" sz="1350">
                  <a:solidFill>
                    <a:srgbClr val="26324A"/>
                  </a:solidFill>
                  <a:latin typeface="Calibri (MS)"/>
                  <a:ea typeface="Calibri (MS)"/>
                  <a:cs typeface="Calibri (MS)"/>
                  <a:sym typeface="Calibri (MS)"/>
                </a:rPr>
                <a:t>Browser interface for GPU owners to view incoming jobs, track earnings, and monitor node status.</a:t>
              </a:r>
            </a:p>
          </p:txBody>
        </p:sp>
      </p:grpSp>
      <p:grpSp>
        <p:nvGrpSpPr>
          <p:cNvPr id="34" name="Group 34"/>
          <p:cNvGrpSpPr/>
          <p:nvPr/>
        </p:nvGrpSpPr>
        <p:grpSpPr>
          <a:xfrm>
            <a:off x="12824460" y="4699635"/>
            <a:ext cx="3154680" cy="3977640"/>
            <a:chOff x="0" y="0"/>
            <a:chExt cx="4206240" cy="5303520"/>
          </a:xfrm>
        </p:grpSpPr>
        <p:sp>
          <p:nvSpPr>
            <p:cNvPr id="35" name="Freeform 35"/>
            <p:cNvSpPr/>
            <p:nvPr/>
          </p:nvSpPr>
          <p:spPr>
            <a:xfrm>
              <a:off x="0" y="0"/>
              <a:ext cx="4206240" cy="5303520"/>
            </a:xfrm>
            <a:custGeom>
              <a:avLst/>
              <a:gdLst/>
              <a:ahLst/>
              <a:cxnLst/>
              <a:rect l="l" t="t" r="r" b="b"/>
              <a:pathLst>
                <a:path w="4206240" h="5303520">
                  <a:moveTo>
                    <a:pt x="0" y="164592"/>
                  </a:moveTo>
                  <a:cubicBezTo>
                    <a:pt x="0" y="73660"/>
                    <a:pt x="73660" y="0"/>
                    <a:pt x="164592" y="0"/>
                  </a:cubicBezTo>
                  <a:lnTo>
                    <a:pt x="4041648" y="0"/>
                  </a:lnTo>
                  <a:cubicBezTo>
                    <a:pt x="4132580" y="0"/>
                    <a:pt x="4206240" y="73660"/>
                    <a:pt x="4206240" y="164592"/>
                  </a:cubicBezTo>
                  <a:lnTo>
                    <a:pt x="4206240" y="5138928"/>
                  </a:lnTo>
                  <a:cubicBezTo>
                    <a:pt x="4206240" y="5229860"/>
                    <a:pt x="4132580" y="5303520"/>
                    <a:pt x="4041648" y="5303520"/>
                  </a:cubicBezTo>
                  <a:lnTo>
                    <a:pt x="164592" y="5303520"/>
                  </a:lnTo>
                  <a:cubicBezTo>
                    <a:pt x="73660" y="5303520"/>
                    <a:pt x="0" y="5229860"/>
                    <a:pt x="0" y="5138928"/>
                  </a:cubicBezTo>
                  <a:close/>
                </a:path>
              </a:pathLst>
            </a:custGeom>
            <a:solidFill>
              <a:srgbClr val="FDF8F1"/>
            </a:solidFill>
            <a:ln w="47625" cap="sq">
              <a:solidFill>
                <a:srgbClr val="E9DCC8"/>
              </a:solidFill>
              <a:prstDash val="solid"/>
              <a:miter/>
            </a:ln>
          </p:spPr>
        </p:sp>
      </p:grpSp>
      <p:grpSp>
        <p:nvGrpSpPr>
          <p:cNvPr id="36" name="Group 36"/>
          <p:cNvGrpSpPr/>
          <p:nvPr/>
        </p:nvGrpSpPr>
        <p:grpSpPr>
          <a:xfrm>
            <a:off x="13098780" y="5001387"/>
            <a:ext cx="685800" cy="685800"/>
            <a:chOff x="0" y="0"/>
            <a:chExt cx="914400" cy="914400"/>
          </a:xfrm>
        </p:grpSpPr>
        <p:sp>
          <p:nvSpPr>
            <p:cNvPr id="37" name="Freeform 37"/>
            <p:cNvSpPr/>
            <p:nvPr/>
          </p:nvSpPr>
          <p:spPr>
            <a:xfrm>
              <a:off x="0" y="0"/>
              <a:ext cx="914400" cy="914400"/>
            </a:xfrm>
            <a:custGeom>
              <a:avLst/>
              <a:gdLst/>
              <a:ahLst/>
              <a:cxnLst/>
              <a:rect l="l" t="t" r="r" b="b"/>
              <a:pathLst>
                <a:path w="914400" h="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F1E6D3"/>
            </a:solidFill>
          </p:spPr>
        </p:sp>
      </p:grpSp>
      <p:grpSp>
        <p:nvGrpSpPr>
          <p:cNvPr id="38" name="Group 38"/>
          <p:cNvGrpSpPr/>
          <p:nvPr/>
        </p:nvGrpSpPr>
        <p:grpSpPr>
          <a:xfrm>
            <a:off x="13100685" y="5720269"/>
            <a:ext cx="2606040" cy="1319151"/>
            <a:chOff x="0" y="0"/>
            <a:chExt cx="3474720" cy="1758869"/>
          </a:xfrm>
        </p:grpSpPr>
        <p:sp>
          <p:nvSpPr>
            <p:cNvPr id="39" name="Freeform 39"/>
            <p:cNvSpPr/>
            <p:nvPr/>
          </p:nvSpPr>
          <p:spPr>
            <a:xfrm>
              <a:off x="0" y="0"/>
              <a:ext cx="3474720" cy="1758869"/>
            </a:xfrm>
            <a:custGeom>
              <a:avLst/>
              <a:gdLst/>
              <a:ahLst/>
              <a:cxnLst/>
              <a:rect l="l" t="t" r="r" b="b"/>
              <a:pathLst>
                <a:path w="3474720" h="1758869">
                  <a:moveTo>
                    <a:pt x="0" y="0"/>
                  </a:moveTo>
                  <a:lnTo>
                    <a:pt x="3474720" y="0"/>
                  </a:lnTo>
                  <a:lnTo>
                    <a:pt x="3474720" y="1758869"/>
                  </a:lnTo>
                  <a:lnTo>
                    <a:pt x="0" y="1758869"/>
                  </a:lnTo>
                  <a:close/>
                </a:path>
              </a:pathLst>
            </a:custGeom>
            <a:blipFill>
              <a:blip r:embed="rId3">
                <a:alphaModFix amt="0"/>
              </a:blip>
              <a:stretch>
                <a:fillRect t="-4701" b="27714"/>
              </a:stretch>
            </a:blipFill>
          </p:spPr>
        </p:sp>
        <p:sp>
          <p:nvSpPr>
            <p:cNvPr id="40" name="TextBox 40"/>
            <p:cNvSpPr txBox="1"/>
            <p:nvPr/>
          </p:nvSpPr>
          <p:spPr>
            <a:xfrm>
              <a:off x="0" y="-19050"/>
              <a:ext cx="3474720" cy="1777919"/>
            </a:xfrm>
            <a:prstGeom prst="rect">
              <a:avLst/>
            </a:prstGeom>
          </p:spPr>
          <p:txBody>
            <a:bodyPr lIns="0" tIns="0" rIns="0" bIns="0" rtlCol="0" anchor="ctr"/>
            <a:lstStyle/>
            <a:p>
              <a:pPr algn="l">
                <a:lnSpc>
                  <a:spcPts val="2268"/>
                </a:lnSpc>
              </a:pPr>
              <a:r>
                <a:rPr lang="en-US" sz="1800" b="1">
                  <a:solidFill>
                    <a:srgbClr val="C8912E"/>
                  </a:solidFill>
                  <a:latin typeface="Cambria Bold"/>
                  <a:ea typeface="Cambria Bold"/>
                  <a:cs typeface="Cambria Bold"/>
                  <a:sym typeface="Cambria Bold"/>
                </a:rPr>
                <a:t>Dockerized Containers</a:t>
              </a:r>
            </a:p>
          </p:txBody>
        </p:sp>
      </p:grpSp>
      <p:grpSp>
        <p:nvGrpSpPr>
          <p:cNvPr id="41" name="Group 41"/>
          <p:cNvGrpSpPr/>
          <p:nvPr/>
        </p:nvGrpSpPr>
        <p:grpSpPr>
          <a:xfrm>
            <a:off x="13098780" y="6825615"/>
            <a:ext cx="2606040" cy="1714500"/>
            <a:chOff x="0" y="0"/>
            <a:chExt cx="3474720" cy="2286000"/>
          </a:xfrm>
        </p:grpSpPr>
        <p:sp>
          <p:nvSpPr>
            <p:cNvPr id="42" name="Freeform 42"/>
            <p:cNvSpPr/>
            <p:nvPr/>
          </p:nvSpPr>
          <p:spPr>
            <a:xfrm>
              <a:off x="0" y="0"/>
              <a:ext cx="3474720" cy="2286000"/>
            </a:xfrm>
            <a:custGeom>
              <a:avLst/>
              <a:gdLst/>
              <a:ahLst/>
              <a:cxnLst/>
              <a:rect l="l" t="t" r="r" b="b"/>
              <a:pathLst>
                <a:path w="3474720" h="2286000">
                  <a:moveTo>
                    <a:pt x="0" y="0"/>
                  </a:moveTo>
                  <a:lnTo>
                    <a:pt x="3474720" y="0"/>
                  </a:lnTo>
                  <a:lnTo>
                    <a:pt x="3474720" y="2286000"/>
                  </a:lnTo>
                  <a:lnTo>
                    <a:pt x="0" y="2286000"/>
                  </a:lnTo>
                  <a:close/>
                </a:path>
              </a:pathLst>
            </a:custGeom>
            <a:blipFill>
              <a:blip r:embed="rId3">
                <a:alphaModFix amt="0"/>
              </a:blip>
              <a:stretch>
                <a:fillRect l="-34410" r="-34410"/>
              </a:stretch>
            </a:blipFill>
          </p:spPr>
        </p:sp>
        <p:sp>
          <p:nvSpPr>
            <p:cNvPr id="43" name="TextBox 43"/>
            <p:cNvSpPr txBox="1"/>
            <p:nvPr/>
          </p:nvSpPr>
          <p:spPr>
            <a:xfrm>
              <a:off x="0" y="-47625"/>
              <a:ext cx="3474720" cy="2333625"/>
            </a:xfrm>
            <a:prstGeom prst="rect">
              <a:avLst/>
            </a:prstGeom>
          </p:spPr>
          <p:txBody>
            <a:bodyPr lIns="0" tIns="0" rIns="0" bIns="0" rtlCol="0" anchor="ctr"/>
            <a:lstStyle/>
            <a:p>
              <a:pPr algn="l">
                <a:lnSpc>
                  <a:spcPts val="1863"/>
                </a:lnSpc>
              </a:pPr>
              <a:r>
                <a:rPr lang="en-US" sz="1350">
                  <a:solidFill>
                    <a:srgbClr val="26324A"/>
                  </a:solidFill>
                  <a:latin typeface="Calibri (MS)"/>
                  <a:ea typeface="Calibri (MS)"/>
                  <a:cs typeface="Calibri (MS)"/>
                  <a:sym typeface="Calibri (MS)"/>
                </a:rPr>
                <a:t>Runs the models in an isolated Docker environmen, streaming logs in real time.</a:t>
              </a:r>
            </a:p>
          </p:txBody>
        </p:sp>
      </p:grpSp>
      <p:sp>
        <p:nvSpPr>
          <p:cNvPr id="44" name="Freeform 44"/>
          <p:cNvSpPr/>
          <p:nvPr/>
        </p:nvSpPr>
        <p:spPr>
          <a:xfrm rot="108116">
            <a:off x="6308670" y="5206437"/>
            <a:ext cx="275699" cy="275699"/>
          </a:xfrm>
          <a:custGeom>
            <a:avLst/>
            <a:gdLst/>
            <a:ahLst/>
            <a:cxnLst/>
            <a:rect l="l" t="t" r="r" b="b"/>
            <a:pathLst>
              <a:path w="275699" h="275699">
                <a:moveTo>
                  <a:pt x="0" y="0"/>
                </a:moveTo>
                <a:lnTo>
                  <a:pt x="275700" y="0"/>
                </a:lnTo>
                <a:lnTo>
                  <a:pt x="275700" y="275700"/>
                </a:lnTo>
                <a:lnTo>
                  <a:pt x="0" y="2757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45" name="Freeform 45"/>
          <p:cNvSpPr/>
          <p:nvPr/>
        </p:nvSpPr>
        <p:spPr>
          <a:xfrm>
            <a:off x="2739848" y="5199443"/>
            <a:ext cx="418183" cy="289687"/>
          </a:xfrm>
          <a:custGeom>
            <a:avLst/>
            <a:gdLst/>
            <a:ahLst/>
            <a:cxnLst/>
            <a:rect l="l" t="t" r="r" b="b"/>
            <a:pathLst>
              <a:path w="418183" h="289687">
                <a:moveTo>
                  <a:pt x="0" y="0"/>
                </a:moveTo>
                <a:lnTo>
                  <a:pt x="418184" y="0"/>
                </a:lnTo>
                <a:lnTo>
                  <a:pt x="418184" y="289688"/>
                </a:lnTo>
                <a:lnTo>
                  <a:pt x="0" y="289688"/>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46" name="TextBox 46"/>
          <p:cNvSpPr txBox="1"/>
          <p:nvPr/>
        </p:nvSpPr>
        <p:spPr>
          <a:xfrm>
            <a:off x="7104351" y="952846"/>
            <a:ext cx="4093012" cy="580390"/>
          </a:xfrm>
          <a:prstGeom prst="rect">
            <a:avLst/>
          </a:prstGeom>
        </p:spPr>
        <p:txBody>
          <a:bodyPr wrap="square" lIns="0" tIns="0" rIns="0" bIns="0" rtlCol="0" anchor="t">
            <a:spAutoFit/>
          </a:bodyPr>
          <a:lstStyle/>
          <a:p>
            <a:pPr algn="ctr">
              <a:lnSpc>
                <a:spcPts val="4759"/>
              </a:lnSpc>
              <a:spcBef>
                <a:spcPct val="0"/>
              </a:spcBef>
            </a:pPr>
            <a:r>
              <a:rPr lang="en-US" sz="3399" b="1" dirty="0">
                <a:solidFill>
                  <a:srgbClr val="000000"/>
                </a:solidFill>
                <a:latin typeface="Canva Sans Bold"/>
                <a:ea typeface="Canva Sans Bold"/>
                <a:cs typeface="Canva Sans Bold"/>
                <a:sym typeface="Canva Sans Bold"/>
              </a:rPr>
              <a:t>Core Architecture</a:t>
            </a:r>
          </a:p>
        </p:txBody>
      </p:sp>
      <p:sp>
        <p:nvSpPr>
          <p:cNvPr id="47" name="TextBox 47"/>
          <p:cNvSpPr txBox="1"/>
          <p:nvPr/>
        </p:nvSpPr>
        <p:spPr>
          <a:xfrm>
            <a:off x="1882206" y="1777854"/>
            <a:ext cx="14537303" cy="2446484"/>
          </a:xfrm>
          <a:prstGeom prst="rect">
            <a:avLst/>
          </a:prstGeom>
        </p:spPr>
        <p:txBody>
          <a:bodyPr lIns="0" tIns="0" rIns="0" bIns="0" rtlCol="0" anchor="t">
            <a:spAutoFit/>
          </a:bodyPr>
          <a:lstStyle/>
          <a:p>
            <a:pPr algn="just">
              <a:lnSpc>
                <a:spcPts val="3229"/>
              </a:lnSpc>
              <a:spcBef>
                <a:spcPct val="0"/>
              </a:spcBef>
            </a:pPr>
            <a:r>
              <a:rPr lang="en-US" sz="2306">
                <a:solidFill>
                  <a:srgbClr val="000000"/>
                </a:solidFill>
                <a:latin typeface="Canva Sans"/>
                <a:ea typeface="Canva Sans"/>
                <a:cs typeface="Canva Sans"/>
                <a:sym typeface="Canva Sans"/>
              </a:rPr>
              <a:t>D-Train is built from four cooperating components that together turn an idle GPU into a usable training node. A user-facing web dashboard handles job uploads, pricing, and payments, while a backend API server orchestrates everything behind the scenes — authentication, job matching, and billing. On the worker side, an Electron Worker dashboard gives GPU owners visibility into incoming jobs. It runs quietly in the background, pulling jobs, spinning up Docker containers, and streaming logs back in real time, and Dockerized containers where the isolated model training happens. </a:t>
            </a:r>
          </a:p>
        </p:txBody>
      </p:sp>
      <p:sp>
        <p:nvSpPr>
          <p:cNvPr id="48" name="Freeform 48"/>
          <p:cNvSpPr/>
          <p:nvPr/>
        </p:nvSpPr>
        <p:spPr>
          <a:xfrm>
            <a:off x="9809568" y="5179859"/>
            <a:ext cx="269064" cy="328856"/>
          </a:xfrm>
          <a:custGeom>
            <a:avLst/>
            <a:gdLst/>
            <a:ahLst/>
            <a:cxnLst/>
            <a:rect l="l" t="t" r="r" b="b"/>
            <a:pathLst>
              <a:path w="269064" h="328856">
                <a:moveTo>
                  <a:pt x="0" y="0"/>
                </a:moveTo>
                <a:lnTo>
                  <a:pt x="269064" y="0"/>
                </a:lnTo>
                <a:lnTo>
                  <a:pt x="269064" y="328856"/>
                </a:lnTo>
                <a:lnTo>
                  <a:pt x="0" y="328856"/>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49" name="Freeform 49"/>
          <p:cNvSpPr/>
          <p:nvPr/>
        </p:nvSpPr>
        <p:spPr>
          <a:xfrm>
            <a:off x="13268702" y="5179859"/>
            <a:ext cx="345956" cy="296264"/>
          </a:xfrm>
          <a:custGeom>
            <a:avLst/>
            <a:gdLst/>
            <a:ahLst/>
            <a:cxnLst/>
            <a:rect l="l" t="t" r="r" b="b"/>
            <a:pathLst>
              <a:path w="345956" h="296264">
                <a:moveTo>
                  <a:pt x="0" y="0"/>
                </a:moveTo>
                <a:lnTo>
                  <a:pt x="345956" y="0"/>
                </a:lnTo>
                <a:lnTo>
                  <a:pt x="345956" y="296264"/>
                </a:lnTo>
                <a:lnTo>
                  <a:pt x="0" y="296264"/>
                </a:lnTo>
                <a:lnTo>
                  <a:pt x="0" y="0"/>
                </a:lnTo>
                <a:close/>
              </a:path>
            </a:pathLst>
          </a:custGeom>
          <a:blipFill>
            <a:blip>
              <a:extLst>
                <a:ext uri="{96DAC541-7B7A-43D3-8B79-37D633B846F1}">
                  <asvg:svgBlip xmlns:asvg="http://schemas.microsoft.com/office/drawing/2016/SVG/main" r:embed="rId7"/>
                </a:ext>
              </a:extLst>
            </a:blip>
            <a:stretch>
              <a:fillRect/>
            </a:stretch>
          </a:blipFill>
        </p:spPr>
      </p:sp>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97525" cy="10287000"/>
            <a:chOff x="0" y="0"/>
            <a:chExt cx="24396700" cy="13716000"/>
          </a:xfrm>
        </p:grpSpPr>
        <p:sp>
          <p:nvSpPr>
            <p:cNvPr id="3" name="Freeform 3"/>
            <p:cNvSpPr/>
            <p:nvPr/>
          </p:nvSpPr>
          <p:spPr>
            <a:xfrm>
              <a:off x="0" y="0"/>
              <a:ext cx="24396700" cy="13716000"/>
            </a:xfrm>
            <a:custGeom>
              <a:avLst/>
              <a:gdLst/>
              <a:ahLst/>
              <a:cxnLst/>
              <a:rect l="l" t="t" r="r" b="b"/>
              <a:pathLst>
                <a:path w="24396700" h="13716000">
                  <a:moveTo>
                    <a:pt x="0" y="0"/>
                  </a:moveTo>
                  <a:lnTo>
                    <a:pt x="24396700" y="0"/>
                  </a:lnTo>
                  <a:lnTo>
                    <a:pt x="24396700" y="13716000"/>
                  </a:lnTo>
                  <a:lnTo>
                    <a:pt x="0" y="13716000"/>
                  </a:lnTo>
                  <a:lnTo>
                    <a:pt x="0" y="0"/>
                  </a:lnTo>
                  <a:close/>
                </a:path>
              </a:pathLst>
            </a:custGeom>
            <a:blipFill>
              <a:blip r:embed="rId2"/>
              <a:stretch>
                <a:fillRect t="-52" b="-52"/>
              </a:stretch>
            </a:blipFill>
            <a:ln cap="sq">
              <a:noFill/>
              <a:prstDash val="solid"/>
              <a:miter/>
            </a:ln>
          </p:spPr>
        </p:sp>
      </p:grpSp>
      <p:grpSp>
        <p:nvGrpSpPr>
          <p:cNvPr id="4" name="Group 4"/>
          <p:cNvGrpSpPr/>
          <p:nvPr/>
        </p:nvGrpSpPr>
        <p:grpSpPr>
          <a:xfrm>
            <a:off x="3705038" y="3230372"/>
            <a:ext cx="10877924" cy="5913544"/>
            <a:chOff x="0" y="0"/>
            <a:chExt cx="841299" cy="457354"/>
          </a:xfrm>
        </p:grpSpPr>
        <p:sp>
          <p:nvSpPr>
            <p:cNvPr id="5" name="Freeform 5"/>
            <p:cNvSpPr/>
            <p:nvPr/>
          </p:nvSpPr>
          <p:spPr>
            <a:xfrm>
              <a:off x="0" y="0"/>
              <a:ext cx="841299" cy="457354"/>
            </a:xfrm>
            <a:custGeom>
              <a:avLst/>
              <a:gdLst/>
              <a:ahLst/>
              <a:cxnLst/>
              <a:rect l="l" t="t" r="r" b="b"/>
              <a:pathLst>
                <a:path w="841299" h="457354">
                  <a:moveTo>
                    <a:pt x="11120" y="0"/>
                  </a:moveTo>
                  <a:lnTo>
                    <a:pt x="830178" y="0"/>
                  </a:lnTo>
                  <a:cubicBezTo>
                    <a:pt x="836320" y="0"/>
                    <a:pt x="841299" y="4979"/>
                    <a:pt x="841299" y="11120"/>
                  </a:cubicBezTo>
                  <a:lnTo>
                    <a:pt x="841299" y="446233"/>
                  </a:lnTo>
                  <a:cubicBezTo>
                    <a:pt x="841299" y="452375"/>
                    <a:pt x="836320" y="457354"/>
                    <a:pt x="830178" y="457354"/>
                  </a:cubicBezTo>
                  <a:lnTo>
                    <a:pt x="11120" y="457354"/>
                  </a:lnTo>
                  <a:cubicBezTo>
                    <a:pt x="4979" y="457354"/>
                    <a:pt x="0" y="452375"/>
                    <a:pt x="0" y="446233"/>
                  </a:cubicBezTo>
                  <a:lnTo>
                    <a:pt x="0" y="11120"/>
                  </a:lnTo>
                  <a:cubicBezTo>
                    <a:pt x="0" y="4979"/>
                    <a:pt x="4979" y="0"/>
                    <a:pt x="11120" y="0"/>
                  </a:cubicBezTo>
                  <a:close/>
                </a:path>
              </a:pathLst>
            </a:custGeom>
            <a:solidFill>
              <a:srgbClr val="F1E6D3"/>
            </a:solidFill>
            <a:ln w="47625" cap="sq">
              <a:solidFill>
                <a:srgbClr val="E9DCC8"/>
              </a:solidFill>
              <a:prstDash val="solid"/>
              <a:miter/>
            </a:ln>
          </p:spPr>
        </p:sp>
        <p:sp>
          <p:nvSpPr>
            <p:cNvPr id="6" name="TextBox 6"/>
            <p:cNvSpPr txBox="1"/>
            <p:nvPr/>
          </p:nvSpPr>
          <p:spPr>
            <a:xfrm>
              <a:off x="0" y="-9525"/>
              <a:ext cx="841299" cy="466879"/>
            </a:xfrm>
            <a:prstGeom prst="rect">
              <a:avLst/>
            </a:prstGeom>
          </p:spPr>
          <p:txBody>
            <a:bodyPr lIns="50800" tIns="50800" rIns="50800" bIns="50800" rtlCol="0" anchor="ctr"/>
            <a:lstStyle/>
            <a:p>
              <a:pPr algn="ctr">
                <a:lnSpc>
                  <a:spcPts val="2160"/>
                </a:lnSpc>
              </a:pPr>
              <a:endParaRPr/>
            </a:p>
          </p:txBody>
        </p:sp>
      </p:grpSp>
      <p:sp>
        <p:nvSpPr>
          <p:cNvPr id="7" name="TextBox 7"/>
          <p:cNvSpPr txBox="1"/>
          <p:nvPr/>
        </p:nvSpPr>
        <p:spPr>
          <a:xfrm>
            <a:off x="7803297" y="962025"/>
            <a:ext cx="2681407" cy="580390"/>
          </a:xfrm>
          <a:prstGeom prst="rect">
            <a:avLst/>
          </a:prstGeom>
        </p:spPr>
        <p:txBody>
          <a:bodyPr lIns="0" tIns="0" rIns="0" bIns="0" rtlCol="0" anchor="t">
            <a:spAutoFit/>
          </a:bodyPr>
          <a:lstStyle/>
          <a:p>
            <a:pPr algn="ctr">
              <a:lnSpc>
                <a:spcPts val="4759"/>
              </a:lnSpc>
              <a:spcBef>
                <a:spcPct val="0"/>
              </a:spcBef>
            </a:pPr>
            <a:r>
              <a:rPr lang="en-US" sz="3399" b="1">
                <a:solidFill>
                  <a:srgbClr val="000000"/>
                </a:solidFill>
                <a:latin typeface="Canva Sans Bold"/>
                <a:ea typeface="Canva Sans Bold"/>
                <a:cs typeface="Canva Sans Bold"/>
                <a:sym typeface="Canva Sans Bold"/>
              </a:rPr>
              <a:t>How It Flows</a:t>
            </a:r>
          </a:p>
        </p:txBody>
      </p:sp>
      <p:sp>
        <p:nvSpPr>
          <p:cNvPr id="8" name="TextBox 8"/>
          <p:cNvSpPr txBox="1"/>
          <p:nvPr/>
        </p:nvSpPr>
        <p:spPr>
          <a:xfrm>
            <a:off x="1755264" y="1889915"/>
            <a:ext cx="14777471" cy="945331"/>
          </a:xfrm>
          <a:prstGeom prst="rect">
            <a:avLst/>
          </a:prstGeom>
        </p:spPr>
        <p:txBody>
          <a:bodyPr lIns="0" tIns="0" rIns="0" bIns="0" rtlCol="0" anchor="t">
            <a:spAutoFit/>
          </a:bodyPr>
          <a:lstStyle/>
          <a:p>
            <a:pPr algn="just">
              <a:lnSpc>
                <a:spcPts val="3229"/>
              </a:lnSpc>
            </a:pPr>
            <a:r>
              <a:rPr lang="en-US" sz="2306" b="1">
                <a:solidFill>
                  <a:srgbClr val="000000"/>
                </a:solidFill>
                <a:latin typeface="Canva Sans Bold"/>
                <a:ea typeface="Canva Sans Bold"/>
                <a:cs typeface="Canva Sans Bold"/>
                <a:sym typeface="Canva Sans Bold"/>
              </a:rPr>
              <a:t>End-to-end workflow (sequence):</a:t>
            </a:r>
          </a:p>
          <a:p>
            <a:pPr algn="just">
              <a:lnSpc>
                <a:spcPts val="1129"/>
              </a:lnSpc>
            </a:pPr>
            <a:endParaRPr lang="en-US" sz="2306" b="1">
              <a:solidFill>
                <a:srgbClr val="000000"/>
              </a:solidFill>
              <a:latin typeface="Canva Sans Bold"/>
              <a:ea typeface="Canva Sans Bold"/>
              <a:cs typeface="Canva Sans Bold"/>
              <a:sym typeface="Canva Sans Bold"/>
            </a:endParaRPr>
          </a:p>
          <a:p>
            <a:pPr algn="l">
              <a:lnSpc>
                <a:spcPts val="3229"/>
              </a:lnSpc>
              <a:spcBef>
                <a:spcPct val="0"/>
              </a:spcBef>
            </a:pPr>
            <a:r>
              <a:rPr lang="en-US" sz="2306">
                <a:solidFill>
                  <a:srgbClr val="000000"/>
                </a:solidFill>
                <a:latin typeface="Canva Sans"/>
                <a:ea typeface="Canva Sans"/>
                <a:cs typeface="Canva Sans"/>
                <a:sym typeface="Canva Sans"/>
              </a:rPr>
              <a:t>From ZIP upload to a downloaded, trained model - every hand-off between user, API, worker and storage.</a:t>
            </a:r>
          </a:p>
        </p:txBody>
      </p:sp>
      <p:sp>
        <p:nvSpPr>
          <p:cNvPr id="9" name="Freeform 9"/>
          <p:cNvSpPr/>
          <p:nvPr/>
        </p:nvSpPr>
        <p:spPr>
          <a:xfrm>
            <a:off x="4822714" y="3372817"/>
            <a:ext cx="8642573" cy="5636547"/>
          </a:xfrm>
          <a:custGeom>
            <a:avLst/>
            <a:gdLst/>
            <a:ahLst/>
            <a:cxnLst/>
            <a:rect l="l" t="t" r="r" b="b"/>
            <a:pathLst>
              <a:path w="8642573" h="5636547">
                <a:moveTo>
                  <a:pt x="0" y="0"/>
                </a:moveTo>
                <a:lnTo>
                  <a:pt x="8642572" y="0"/>
                </a:lnTo>
                <a:lnTo>
                  <a:pt x="8642572" y="5636547"/>
                </a:lnTo>
                <a:lnTo>
                  <a:pt x="0" y="5636547"/>
                </a:lnTo>
                <a:lnTo>
                  <a:pt x="0" y="0"/>
                </a:lnTo>
                <a:close/>
              </a:path>
            </a:pathLst>
          </a:custGeom>
          <a:blipFill>
            <a:blip r:embed="rId3"/>
            <a:stretch>
              <a:fillRect b="-2387"/>
            </a:stretch>
          </a:blipFill>
          <a:ln cap="sq">
            <a:noFill/>
            <a:prstDash val="solid"/>
            <a:miter/>
          </a:ln>
        </p:spPr>
      </p:sp>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78284" cy="10287000"/>
            <a:chOff x="0" y="0"/>
            <a:chExt cx="24371046" cy="13716000"/>
          </a:xfrm>
        </p:grpSpPr>
        <p:sp>
          <p:nvSpPr>
            <p:cNvPr id="3" name="Freeform 3"/>
            <p:cNvSpPr/>
            <p:nvPr/>
          </p:nvSpPr>
          <p:spPr>
            <a:xfrm>
              <a:off x="0" y="0"/>
              <a:ext cx="24371046" cy="13716000"/>
            </a:xfrm>
            <a:custGeom>
              <a:avLst/>
              <a:gdLst/>
              <a:ahLst/>
              <a:cxnLst/>
              <a:rect l="l" t="t" r="r" b="b"/>
              <a:pathLst>
                <a:path w="24371046" h="13716000">
                  <a:moveTo>
                    <a:pt x="0" y="0"/>
                  </a:moveTo>
                  <a:lnTo>
                    <a:pt x="24371046" y="0"/>
                  </a:lnTo>
                  <a:lnTo>
                    <a:pt x="24371046" y="13716000"/>
                  </a:lnTo>
                  <a:lnTo>
                    <a:pt x="0" y="13716000"/>
                  </a:lnTo>
                  <a:lnTo>
                    <a:pt x="0" y="0"/>
                  </a:lnTo>
                  <a:close/>
                </a:path>
              </a:pathLst>
            </a:custGeom>
            <a:blipFill>
              <a:blip r:embed="rId2"/>
              <a:stretch>
                <a:fillRect/>
              </a:stretch>
            </a:blipFill>
          </p:spPr>
        </p:sp>
      </p:grpSp>
      <p:grpSp>
        <p:nvGrpSpPr>
          <p:cNvPr id="4" name="Group 4"/>
          <p:cNvGrpSpPr/>
          <p:nvPr/>
        </p:nvGrpSpPr>
        <p:grpSpPr>
          <a:xfrm>
            <a:off x="2331720" y="3923288"/>
            <a:ext cx="538376" cy="538376"/>
            <a:chOff x="0" y="0"/>
            <a:chExt cx="658368" cy="658368"/>
          </a:xfrm>
        </p:grpSpPr>
        <p:sp>
          <p:nvSpPr>
            <p:cNvPr id="5" name="Freeform 5"/>
            <p:cNvSpPr/>
            <p:nvPr/>
          </p:nvSpPr>
          <p:spPr>
            <a:xfrm>
              <a:off x="0" y="0"/>
              <a:ext cx="658368" cy="658368"/>
            </a:xfrm>
            <a:custGeom>
              <a:avLst/>
              <a:gdLst/>
              <a:ahLst/>
              <a:cxnLst/>
              <a:rect l="l" t="t" r="r" b="b"/>
              <a:pathLst>
                <a:path w="658368" h="658368">
                  <a:moveTo>
                    <a:pt x="0" y="329184"/>
                  </a:moveTo>
                  <a:cubicBezTo>
                    <a:pt x="0" y="147320"/>
                    <a:pt x="147320" y="0"/>
                    <a:pt x="329184" y="0"/>
                  </a:cubicBezTo>
                  <a:cubicBezTo>
                    <a:pt x="511048" y="0"/>
                    <a:pt x="658368" y="147320"/>
                    <a:pt x="658368" y="329184"/>
                  </a:cubicBezTo>
                  <a:cubicBezTo>
                    <a:pt x="658368" y="511048"/>
                    <a:pt x="511048" y="658368"/>
                    <a:pt x="329184" y="658368"/>
                  </a:cubicBezTo>
                  <a:cubicBezTo>
                    <a:pt x="147320" y="658368"/>
                    <a:pt x="0" y="511048"/>
                    <a:pt x="0" y="329184"/>
                  </a:cubicBezTo>
                  <a:close/>
                </a:path>
              </a:pathLst>
            </a:custGeom>
            <a:solidFill>
              <a:srgbClr val="FEF9F1"/>
            </a:solidFill>
            <a:ln w="38100" cap="sq">
              <a:solidFill>
                <a:srgbClr val="C8912E"/>
              </a:solidFill>
              <a:prstDash val="solid"/>
              <a:miter/>
            </a:ln>
          </p:spPr>
        </p:sp>
      </p:grpSp>
      <p:grpSp>
        <p:nvGrpSpPr>
          <p:cNvPr id="6" name="Group 6"/>
          <p:cNvGrpSpPr/>
          <p:nvPr/>
        </p:nvGrpSpPr>
        <p:grpSpPr>
          <a:xfrm>
            <a:off x="2331720" y="3953198"/>
            <a:ext cx="538376" cy="538376"/>
            <a:chOff x="0" y="0"/>
            <a:chExt cx="658368" cy="658368"/>
          </a:xfrm>
        </p:grpSpPr>
        <p:sp>
          <p:nvSpPr>
            <p:cNvPr id="7" name="Freeform 7"/>
            <p:cNvSpPr/>
            <p:nvPr/>
          </p:nvSpPr>
          <p:spPr>
            <a:xfrm>
              <a:off x="0" y="0"/>
              <a:ext cx="658368" cy="658368"/>
            </a:xfrm>
            <a:custGeom>
              <a:avLst/>
              <a:gdLst/>
              <a:ahLst/>
              <a:cxnLst/>
              <a:rect l="l" t="t" r="r" b="b"/>
              <a:pathLst>
                <a:path w="658368" h="658368">
                  <a:moveTo>
                    <a:pt x="0" y="0"/>
                  </a:moveTo>
                  <a:lnTo>
                    <a:pt x="658368" y="0"/>
                  </a:lnTo>
                  <a:lnTo>
                    <a:pt x="658368" y="658368"/>
                  </a:lnTo>
                  <a:lnTo>
                    <a:pt x="0" y="658368"/>
                  </a:lnTo>
                  <a:close/>
                </a:path>
              </a:pathLst>
            </a:custGeom>
            <a:blipFill>
              <a:blip r:embed="rId3">
                <a:alphaModFix amt="0"/>
              </a:blip>
              <a:stretch>
                <a:fillRect l="-78303" r="-78303"/>
              </a:stretch>
            </a:blipFill>
          </p:spPr>
        </p:sp>
        <p:sp>
          <p:nvSpPr>
            <p:cNvPr id="8" name="TextBox 8"/>
            <p:cNvSpPr txBox="1"/>
            <p:nvPr/>
          </p:nvSpPr>
          <p:spPr>
            <a:xfrm>
              <a:off x="0" y="-38100"/>
              <a:ext cx="658368" cy="696468"/>
            </a:xfrm>
            <a:prstGeom prst="rect">
              <a:avLst/>
            </a:prstGeom>
          </p:spPr>
          <p:txBody>
            <a:bodyPr lIns="0" tIns="0" rIns="0" bIns="0" rtlCol="0" anchor="ctr"/>
            <a:lstStyle/>
            <a:p>
              <a:pPr algn="ctr">
                <a:lnSpc>
                  <a:spcPts val="1709"/>
                </a:lnSpc>
              </a:pPr>
              <a:r>
                <a:rPr lang="en-US" sz="1425" b="1">
                  <a:solidFill>
                    <a:srgbClr val="C8912E"/>
                  </a:solidFill>
                  <a:latin typeface="Calibri (MS) Bold"/>
                  <a:ea typeface="Calibri (MS) Bold"/>
                  <a:cs typeface="Calibri (MS) Bold"/>
                  <a:sym typeface="Calibri (MS) Bold"/>
                </a:rPr>
                <a:t>1</a:t>
              </a:r>
            </a:p>
          </p:txBody>
        </p:sp>
      </p:grpSp>
      <p:grpSp>
        <p:nvGrpSpPr>
          <p:cNvPr id="9" name="Group 9"/>
          <p:cNvGrpSpPr/>
          <p:nvPr/>
        </p:nvGrpSpPr>
        <p:grpSpPr>
          <a:xfrm>
            <a:off x="3049554" y="3893378"/>
            <a:ext cx="2766653" cy="598195"/>
            <a:chOff x="0" y="0"/>
            <a:chExt cx="3383280" cy="731520"/>
          </a:xfrm>
        </p:grpSpPr>
        <p:sp>
          <p:nvSpPr>
            <p:cNvPr id="10" name="Freeform 10"/>
            <p:cNvSpPr/>
            <p:nvPr/>
          </p:nvSpPr>
          <p:spPr>
            <a:xfrm>
              <a:off x="0" y="0"/>
              <a:ext cx="3383280" cy="731520"/>
            </a:xfrm>
            <a:custGeom>
              <a:avLst/>
              <a:gdLst/>
              <a:ahLst/>
              <a:cxnLst/>
              <a:rect l="l" t="t" r="r" b="b"/>
              <a:pathLst>
                <a:path w="3383280" h="731520">
                  <a:moveTo>
                    <a:pt x="0" y="0"/>
                  </a:moveTo>
                  <a:lnTo>
                    <a:pt x="3383280" y="0"/>
                  </a:lnTo>
                  <a:lnTo>
                    <a:pt x="3383280" y="731520"/>
                  </a:lnTo>
                  <a:lnTo>
                    <a:pt x="0" y="731520"/>
                  </a:lnTo>
                  <a:close/>
                </a:path>
              </a:pathLst>
            </a:custGeom>
            <a:blipFill>
              <a:blip r:embed="rId3">
                <a:alphaModFix amt="0"/>
              </a:blip>
              <a:stretch>
                <a:fillRect t="-40118" b="-40118"/>
              </a:stretch>
            </a:blipFill>
          </p:spPr>
        </p:sp>
        <p:sp>
          <p:nvSpPr>
            <p:cNvPr id="11" name="TextBox 11"/>
            <p:cNvSpPr txBox="1"/>
            <p:nvPr/>
          </p:nvSpPr>
          <p:spPr>
            <a:xfrm>
              <a:off x="0" y="0"/>
              <a:ext cx="3383280" cy="731520"/>
            </a:xfrm>
            <a:prstGeom prst="rect">
              <a:avLst/>
            </a:prstGeom>
          </p:spPr>
          <p:txBody>
            <a:bodyPr lIns="0" tIns="0" rIns="0" bIns="0" rtlCol="0" anchor="ctr"/>
            <a:lstStyle/>
            <a:p>
              <a:pPr algn="l">
                <a:lnSpc>
                  <a:spcPts val="1889"/>
                </a:lnSpc>
              </a:pPr>
              <a:r>
                <a:rPr lang="en-US" sz="1575" b="1">
                  <a:solidFill>
                    <a:srgbClr val="26324A"/>
                  </a:solidFill>
                  <a:latin typeface="Cambria Bold"/>
                  <a:ea typeface="Cambria Bold"/>
                  <a:cs typeface="Cambria Bold"/>
                  <a:sym typeface="Cambria Bold"/>
                </a:rPr>
                <a:t>Wallet top-up</a:t>
              </a:r>
            </a:p>
          </p:txBody>
        </p:sp>
      </p:grpSp>
      <p:grpSp>
        <p:nvGrpSpPr>
          <p:cNvPr id="12" name="Group 12"/>
          <p:cNvGrpSpPr/>
          <p:nvPr/>
        </p:nvGrpSpPr>
        <p:grpSpPr>
          <a:xfrm>
            <a:off x="5155661" y="3893378"/>
            <a:ext cx="5234209" cy="598195"/>
            <a:chOff x="0" y="0"/>
            <a:chExt cx="6400800" cy="731520"/>
          </a:xfrm>
        </p:grpSpPr>
        <p:sp>
          <p:nvSpPr>
            <p:cNvPr id="13" name="Freeform 13"/>
            <p:cNvSpPr/>
            <p:nvPr/>
          </p:nvSpPr>
          <p:spPr>
            <a:xfrm>
              <a:off x="0" y="0"/>
              <a:ext cx="6400800" cy="731520"/>
            </a:xfrm>
            <a:custGeom>
              <a:avLst/>
              <a:gdLst/>
              <a:ahLst/>
              <a:cxnLst/>
              <a:rect l="l" t="t" r="r" b="b"/>
              <a:pathLst>
                <a:path w="6400800" h="731520">
                  <a:moveTo>
                    <a:pt x="0" y="0"/>
                  </a:moveTo>
                  <a:lnTo>
                    <a:pt x="6400800" y="0"/>
                  </a:lnTo>
                  <a:lnTo>
                    <a:pt x="6400800" y="731520"/>
                  </a:lnTo>
                  <a:lnTo>
                    <a:pt x="0" y="731520"/>
                  </a:lnTo>
                  <a:close/>
                </a:path>
              </a:pathLst>
            </a:custGeom>
            <a:blipFill>
              <a:blip r:embed="rId3">
                <a:alphaModFix amt="0"/>
              </a:blip>
              <a:stretch>
                <a:fillRect t="-120494" b="-120494"/>
              </a:stretch>
            </a:blipFill>
          </p:spPr>
        </p:sp>
        <p:sp>
          <p:nvSpPr>
            <p:cNvPr id="14" name="TextBox 14"/>
            <p:cNvSpPr txBox="1"/>
            <p:nvPr/>
          </p:nvSpPr>
          <p:spPr>
            <a:xfrm>
              <a:off x="0" y="-28575"/>
              <a:ext cx="6400800" cy="760095"/>
            </a:xfrm>
            <a:prstGeom prst="rect">
              <a:avLst/>
            </a:prstGeom>
          </p:spPr>
          <p:txBody>
            <a:bodyPr lIns="0" tIns="0" rIns="0" bIns="0" rtlCol="0" anchor="ctr"/>
            <a:lstStyle/>
            <a:p>
              <a:pPr algn="l">
                <a:lnSpc>
                  <a:spcPts val="1674"/>
                </a:lnSpc>
              </a:pPr>
              <a:r>
                <a:rPr lang="en-US" sz="1395">
                  <a:solidFill>
                    <a:srgbClr val="5B6472"/>
                  </a:solidFill>
                  <a:latin typeface="Calibri (MS)"/>
                  <a:ea typeface="Calibri (MS)"/>
                  <a:cs typeface="Calibri (MS)"/>
                  <a:sym typeface="Calibri (MS)"/>
                </a:rPr>
                <a:t>User adds funds via a Stripe payment intent.</a:t>
              </a:r>
            </a:p>
          </p:txBody>
        </p:sp>
      </p:grpSp>
      <p:grpSp>
        <p:nvGrpSpPr>
          <p:cNvPr id="15" name="Group 15"/>
          <p:cNvGrpSpPr/>
          <p:nvPr/>
        </p:nvGrpSpPr>
        <p:grpSpPr>
          <a:xfrm>
            <a:off x="2331720" y="4700942"/>
            <a:ext cx="538376" cy="538376"/>
            <a:chOff x="0" y="0"/>
            <a:chExt cx="658368" cy="658368"/>
          </a:xfrm>
        </p:grpSpPr>
        <p:sp>
          <p:nvSpPr>
            <p:cNvPr id="16" name="Freeform 16"/>
            <p:cNvSpPr/>
            <p:nvPr/>
          </p:nvSpPr>
          <p:spPr>
            <a:xfrm>
              <a:off x="0" y="0"/>
              <a:ext cx="658368" cy="658368"/>
            </a:xfrm>
            <a:custGeom>
              <a:avLst/>
              <a:gdLst/>
              <a:ahLst/>
              <a:cxnLst/>
              <a:rect l="l" t="t" r="r" b="b"/>
              <a:pathLst>
                <a:path w="658368" h="658368">
                  <a:moveTo>
                    <a:pt x="0" y="329184"/>
                  </a:moveTo>
                  <a:cubicBezTo>
                    <a:pt x="0" y="147320"/>
                    <a:pt x="147320" y="0"/>
                    <a:pt x="329184" y="0"/>
                  </a:cubicBezTo>
                  <a:cubicBezTo>
                    <a:pt x="511048" y="0"/>
                    <a:pt x="658368" y="147320"/>
                    <a:pt x="658368" y="329184"/>
                  </a:cubicBezTo>
                  <a:cubicBezTo>
                    <a:pt x="658368" y="511048"/>
                    <a:pt x="511048" y="658368"/>
                    <a:pt x="329184" y="658368"/>
                  </a:cubicBezTo>
                  <a:cubicBezTo>
                    <a:pt x="147320" y="658368"/>
                    <a:pt x="0" y="511048"/>
                    <a:pt x="0" y="329184"/>
                  </a:cubicBezTo>
                  <a:close/>
                </a:path>
              </a:pathLst>
            </a:custGeom>
            <a:solidFill>
              <a:srgbClr val="FEF7F0"/>
            </a:solidFill>
            <a:ln w="38100" cap="sq">
              <a:solidFill>
                <a:srgbClr val="C8912E"/>
              </a:solidFill>
              <a:prstDash val="solid"/>
              <a:miter/>
            </a:ln>
          </p:spPr>
        </p:sp>
      </p:grpSp>
      <p:grpSp>
        <p:nvGrpSpPr>
          <p:cNvPr id="17" name="Group 17"/>
          <p:cNvGrpSpPr/>
          <p:nvPr/>
        </p:nvGrpSpPr>
        <p:grpSpPr>
          <a:xfrm>
            <a:off x="2331720" y="4700942"/>
            <a:ext cx="538376" cy="538376"/>
            <a:chOff x="0" y="0"/>
            <a:chExt cx="658368" cy="658368"/>
          </a:xfrm>
        </p:grpSpPr>
        <p:sp>
          <p:nvSpPr>
            <p:cNvPr id="18" name="Freeform 18"/>
            <p:cNvSpPr/>
            <p:nvPr/>
          </p:nvSpPr>
          <p:spPr>
            <a:xfrm>
              <a:off x="0" y="0"/>
              <a:ext cx="658368" cy="658368"/>
            </a:xfrm>
            <a:custGeom>
              <a:avLst/>
              <a:gdLst/>
              <a:ahLst/>
              <a:cxnLst/>
              <a:rect l="l" t="t" r="r" b="b"/>
              <a:pathLst>
                <a:path w="658368" h="658368">
                  <a:moveTo>
                    <a:pt x="0" y="0"/>
                  </a:moveTo>
                  <a:lnTo>
                    <a:pt x="658368" y="0"/>
                  </a:lnTo>
                  <a:lnTo>
                    <a:pt x="658368" y="658368"/>
                  </a:lnTo>
                  <a:lnTo>
                    <a:pt x="0" y="658368"/>
                  </a:lnTo>
                  <a:close/>
                </a:path>
              </a:pathLst>
            </a:custGeom>
            <a:blipFill>
              <a:blip r:embed="rId3">
                <a:alphaModFix amt="0"/>
              </a:blip>
              <a:stretch>
                <a:fillRect l="-78303" r="-78303"/>
              </a:stretch>
            </a:blipFill>
          </p:spPr>
        </p:sp>
        <p:sp>
          <p:nvSpPr>
            <p:cNvPr id="19" name="TextBox 19"/>
            <p:cNvSpPr txBox="1"/>
            <p:nvPr/>
          </p:nvSpPr>
          <p:spPr>
            <a:xfrm>
              <a:off x="0" y="-38100"/>
              <a:ext cx="658368" cy="696468"/>
            </a:xfrm>
            <a:prstGeom prst="rect">
              <a:avLst/>
            </a:prstGeom>
          </p:spPr>
          <p:txBody>
            <a:bodyPr lIns="0" tIns="0" rIns="0" bIns="0" rtlCol="0" anchor="ctr"/>
            <a:lstStyle/>
            <a:p>
              <a:pPr algn="ctr">
                <a:lnSpc>
                  <a:spcPts val="1709"/>
                </a:lnSpc>
              </a:pPr>
              <a:r>
                <a:rPr lang="en-US" sz="1425" b="1">
                  <a:solidFill>
                    <a:srgbClr val="C8912E"/>
                  </a:solidFill>
                  <a:latin typeface="Calibri (MS) Bold"/>
                  <a:ea typeface="Calibri (MS) Bold"/>
                  <a:cs typeface="Calibri (MS) Bold"/>
                  <a:sym typeface="Calibri (MS) Bold"/>
                </a:rPr>
                <a:t>2</a:t>
              </a:r>
            </a:p>
          </p:txBody>
        </p:sp>
      </p:grpSp>
      <p:grpSp>
        <p:nvGrpSpPr>
          <p:cNvPr id="20" name="Group 20"/>
          <p:cNvGrpSpPr/>
          <p:nvPr/>
        </p:nvGrpSpPr>
        <p:grpSpPr>
          <a:xfrm>
            <a:off x="3049554" y="4671032"/>
            <a:ext cx="2766653" cy="598195"/>
            <a:chOff x="0" y="0"/>
            <a:chExt cx="3383280" cy="731520"/>
          </a:xfrm>
        </p:grpSpPr>
        <p:sp>
          <p:nvSpPr>
            <p:cNvPr id="21" name="Freeform 21"/>
            <p:cNvSpPr/>
            <p:nvPr/>
          </p:nvSpPr>
          <p:spPr>
            <a:xfrm>
              <a:off x="0" y="0"/>
              <a:ext cx="3383280" cy="731520"/>
            </a:xfrm>
            <a:custGeom>
              <a:avLst/>
              <a:gdLst/>
              <a:ahLst/>
              <a:cxnLst/>
              <a:rect l="l" t="t" r="r" b="b"/>
              <a:pathLst>
                <a:path w="3383280" h="731520">
                  <a:moveTo>
                    <a:pt x="0" y="0"/>
                  </a:moveTo>
                  <a:lnTo>
                    <a:pt x="3383280" y="0"/>
                  </a:lnTo>
                  <a:lnTo>
                    <a:pt x="3383280" y="731520"/>
                  </a:lnTo>
                  <a:lnTo>
                    <a:pt x="0" y="731520"/>
                  </a:lnTo>
                  <a:close/>
                </a:path>
              </a:pathLst>
            </a:custGeom>
            <a:blipFill>
              <a:blip r:embed="rId3">
                <a:alphaModFix amt="0"/>
              </a:blip>
              <a:stretch>
                <a:fillRect t="-40118" b="-40118"/>
              </a:stretch>
            </a:blipFill>
          </p:spPr>
        </p:sp>
        <p:sp>
          <p:nvSpPr>
            <p:cNvPr id="22" name="TextBox 22"/>
            <p:cNvSpPr txBox="1"/>
            <p:nvPr/>
          </p:nvSpPr>
          <p:spPr>
            <a:xfrm>
              <a:off x="0" y="0"/>
              <a:ext cx="3383280" cy="731520"/>
            </a:xfrm>
            <a:prstGeom prst="rect">
              <a:avLst/>
            </a:prstGeom>
          </p:spPr>
          <p:txBody>
            <a:bodyPr lIns="0" tIns="0" rIns="0" bIns="0" rtlCol="0" anchor="ctr"/>
            <a:lstStyle/>
            <a:p>
              <a:pPr algn="l">
                <a:lnSpc>
                  <a:spcPts val="1889"/>
                </a:lnSpc>
              </a:pPr>
              <a:r>
                <a:rPr lang="en-US" sz="1575" b="1">
                  <a:solidFill>
                    <a:srgbClr val="26324A"/>
                  </a:solidFill>
                  <a:latin typeface="Cambria Bold"/>
                  <a:ea typeface="Cambria Bold"/>
                  <a:cs typeface="Cambria Bold"/>
                  <a:sym typeface="Cambria Bold"/>
                </a:rPr>
                <a:t>Publish → Reserve</a:t>
              </a:r>
            </a:p>
          </p:txBody>
        </p:sp>
      </p:grpSp>
      <p:grpSp>
        <p:nvGrpSpPr>
          <p:cNvPr id="23" name="Group 23"/>
          <p:cNvGrpSpPr/>
          <p:nvPr/>
        </p:nvGrpSpPr>
        <p:grpSpPr>
          <a:xfrm>
            <a:off x="5155661" y="4671032"/>
            <a:ext cx="5234209" cy="598195"/>
            <a:chOff x="0" y="0"/>
            <a:chExt cx="6400800" cy="731520"/>
          </a:xfrm>
        </p:grpSpPr>
        <p:sp>
          <p:nvSpPr>
            <p:cNvPr id="24" name="Freeform 24"/>
            <p:cNvSpPr/>
            <p:nvPr/>
          </p:nvSpPr>
          <p:spPr>
            <a:xfrm>
              <a:off x="0" y="0"/>
              <a:ext cx="6400800" cy="731520"/>
            </a:xfrm>
            <a:custGeom>
              <a:avLst/>
              <a:gdLst/>
              <a:ahLst/>
              <a:cxnLst/>
              <a:rect l="l" t="t" r="r" b="b"/>
              <a:pathLst>
                <a:path w="6400800" h="731520">
                  <a:moveTo>
                    <a:pt x="0" y="0"/>
                  </a:moveTo>
                  <a:lnTo>
                    <a:pt x="6400800" y="0"/>
                  </a:lnTo>
                  <a:lnTo>
                    <a:pt x="6400800" y="731520"/>
                  </a:lnTo>
                  <a:lnTo>
                    <a:pt x="0" y="731520"/>
                  </a:lnTo>
                  <a:close/>
                </a:path>
              </a:pathLst>
            </a:custGeom>
            <a:blipFill>
              <a:blip r:embed="rId3">
                <a:alphaModFix amt="0"/>
              </a:blip>
              <a:stretch>
                <a:fillRect t="-120494" b="-120494"/>
              </a:stretch>
            </a:blipFill>
          </p:spPr>
        </p:sp>
        <p:sp>
          <p:nvSpPr>
            <p:cNvPr id="25" name="TextBox 25"/>
            <p:cNvSpPr txBox="1"/>
            <p:nvPr/>
          </p:nvSpPr>
          <p:spPr>
            <a:xfrm>
              <a:off x="0" y="-28575"/>
              <a:ext cx="6400800" cy="760095"/>
            </a:xfrm>
            <a:prstGeom prst="rect">
              <a:avLst/>
            </a:prstGeom>
          </p:spPr>
          <p:txBody>
            <a:bodyPr lIns="0" tIns="0" rIns="0" bIns="0" rtlCol="0" anchor="ctr"/>
            <a:lstStyle/>
            <a:p>
              <a:pPr algn="l">
                <a:lnSpc>
                  <a:spcPts val="1674"/>
                </a:lnSpc>
              </a:pPr>
              <a:r>
                <a:rPr lang="en-US" sz="1395">
                  <a:solidFill>
                    <a:srgbClr val="5B6472"/>
                  </a:solidFill>
                  <a:latin typeface="Calibri (MS)"/>
                  <a:ea typeface="Calibri (MS)"/>
                  <a:cs typeface="Calibri (MS)"/>
                  <a:sym typeface="Calibri (MS)"/>
                </a:rPr>
                <a:t>Publishing a job reserves funds — nothing charged yet.</a:t>
              </a:r>
            </a:p>
          </p:txBody>
        </p:sp>
      </p:grpSp>
      <p:grpSp>
        <p:nvGrpSpPr>
          <p:cNvPr id="26" name="Group 26"/>
          <p:cNvGrpSpPr/>
          <p:nvPr/>
        </p:nvGrpSpPr>
        <p:grpSpPr>
          <a:xfrm>
            <a:off x="2331720" y="5478596"/>
            <a:ext cx="538376" cy="538376"/>
            <a:chOff x="0" y="0"/>
            <a:chExt cx="658368" cy="658368"/>
          </a:xfrm>
        </p:grpSpPr>
        <p:sp>
          <p:nvSpPr>
            <p:cNvPr id="27" name="Freeform 27"/>
            <p:cNvSpPr/>
            <p:nvPr/>
          </p:nvSpPr>
          <p:spPr>
            <a:xfrm>
              <a:off x="0" y="0"/>
              <a:ext cx="658368" cy="658368"/>
            </a:xfrm>
            <a:custGeom>
              <a:avLst/>
              <a:gdLst/>
              <a:ahLst/>
              <a:cxnLst/>
              <a:rect l="l" t="t" r="r" b="b"/>
              <a:pathLst>
                <a:path w="658368" h="658368">
                  <a:moveTo>
                    <a:pt x="0" y="329184"/>
                  </a:moveTo>
                  <a:cubicBezTo>
                    <a:pt x="0" y="147320"/>
                    <a:pt x="147320" y="0"/>
                    <a:pt x="329184" y="0"/>
                  </a:cubicBezTo>
                  <a:cubicBezTo>
                    <a:pt x="511048" y="0"/>
                    <a:pt x="658368" y="147320"/>
                    <a:pt x="658368" y="329184"/>
                  </a:cubicBezTo>
                  <a:cubicBezTo>
                    <a:pt x="658368" y="511048"/>
                    <a:pt x="511048" y="658368"/>
                    <a:pt x="329184" y="658368"/>
                  </a:cubicBezTo>
                  <a:cubicBezTo>
                    <a:pt x="147320" y="658368"/>
                    <a:pt x="0" y="511048"/>
                    <a:pt x="0" y="329184"/>
                  </a:cubicBezTo>
                  <a:close/>
                </a:path>
              </a:pathLst>
            </a:custGeom>
            <a:solidFill>
              <a:srgbClr val="FEF8F0"/>
            </a:solidFill>
            <a:ln w="38100" cap="sq">
              <a:solidFill>
                <a:srgbClr val="C8912E"/>
              </a:solidFill>
              <a:prstDash val="solid"/>
              <a:miter/>
            </a:ln>
          </p:spPr>
        </p:sp>
      </p:grpSp>
      <p:grpSp>
        <p:nvGrpSpPr>
          <p:cNvPr id="28" name="Group 28"/>
          <p:cNvGrpSpPr/>
          <p:nvPr/>
        </p:nvGrpSpPr>
        <p:grpSpPr>
          <a:xfrm>
            <a:off x="2331720" y="5477443"/>
            <a:ext cx="538376" cy="538376"/>
            <a:chOff x="0" y="0"/>
            <a:chExt cx="658368" cy="658368"/>
          </a:xfrm>
        </p:grpSpPr>
        <p:sp>
          <p:nvSpPr>
            <p:cNvPr id="29" name="Freeform 29"/>
            <p:cNvSpPr/>
            <p:nvPr/>
          </p:nvSpPr>
          <p:spPr>
            <a:xfrm>
              <a:off x="0" y="0"/>
              <a:ext cx="658368" cy="658368"/>
            </a:xfrm>
            <a:custGeom>
              <a:avLst/>
              <a:gdLst/>
              <a:ahLst/>
              <a:cxnLst/>
              <a:rect l="l" t="t" r="r" b="b"/>
              <a:pathLst>
                <a:path w="658368" h="658368">
                  <a:moveTo>
                    <a:pt x="0" y="0"/>
                  </a:moveTo>
                  <a:lnTo>
                    <a:pt x="658368" y="0"/>
                  </a:lnTo>
                  <a:lnTo>
                    <a:pt x="658368" y="658368"/>
                  </a:lnTo>
                  <a:lnTo>
                    <a:pt x="0" y="658368"/>
                  </a:lnTo>
                  <a:close/>
                </a:path>
              </a:pathLst>
            </a:custGeom>
            <a:blipFill>
              <a:blip r:embed="rId3">
                <a:alphaModFix amt="0"/>
              </a:blip>
              <a:stretch>
                <a:fillRect l="-78303" r="-78303"/>
              </a:stretch>
            </a:blipFill>
          </p:spPr>
        </p:sp>
        <p:sp>
          <p:nvSpPr>
            <p:cNvPr id="30" name="TextBox 30"/>
            <p:cNvSpPr txBox="1"/>
            <p:nvPr/>
          </p:nvSpPr>
          <p:spPr>
            <a:xfrm>
              <a:off x="0" y="-38100"/>
              <a:ext cx="658368" cy="696468"/>
            </a:xfrm>
            <a:prstGeom prst="rect">
              <a:avLst/>
            </a:prstGeom>
          </p:spPr>
          <p:txBody>
            <a:bodyPr lIns="0" tIns="0" rIns="0" bIns="0" rtlCol="0" anchor="ctr"/>
            <a:lstStyle/>
            <a:p>
              <a:pPr algn="ctr">
                <a:lnSpc>
                  <a:spcPts val="1709"/>
                </a:lnSpc>
              </a:pPr>
              <a:r>
                <a:rPr lang="en-US" sz="1425" b="1">
                  <a:solidFill>
                    <a:srgbClr val="C8912E"/>
                  </a:solidFill>
                  <a:latin typeface="Calibri (MS) Bold"/>
                  <a:ea typeface="Calibri (MS) Bold"/>
                  <a:cs typeface="Calibri (MS) Bold"/>
                  <a:sym typeface="Calibri (MS) Bold"/>
                </a:rPr>
                <a:t>3</a:t>
              </a:r>
            </a:p>
          </p:txBody>
        </p:sp>
      </p:grpSp>
      <p:grpSp>
        <p:nvGrpSpPr>
          <p:cNvPr id="31" name="Group 31"/>
          <p:cNvGrpSpPr/>
          <p:nvPr/>
        </p:nvGrpSpPr>
        <p:grpSpPr>
          <a:xfrm>
            <a:off x="3049554" y="5448686"/>
            <a:ext cx="2766653" cy="598195"/>
            <a:chOff x="0" y="0"/>
            <a:chExt cx="3383280" cy="731520"/>
          </a:xfrm>
        </p:grpSpPr>
        <p:sp>
          <p:nvSpPr>
            <p:cNvPr id="32" name="Freeform 32"/>
            <p:cNvSpPr/>
            <p:nvPr/>
          </p:nvSpPr>
          <p:spPr>
            <a:xfrm>
              <a:off x="0" y="0"/>
              <a:ext cx="3383280" cy="731520"/>
            </a:xfrm>
            <a:custGeom>
              <a:avLst/>
              <a:gdLst/>
              <a:ahLst/>
              <a:cxnLst/>
              <a:rect l="l" t="t" r="r" b="b"/>
              <a:pathLst>
                <a:path w="3383280" h="731520">
                  <a:moveTo>
                    <a:pt x="0" y="0"/>
                  </a:moveTo>
                  <a:lnTo>
                    <a:pt x="3383280" y="0"/>
                  </a:lnTo>
                  <a:lnTo>
                    <a:pt x="3383280" y="731520"/>
                  </a:lnTo>
                  <a:lnTo>
                    <a:pt x="0" y="731520"/>
                  </a:lnTo>
                  <a:close/>
                </a:path>
              </a:pathLst>
            </a:custGeom>
            <a:blipFill>
              <a:blip r:embed="rId3">
                <a:alphaModFix amt="0"/>
              </a:blip>
              <a:stretch>
                <a:fillRect t="-40118" b="-40118"/>
              </a:stretch>
            </a:blipFill>
          </p:spPr>
        </p:sp>
        <p:sp>
          <p:nvSpPr>
            <p:cNvPr id="33" name="TextBox 33"/>
            <p:cNvSpPr txBox="1"/>
            <p:nvPr/>
          </p:nvSpPr>
          <p:spPr>
            <a:xfrm>
              <a:off x="0" y="0"/>
              <a:ext cx="3383280" cy="731520"/>
            </a:xfrm>
            <a:prstGeom prst="rect">
              <a:avLst/>
            </a:prstGeom>
          </p:spPr>
          <p:txBody>
            <a:bodyPr lIns="0" tIns="0" rIns="0" bIns="0" rtlCol="0" anchor="ctr"/>
            <a:lstStyle/>
            <a:p>
              <a:pPr algn="l">
                <a:lnSpc>
                  <a:spcPts val="1889"/>
                </a:lnSpc>
              </a:pPr>
              <a:r>
                <a:rPr lang="en-US" sz="1575" b="1">
                  <a:solidFill>
                    <a:srgbClr val="26324A"/>
                  </a:solidFill>
                  <a:latin typeface="Cambria Bold"/>
                  <a:ea typeface="Cambria Bold"/>
                  <a:cs typeface="Cambria Bold"/>
                  <a:sym typeface="Cambria Bold"/>
                </a:rPr>
                <a:t>Worker accepts</a:t>
              </a:r>
            </a:p>
          </p:txBody>
        </p:sp>
      </p:grpSp>
      <p:grpSp>
        <p:nvGrpSpPr>
          <p:cNvPr id="34" name="Group 34"/>
          <p:cNvGrpSpPr/>
          <p:nvPr/>
        </p:nvGrpSpPr>
        <p:grpSpPr>
          <a:xfrm>
            <a:off x="5155661" y="5448686"/>
            <a:ext cx="5234209" cy="598195"/>
            <a:chOff x="0" y="0"/>
            <a:chExt cx="6400800" cy="731520"/>
          </a:xfrm>
        </p:grpSpPr>
        <p:sp>
          <p:nvSpPr>
            <p:cNvPr id="35" name="Freeform 35"/>
            <p:cNvSpPr/>
            <p:nvPr/>
          </p:nvSpPr>
          <p:spPr>
            <a:xfrm>
              <a:off x="0" y="0"/>
              <a:ext cx="6400800" cy="731520"/>
            </a:xfrm>
            <a:custGeom>
              <a:avLst/>
              <a:gdLst/>
              <a:ahLst/>
              <a:cxnLst/>
              <a:rect l="l" t="t" r="r" b="b"/>
              <a:pathLst>
                <a:path w="6400800" h="731520">
                  <a:moveTo>
                    <a:pt x="0" y="0"/>
                  </a:moveTo>
                  <a:lnTo>
                    <a:pt x="6400800" y="0"/>
                  </a:lnTo>
                  <a:lnTo>
                    <a:pt x="6400800" y="731520"/>
                  </a:lnTo>
                  <a:lnTo>
                    <a:pt x="0" y="731520"/>
                  </a:lnTo>
                  <a:close/>
                </a:path>
              </a:pathLst>
            </a:custGeom>
            <a:blipFill>
              <a:blip r:embed="rId3">
                <a:alphaModFix amt="0"/>
              </a:blip>
              <a:stretch>
                <a:fillRect t="-120494" b="-120494"/>
              </a:stretch>
            </a:blipFill>
          </p:spPr>
        </p:sp>
        <p:sp>
          <p:nvSpPr>
            <p:cNvPr id="36" name="TextBox 36"/>
            <p:cNvSpPr txBox="1"/>
            <p:nvPr/>
          </p:nvSpPr>
          <p:spPr>
            <a:xfrm>
              <a:off x="0" y="-28575"/>
              <a:ext cx="6400800" cy="760095"/>
            </a:xfrm>
            <a:prstGeom prst="rect">
              <a:avLst/>
            </a:prstGeom>
          </p:spPr>
          <p:txBody>
            <a:bodyPr lIns="0" tIns="0" rIns="0" bIns="0" rtlCol="0" anchor="ctr"/>
            <a:lstStyle/>
            <a:p>
              <a:pPr algn="l">
                <a:lnSpc>
                  <a:spcPts val="1674"/>
                </a:lnSpc>
              </a:pPr>
              <a:r>
                <a:rPr lang="en-US" sz="1395">
                  <a:solidFill>
                    <a:srgbClr val="5B6472"/>
                  </a:solidFill>
                  <a:latin typeface="Calibri (MS)"/>
                  <a:ea typeface="Calibri (MS)"/>
                  <a:cs typeface="Calibri (MS)"/>
                  <a:sym typeface="Calibri (MS)"/>
                </a:rPr>
                <a:t>The job is locked to a single worker.</a:t>
              </a:r>
            </a:p>
          </p:txBody>
        </p:sp>
      </p:grpSp>
      <p:grpSp>
        <p:nvGrpSpPr>
          <p:cNvPr id="37" name="Group 37"/>
          <p:cNvGrpSpPr/>
          <p:nvPr/>
        </p:nvGrpSpPr>
        <p:grpSpPr>
          <a:xfrm>
            <a:off x="2331720" y="6256250"/>
            <a:ext cx="538376" cy="538376"/>
            <a:chOff x="0" y="0"/>
            <a:chExt cx="658368" cy="658368"/>
          </a:xfrm>
        </p:grpSpPr>
        <p:sp>
          <p:nvSpPr>
            <p:cNvPr id="38" name="Freeform 38"/>
            <p:cNvSpPr/>
            <p:nvPr/>
          </p:nvSpPr>
          <p:spPr>
            <a:xfrm>
              <a:off x="0" y="0"/>
              <a:ext cx="658368" cy="658368"/>
            </a:xfrm>
            <a:custGeom>
              <a:avLst/>
              <a:gdLst/>
              <a:ahLst/>
              <a:cxnLst/>
              <a:rect l="l" t="t" r="r" b="b"/>
              <a:pathLst>
                <a:path w="658368" h="658368">
                  <a:moveTo>
                    <a:pt x="0" y="329184"/>
                  </a:moveTo>
                  <a:cubicBezTo>
                    <a:pt x="0" y="147320"/>
                    <a:pt x="147320" y="0"/>
                    <a:pt x="329184" y="0"/>
                  </a:cubicBezTo>
                  <a:cubicBezTo>
                    <a:pt x="511048" y="0"/>
                    <a:pt x="658368" y="147320"/>
                    <a:pt x="658368" y="329184"/>
                  </a:cubicBezTo>
                  <a:cubicBezTo>
                    <a:pt x="658368" y="511048"/>
                    <a:pt x="511048" y="658368"/>
                    <a:pt x="329184" y="658368"/>
                  </a:cubicBezTo>
                  <a:cubicBezTo>
                    <a:pt x="147320" y="658368"/>
                    <a:pt x="0" y="511048"/>
                    <a:pt x="0" y="329184"/>
                  </a:cubicBezTo>
                  <a:close/>
                </a:path>
              </a:pathLst>
            </a:custGeom>
            <a:solidFill>
              <a:srgbClr val="C8912E"/>
            </a:solidFill>
          </p:spPr>
        </p:sp>
      </p:grpSp>
      <p:grpSp>
        <p:nvGrpSpPr>
          <p:cNvPr id="39" name="Group 39"/>
          <p:cNvGrpSpPr/>
          <p:nvPr/>
        </p:nvGrpSpPr>
        <p:grpSpPr>
          <a:xfrm>
            <a:off x="2331720" y="6256250"/>
            <a:ext cx="538376" cy="538376"/>
            <a:chOff x="0" y="0"/>
            <a:chExt cx="658368" cy="658368"/>
          </a:xfrm>
        </p:grpSpPr>
        <p:sp>
          <p:nvSpPr>
            <p:cNvPr id="40" name="Freeform 40"/>
            <p:cNvSpPr/>
            <p:nvPr/>
          </p:nvSpPr>
          <p:spPr>
            <a:xfrm>
              <a:off x="0" y="0"/>
              <a:ext cx="658368" cy="658368"/>
            </a:xfrm>
            <a:custGeom>
              <a:avLst/>
              <a:gdLst/>
              <a:ahLst/>
              <a:cxnLst/>
              <a:rect l="l" t="t" r="r" b="b"/>
              <a:pathLst>
                <a:path w="658368" h="658368">
                  <a:moveTo>
                    <a:pt x="0" y="0"/>
                  </a:moveTo>
                  <a:lnTo>
                    <a:pt x="658368" y="0"/>
                  </a:lnTo>
                  <a:lnTo>
                    <a:pt x="658368" y="658368"/>
                  </a:lnTo>
                  <a:lnTo>
                    <a:pt x="0" y="658368"/>
                  </a:lnTo>
                  <a:close/>
                </a:path>
              </a:pathLst>
            </a:custGeom>
            <a:blipFill>
              <a:blip r:embed="rId3">
                <a:alphaModFix amt="0"/>
              </a:blip>
              <a:stretch>
                <a:fillRect l="-78303" r="-78303"/>
              </a:stretch>
            </a:blipFill>
          </p:spPr>
        </p:sp>
        <p:sp>
          <p:nvSpPr>
            <p:cNvPr id="41" name="TextBox 41"/>
            <p:cNvSpPr txBox="1"/>
            <p:nvPr/>
          </p:nvSpPr>
          <p:spPr>
            <a:xfrm>
              <a:off x="0" y="-38100"/>
              <a:ext cx="658368" cy="696468"/>
            </a:xfrm>
            <a:prstGeom prst="rect">
              <a:avLst/>
            </a:prstGeom>
          </p:spPr>
          <p:txBody>
            <a:bodyPr lIns="0" tIns="0" rIns="0" bIns="0" rtlCol="0" anchor="ctr"/>
            <a:lstStyle/>
            <a:p>
              <a:pPr algn="ctr">
                <a:lnSpc>
                  <a:spcPts val="1709"/>
                </a:lnSpc>
              </a:pPr>
              <a:r>
                <a:rPr lang="en-US" sz="1425" b="1">
                  <a:solidFill>
                    <a:srgbClr val="FFFFFF"/>
                  </a:solidFill>
                  <a:latin typeface="Calibri (MS) Bold"/>
                  <a:ea typeface="Calibri (MS) Bold"/>
                  <a:cs typeface="Calibri (MS) Bold"/>
                  <a:sym typeface="Calibri (MS) Bold"/>
                </a:rPr>
                <a:t>4a</a:t>
              </a:r>
            </a:p>
          </p:txBody>
        </p:sp>
      </p:grpSp>
      <p:grpSp>
        <p:nvGrpSpPr>
          <p:cNvPr id="42" name="Group 42"/>
          <p:cNvGrpSpPr/>
          <p:nvPr/>
        </p:nvGrpSpPr>
        <p:grpSpPr>
          <a:xfrm>
            <a:off x="3049554" y="6226340"/>
            <a:ext cx="2766653" cy="598195"/>
            <a:chOff x="0" y="0"/>
            <a:chExt cx="3383280" cy="731520"/>
          </a:xfrm>
        </p:grpSpPr>
        <p:sp>
          <p:nvSpPr>
            <p:cNvPr id="43" name="Freeform 43"/>
            <p:cNvSpPr/>
            <p:nvPr/>
          </p:nvSpPr>
          <p:spPr>
            <a:xfrm>
              <a:off x="0" y="0"/>
              <a:ext cx="3383280" cy="731520"/>
            </a:xfrm>
            <a:custGeom>
              <a:avLst/>
              <a:gdLst/>
              <a:ahLst/>
              <a:cxnLst/>
              <a:rect l="l" t="t" r="r" b="b"/>
              <a:pathLst>
                <a:path w="3383280" h="731520">
                  <a:moveTo>
                    <a:pt x="0" y="0"/>
                  </a:moveTo>
                  <a:lnTo>
                    <a:pt x="3383280" y="0"/>
                  </a:lnTo>
                  <a:lnTo>
                    <a:pt x="3383280" y="731520"/>
                  </a:lnTo>
                  <a:lnTo>
                    <a:pt x="0" y="731520"/>
                  </a:lnTo>
                  <a:close/>
                </a:path>
              </a:pathLst>
            </a:custGeom>
            <a:blipFill>
              <a:blip r:embed="rId3">
                <a:alphaModFix amt="0"/>
              </a:blip>
              <a:stretch>
                <a:fillRect t="-40118" b="-40118"/>
              </a:stretch>
            </a:blipFill>
          </p:spPr>
        </p:sp>
        <p:sp>
          <p:nvSpPr>
            <p:cNvPr id="44" name="TextBox 44"/>
            <p:cNvSpPr txBox="1"/>
            <p:nvPr/>
          </p:nvSpPr>
          <p:spPr>
            <a:xfrm>
              <a:off x="0" y="0"/>
              <a:ext cx="3383280" cy="731520"/>
            </a:xfrm>
            <a:prstGeom prst="rect">
              <a:avLst/>
            </a:prstGeom>
          </p:spPr>
          <p:txBody>
            <a:bodyPr lIns="0" tIns="0" rIns="0" bIns="0" rtlCol="0" anchor="ctr"/>
            <a:lstStyle/>
            <a:p>
              <a:pPr algn="l">
                <a:lnSpc>
                  <a:spcPts val="1889"/>
                </a:lnSpc>
              </a:pPr>
              <a:r>
                <a:rPr lang="en-US" sz="1575" b="1">
                  <a:solidFill>
                    <a:srgbClr val="26324A"/>
                  </a:solidFill>
                  <a:latin typeface="Cambria Bold"/>
                  <a:ea typeface="Cambria Bold"/>
                  <a:cs typeface="Cambria Bold"/>
                  <a:sym typeface="Cambria Bold"/>
                </a:rPr>
                <a:t>Success → Charge</a:t>
              </a:r>
            </a:p>
          </p:txBody>
        </p:sp>
      </p:grpSp>
      <p:grpSp>
        <p:nvGrpSpPr>
          <p:cNvPr id="45" name="Group 45"/>
          <p:cNvGrpSpPr/>
          <p:nvPr/>
        </p:nvGrpSpPr>
        <p:grpSpPr>
          <a:xfrm>
            <a:off x="5155661" y="6226340"/>
            <a:ext cx="5234209" cy="598195"/>
            <a:chOff x="0" y="0"/>
            <a:chExt cx="6400800" cy="731520"/>
          </a:xfrm>
        </p:grpSpPr>
        <p:sp>
          <p:nvSpPr>
            <p:cNvPr id="46" name="Freeform 46"/>
            <p:cNvSpPr/>
            <p:nvPr/>
          </p:nvSpPr>
          <p:spPr>
            <a:xfrm>
              <a:off x="0" y="0"/>
              <a:ext cx="6400800" cy="731520"/>
            </a:xfrm>
            <a:custGeom>
              <a:avLst/>
              <a:gdLst/>
              <a:ahLst/>
              <a:cxnLst/>
              <a:rect l="l" t="t" r="r" b="b"/>
              <a:pathLst>
                <a:path w="6400800" h="731520">
                  <a:moveTo>
                    <a:pt x="0" y="0"/>
                  </a:moveTo>
                  <a:lnTo>
                    <a:pt x="6400800" y="0"/>
                  </a:lnTo>
                  <a:lnTo>
                    <a:pt x="6400800" y="731520"/>
                  </a:lnTo>
                  <a:lnTo>
                    <a:pt x="0" y="731520"/>
                  </a:lnTo>
                  <a:close/>
                </a:path>
              </a:pathLst>
            </a:custGeom>
            <a:blipFill>
              <a:blip r:embed="rId3">
                <a:alphaModFix amt="0"/>
              </a:blip>
              <a:stretch>
                <a:fillRect t="-120494" b="-120494"/>
              </a:stretch>
            </a:blipFill>
          </p:spPr>
        </p:sp>
        <p:sp>
          <p:nvSpPr>
            <p:cNvPr id="47" name="TextBox 47"/>
            <p:cNvSpPr txBox="1"/>
            <p:nvPr/>
          </p:nvSpPr>
          <p:spPr>
            <a:xfrm>
              <a:off x="0" y="-28575"/>
              <a:ext cx="6400800" cy="760095"/>
            </a:xfrm>
            <a:prstGeom prst="rect">
              <a:avLst/>
            </a:prstGeom>
          </p:spPr>
          <p:txBody>
            <a:bodyPr lIns="0" tIns="0" rIns="0" bIns="0" rtlCol="0" anchor="ctr"/>
            <a:lstStyle/>
            <a:p>
              <a:pPr algn="l">
                <a:lnSpc>
                  <a:spcPts val="1674"/>
                </a:lnSpc>
              </a:pPr>
              <a:r>
                <a:rPr lang="en-US" sz="1395">
                  <a:solidFill>
                    <a:srgbClr val="5B6472"/>
                  </a:solidFill>
                  <a:latin typeface="Calibri (MS)"/>
                  <a:ea typeface="Calibri (MS)"/>
                  <a:cs typeface="Calibri (MS)"/>
                  <a:sym typeface="Calibri (MS)"/>
                </a:rPr>
                <a:t>Charged: worker +80%, platform +20%.</a:t>
              </a:r>
            </a:p>
          </p:txBody>
        </p:sp>
      </p:grpSp>
      <p:grpSp>
        <p:nvGrpSpPr>
          <p:cNvPr id="48" name="Group 48"/>
          <p:cNvGrpSpPr/>
          <p:nvPr/>
        </p:nvGrpSpPr>
        <p:grpSpPr>
          <a:xfrm>
            <a:off x="2331720" y="7033904"/>
            <a:ext cx="538376" cy="538376"/>
            <a:chOff x="0" y="0"/>
            <a:chExt cx="658368" cy="658368"/>
          </a:xfrm>
        </p:grpSpPr>
        <p:sp>
          <p:nvSpPr>
            <p:cNvPr id="49" name="Freeform 49"/>
            <p:cNvSpPr/>
            <p:nvPr/>
          </p:nvSpPr>
          <p:spPr>
            <a:xfrm>
              <a:off x="0" y="0"/>
              <a:ext cx="658368" cy="658368"/>
            </a:xfrm>
            <a:custGeom>
              <a:avLst/>
              <a:gdLst/>
              <a:ahLst/>
              <a:cxnLst/>
              <a:rect l="l" t="t" r="r" b="b"/>
              <a:pathLst>
                <a:path w="658368" h="658368">
                  <a:moveTo>
                    <a:pt x="0" y="329184"/>
                  </a:moveTo>
                  <a:cubicBezTo>
                    <a:pt x="0" y="147320"/>
                    <a:pt x="147320" y="0"/>
                    <a:pt x="329184" y="0"/>
                  </a:cubicBezTo>
                  <a:cubicBezTo>
                    <a:pt x="511048" y="0"/>
                    <a:pt x="658368" y="147320"/>
                    <a:pt x="658368" y="329184"/>
                  </a:cubicBezTo>
                  <a:cubicBezTo>
                    <a:pt x="658368" y="511048"/>
                    <a:pt x="511048" y="658368"/>
                    <a:pt x="329184" y="658368"/>
                  </a:cubicBezTo>
                  <a:cubicBezTo>
                    <a:pt x="147320" y="658368"/>
                    <a:pt x="0" y="511048"/>
                    <a:pt x="0" y="329184"/>
                  </a:cubicBezTo>
                  <a:close/>
                </a:path>
              </a:pathLst>
            </a:custGeom>
            <a:solidFill>
              <a:srgbClr val="C8912E"/>
            </a:solidFill>
          </p:spPr>
        </p:sp>
      </p:grpSp>
      <p:grpSp>
        <p:nvGrpSpPr>
          <p:cNvPr id="50" name="Group 50"/>
          <p:cNvGrpSpPr/>
          <p:nvPr/>
        </p:nvGrpSpPr>
        <p:grpSpPr>
          <a:xfrm>
            <a:off x="2331720" y="7033904"/>
            <a:ext cx="538376" cy="538376"/>
            <a:chOff x="0" y="0"/>
            <a:chExt cx="658368" cy="658368"/>
          </a:xfrm>
        </p:grpSpPr>
        <p:sp>
          <p:nvSpPr>
            <p:cNvPr id="51" name="Freeform 51"/>
            <p:cNvSpPr/>
            <p:nvPr/>
          </p:nvSpPr>
          <p:spPr>
            <a:xfrm>
              <a:off x="0" y="0"/>
              <a:ext cx="658368" cy="658368"/>
            </a:xfrm>
            <a:custGeom>
              <a:avLst/>
              <a:gdLst/>
              <a:ahLst/>
              <a:cxnLst/>
              <a:rect l="l" t="t" r="r" b="b"/>
              <a:pathLst>
                <a:path w="658368" h="658368">
                  <a:moveTo>
                    <a:pt x="0" y="0"/>
                  </a:moveTo>
                  <a:lnTo>
                    <a:pt x="658368" y="0"/>
                  </a:lnTo>
                  <a:lnTo>
                    <a:pt x="658368" y="658368"/>
                  </a:lnTo>
                  <a:lnTo>
                    <a:pt x="0" y="658368"/>
                  </a:lnTo>
                  <a:close/>
                </a:path>
              </a:pathLst>
            </a:custGeom>
            <a:blipFill>
              <a:blip r:embed="rId3">
                <a:alphaModFix amt="0"/>
              </a:blip>
              <a:stretch>
                <a:fillRect l="-78303" r="-78303"/>
              </a:stretch>
            </a:blipFill>
          </p:spPr>
        </p:sp>
        <p:sp>
          <p:nvSpPr>
            <p:cNvPr id="52" name="TextBox 52"/>
            <p:cNvSpPr txBox="1"/>
            <p:nvPr/>
          </p:nvSpPr>
          <p:spPr>
            <a:xfrm>
              <a:off x="0" y="-38100"/>
              <a:ext cx="658368" cy="696468"/>
            </a:xfrm>
            <a:prstGeom prst="rect">
              <a:avLst/>
            </a:prstGeom>
          </p:spPr>
          <p:txBody>
            <a:bodyPr lIns="0" tIns="0" rIns="0" bIns="0" rtlCol="0" anchor="ctr"/>
            <a:lstStyle/>
            <a:p>
              <a:pPr algn="ctr">
                <a:lnSpc>
                  <a:spcPts val="1709"/>
                </a:lnSpc>
              </a:pPr>
              <a:r>
                <a:rPr lang="en-US" sz="1425" b="1">
                  <a:solidFill>
                    <a:srgbClr val="FFFFFF"/>
                  </a:solidFill>
                  <a:latin typeface="Calibri (MS) Bold"/>
                  <a:ea typeface="Calibri (MS) Bold"/>
                  <a:cs typeface="Calibri (MS) Bold"/>
                  <a:sym typeface="Calibri (MS) Bold"/>
                </a:rPr>
                <a:t>4b</a:t>
              </a:r>
            </a:p>
          </p:txBody>
        </p:sp>
      </p:grpSp>
      <p:grpSp>
        <p:nvGrpSpPr>
          <p:cNvPr id="53" name="Group 53"/>
          <p:cNvGrpSpPr/>
          <p:nvPr/>
        </p:nvGrpSpPr>
        <p:grpSpPr>
          <a:xfrm>
            <a:off x="3049554" y="7003994"/>
            <a:ext cx="2766653" cy="598195"/>
            <a:chOff x="0" y="0"/>
            <a:chExt cx="3383280" cy="731520"/>
          </a:xfrm>
        </p:grpSpPr>
        <p:sp>
          <p:nvSpPr>
            <p:cNvPr id="54" name="Freeform 54"/>
            <p:cNvSpPr/>
            <p:nvPr/>
          </p:nvSpPr>
          <p:spPr>
            <a:xfrm>
              <a:off x="0" y="0"/>
              <a:ext cx="3383280" cy="731520"/>
            </a:xfrm>
            <a:custGeom>
              <a:avLst/>
              <a:gdLst/>
              <a:ahLst/>
              <a:cxnLst/>
              <a:rect l="l" t="t" r="r" b="b"/>
              <a:pathLst>
                <a:path w="3383280" h="731520">
                  <a:moveTo>
                    <a:pt x="0" y="0"/>
                  </a:moveTo>
                  <a:lnTo>
                    <a:pt x="3383280" y="0"/>
                  </a:lnTo>
                  <a:lnTo>
                    <a:pt x="3383280" y="731520"/>
                  </a:lnTo>
                  <a:lnTo>
                    <a:pt x="0" y="731520"/>
                  </a:lnTo>
                  <a:close/>
                </a:path>
              </a:pathLst>
            </a:custGeom>
            <a:blipFill>
              <a:blip r:embed="rId3">
                <a:alphaModFix amt="0"/>
              </a:blip>
              <a:stretch>
                <a:fillRect t="-40118" b="-40118"/>
              </a:stretch>
            </a:blipFill>
          </p:spPr>
        </p:sp>
        <p:sp>
          <p:nvSpPr>
            <p:cNvPr id="55" name="TextBox 55"/>
            <p:cNvSpPr txBox="1"/>
            <p:nvPr/>
          </p:nvSpPr>
          <p:spPr>
            <a:xfrm>
              <a:off x="0" y="0"/>
              <a:ext cx="3383280" cy="731520"/>
            </a:xfrm>
            <a:prstGeom prst="rect">
              <a:avLst/>
            </a:prstGeom>
          </p:spPr>
          <p:txBody>
            <a:bodyPr lIns="0" tIns="0" rIns="0" bIns="0" rtlCol="0" anchor="ctr"/>
            <a:lstStyle/>
            <a:p>
              <a:pPr algn="l">
                <a:lnSpc>
                  <a:spcPts val="1889"/>
                </a:lnSpc>
              </a:pPr>
              <a:r>
                <a:rPr lang="en-US" sz="1575" b="1">
                  <a:solidFill>
                    <a:srgbClr val="26324A"/>
                  </a:solidFill>
                  <a:latin typeface="Cambria Bold"/>
                  <a:ea typeface="Cambria Bold"/>
                  <a:cs typeface="Cambria Bold"/>
                  <a:sym typeface="Cambria Bold"/>
                </a:rPr>
                <a:t>Failure → Refund</a:t>
              </a:r>
            </a:p>
          </p:txBody>
        </p:sp>
      </p:grpSp>
      <p:grpSp>
        <p:nvGrpSpPr>
          <p:cNvPr id="56" name="Group 56"/>
          <p:cNvGrpSpPr/>
          <p:nvPr/>
        </p:nvGrpSpPr>
        <p:grpSpPr>
          <a:xfrm>
            <a:off x="5155661" y="7003994"/>
            <a:ext cx="5234209" cy="598195"/>
            <a:chOff x="0" y="0"/>
            <a:chExt cx="6400800" cy="731520"/>
          </a:xfrm>
        </p:grpSpPr>
        <p:sp>
          <p:nvSpPr>
            <p:cNvPr id="57" name="Freeform 57"/>
            <p:cNvSpPr/>
            <p:nvPr/>
          </p:nvSpPr>
          <p:spPr>
            <a:xfrm>
              <a:off x="0" y="0"/>
              <a:ext cx="6400800" cy="731520"/>
            </a:xfrm>
            <a:custGeom>
              <a:avLst/>
              <a:gdLst/>
              <a:ahLst/>
              <a:cxnLst/>
              <a:rect l="l" t="t" r="r" b="b"/>
              <a:pathLst>
                <a:path w="6400800" h="731520">
                  <a:moveTo>
                    <a:pt x="0" y="0"/>
                  </a:moveTo>
                  <a:lnTo>
                    <a:pt x="6400800" y="0"/>
                  </a:lnTo>
                  <a:lnTo>
                    <a:pt x="6400800" y="731520"/>
                  </a:lnTo>
                  <a:lnTo>
                    <a:pt x="0" y="731520"/>
                  </a:lnTo>
                  <a:close/>
                </a:path>
              </a:pathLst>
            </a:custGeom>
            <a:blipFill>
              <a:blip r:embed="rId3">
                <a:alphaModFix amt="0"/>
              </a:blip>
              <a:stretch>
                <a:fillRect t="-120494" b="-120494"/>
              </a:stretch>
            </a:blipFill>
          </p:spPr>
        </p:sp>
        <p:sp>
          <p:nvSpPr>
            <p:cNvPr id="58" name="TextBox 58"/>
            <p:cNvSpPr txBox="1"/>
            <p:nvPr/>
          </p:nvSpPr>
          <p:spPr>
            <a:xfrm>
              <a:off x="0" y="-28575"/>
              <a:ext cx="6400800" cy="760095"/>
            </a:xfrm>
            <a:prstGeom prst="rect">
              <a:avLst/>
            </a:prstGeom>
          </p:spPr>
          <p:txBody>
            <a:bodyPr lIns="0" tIns="0" rIns="0" bIns="0" rtlCol="0" anchor="ctr"/>
            <a:lstStyle/>
            <a:p>
              <a:pPr algn="l">
                <a:lnSpc>
                  <a:spcPts val="1674"/>
                </a:lnSpc>
              </a:pPr>
              <a:r>
                <a:rPr lang="en-US" sz="1395">
                  <a:solidFill>
                    <a:srgbClr val="5B6472"/>
                  </a:solidFill>
                  <a:latin typeface="Calibri (MS)"/>
                  <a:ea typeface="Calibri (MS)"/>
                  <a:cs typeface="Calibri (MS)"/>
                  <a:sym typeface="Calibri (MS)"/>
                </a:rPr>
                <a:t>Reservation released; full refund to wallet.</a:t>
              </a:r>
            </a:p>
          </p:txBody>
        </p:sp>
      </p:grpSp>
      <p:grpSp>
        <p:nvGrpSpPr>
          <p:cNvPr id="59" name="Group 59"/>
          <p:cNvGrpSpPr/>
          <p:nvPr/>
        </p:nvGrpSpPr>
        <p:grpSpPr>
          <a:xfrm>
            <a:off x="2331720" y="7964805"/>
            <a:ext cx="7955280" cy="548640"/>
            <a:chOff x="0" y="0"/>
            <a:chExt cx="10607040" cy="731520"/>
          </a:xfrm>
        </p:grpSpPr>
        <p:sp>
          <p:nvSpPr>
            <p:cNvPr id="60" name="Freeform 60"/>
            <p:cNvSpPr/>
            <p:nvPr/>
          </p:nvSpPr>
          <p:spPr>
            <a:xfrm>
              <a:off x="0" y="0"/>
              <a:ext cx="10607040" cy="731520"/>
            </a:xfrm>
            <a:custGeom>
              <a:avLst/>
              <a:gdLst/>
              <a:ahLst/>
              <a:cxnLst/>
              <a:rect l="l" t="t" r="r" b="b"/>
              <a:pathLst>
                <a:path w="10607040" h="731520">
                  <a:moveTo>
                    <a:pt x="0" y="0"/>
                  </a:moveTo>
                  <a:lnTo>
                    <a:pt x="10607040" y="0"/>
                  </a:lnTo>
                  <a:lnTo>
                    <a:pt x="10607040" y="731520"/>
                  </a:lnTo>
                  <a:lnTo>
                    <a:pt x="0" y="731520"/>
                  </a:lnTo>
                  <a:close/>
                </a:path>
              </a:pathLst>
            </a:custGeom>
            <a:blipFill>
              <a:blip r:embed="rId3">
                <a:alphaModFix amt="0"/>
              </a:blip>
              <a:stretch>
                <a:fillRect t="-232533" b="-232533"/>
              </a:stretch>
            </a:blipFill>
          </p:spPr>
        </p:sp>
        <p:sp>
          <p:nvSpPr>
            <p:cNvPr id="61" name="TextBox 61"/>
            <p:cNvSpPr txBox="1"/>
            <p:nvPr/>
          </p:nvSpPr>
          <p:spPr>
            <a:xfrm>
              <a:off x="0" y="-28575"/>
              <a:ext cx="10607040" cy="760095"/>
            </a:xfrm>
            <a:prstGeom prst="rect">
              <a:avLst/>
            </a:prstGeom>
          </p:spPr>
          <p:txBody>
            <a:bodyPr lIns="0" tIns="0" rIns="0" bIns="0" rtlCol="0" anchor="ctr"/>
            <a:lstStyle/>
            <a:p>
              <a:pPr algn="l">
                <a:lnSpc>
                  <a:spcPts val="1764"/>
                </a:lnSpc>
              </a:pPr>
              <a:r>
                <a:rPr lang="en-US" sz="1470" i="1">
                  <a:solidFill>
                    <a:srgbClr val="26324A"/>
                  </a:solidFill>
                  <a:latin typeface="Calibri (MS) Italics"/>
                  <a:ea typeface="Calibri (MS) Italics"/>
                  <a:cs typeface="Calibri (MS) Italics"/>
                  <a:sym typeface="Calibri (MS) Italics"/>
                </a:rPr>
                <a:t>Workers can request a payout to their bank account via Stripe Connect any time.</a:t>
              </a:r>
            </a:p>
          </p:txBody>
        </p:sp>
      </p:grpSp>
      <p:grpSp>
        <p:nvGrpSpPr>
          <p:cNvPr id="62" name="Group 62"/>
          <p:cNvGrpSpPr/>
          <p:nvPr/>
        </p:nvGrpSpPr>
        <p:grpSpPr>
          <a:xfrm>
            <a:off x="9600372" y="3828730"/>
            <a:ext cx="6346555" cy="4512502"/>
            <a:chOff x="0" y="0"/>
            <a:chExt cx="8462073" cy="6016670"/>
          </a:xfrm>
        </p:grpSpPr>
        <p:sp>
          <p:nvSpPr>
            <p:cNvPr id="63" name="Freeform 63"/>
            <p:cNvSpPr/>
            <p:nvPr/>
          </p:nvSpPr>
          <p:spPr>
            <a:xfrm>
              <a:off x="0" y="0"/>
              <a:ext cx="8462073" cy="6016670"/>
            </a:xfrm>
            <a:custGeom>
              <a:avLst/>
              <a:gdLst/>
              <a:ahLst/>
              <a:cxnLst/>
              <a:rect l="l" t="t" r="r" b="b"/>
              <a:pathLst>
                <a:path w="8462073" h="6016670">
                  <a:moveTo>
                    <a:pt x="0" y="105240"/>
                  </a:moveTo>
                  <a:cubicBezTo>
                    <a:pt x="0" y="47155"/>
                    <a:pt x="67157" y="0"/>
                    <a:pt x="149880" y="0"/>
                  </a:cubicBezTo>
                  <a:lnTo>
                    <a:pt x="8312193" y="0"/>
                  </a:lnTo>
                  <a:cubicBezTo>
                    <a:pt x="8395065" y="0"/>
                    <a:pt x="8462073" y="47155"/>
                    <a:pt x="8462073" y="105240"/>
                  </a:cubicBezTo>
                  <a:lnTo>
                    <a:pt x="8462073" y="5911430"/>
                  </a:lnTo>
                  <a:cubicBezTo>
                    <a:pt x="8462073" y="5969619"/>
                    <a:pt x="8394916" y="6016670"/>
                    <a:pt x="8312193" y="6016670"/>
                  </a:cubicBezTo>
                  <a:lnTo>
                    <a:pt x="149880" y="6016670"/>
                  </a:lnTo>
                  <a:cubicBezTo>
                    <a:pt x="67157" y="6016670"/>
                    <a:pt x="0" y="5969515"/>
                    <a:pt x="0" y="5911430"/>
                  </a:cubicBezTo>
                  <a:close/>
                </a:path>
              </a:pathLst>
            </a:custGeom>
            <a:solidFill>
              <a:srgbClr val="F1E7D4"/>
            </a:solidFill>
            <a:ln w="47625" cap="sq">
              <a:solidFill>
                <a:srgbClr val="E9DCC8"/>
              </a:solidFill>
              <a:prstDash val="solid"/>
              <a:miter/>
            </a:ln>
          </p:spPr>
        </p:sp>
      </p:grpSp>
      <p:sp>
        <p:nvSpPr>
          <p:cNvPr id="64" name="Freeform 64"/>
          <p:cNvSpPr/>
          <p:nvPr/>
        </p:nvSpPr>
        <p:spPr>
          <a:xfrm>
            <a:off x="9793320" y="4193629"/>
            <a:ext cx="6022419" cy="3743696"/>
          </a:xfrm>
          <a:custGeom>
            <a:avLst/>
            <a:gdLst/>
            <a:ahLst/>
            <a:cxnLst/>
            <a:rect l="l" t="t" r="r" b="b"/>
            <a:pathLst>
              <a:path w="6022419" h="3743696">
                <a:moveTo>
                  <a:pt x="0" y="0"/>
                </a:moveTo>
                <a:lnTo>
                  <a:pt x="6022419" y="0"/>
                </a:lnTo>
                <a:lnTo>
                  <a:pt x="6022419" y="3743696"/>
                </a:lnTo>
                <a:lnTo>
                  <a:pt x="0" y="3743696"/>
                </a:lnTo>
                <a:lnTo>
                  <a:pt x="0" y="0"/>
                </a:lnTo>
                <a:close/>
              </a:path>
            </a:pathLst>
          </a:custGeom>
          <a:blipFill>
            <a:blip r:embed="rId4"/>
            <a:stretch>
              <a:fillRect l="-392" t="-11343" r="-4141" b="-764"/>
            </a:stretch>
          </a:blipFill>
        </p:spPr>
      </p:sp>
      <p:sp>
        <p:nvSpPr>
          <p:cNvPr id="65" name="TextBox 65"/>
          <p:cNvSpPr txBox="1"/>
          <p:nvPr/>
        </p:nvSpPr>
        <p:spPr>
          <a:xfrm>
            <a:off x="6302478" y="898948"/>
            <a:ext cx="5673328" cy="580390"/>
          </a:xfrm>
          <a:prstGeom prst="rect">
            <a:avLst/>
          </a:prstGeom>
        </p:spPr>
        <p:txBody>
          <a:bodyPr wrap="square" lIns="0" tIns="0" rIns="0" bIns="0" rtlCol="0" anchor="t">
            <a:spAutoFit/>
          </a:bodyPr>
          <a:lstStyle/>
          <a:p>
            <a:pPr algn="ctr">
              <a:lnSpc>
                <a:spcPts val="4759"/>
              </a:lnSpc>
              <a:spcBef>
                <a:spcPct val="0"/>
              </a:spcBef>
            </a:pPr>
            <a:r>
              <a:rPr lang="en-US" sz="3399" b="1" dirty="0">
                <a:solidFill>
                  <a:srgbClr val="000000"/>
                </a:solidFill>
                <a:latin typeface="Canva Sans Bold"/>
                <a:ea typeface="Canva Sans Bold"/>
                <a:cs typeface="Canva Sans Bold"/>
                <a:sym typeface="Canva Sans Bold"/>
              </a:rPr>
              <a:t>Payment &amp; wallet system</a:t>
            </a:r>
          </a:p>
        </p:txBody>
      </p:sp>
      <p:sp>
        <p:nvSpPr>
          <p:cNvPr id="66" name="TextBox 66"/>
          <p:cNvSpPr txBox="1"/>
          <p:nvPr/>
        </p:nvSpPr>
        <p:spPr>
          <a:xfrm>
            <a:off x="2331720" y="2137389"/>
            <a:ext cx="13615207" cy="1217759"/>
          </a:xfrm>
          <a:prstGeom prst="rect">
            <a:avLst/>
          </a:prstGeom>
        </p:spPr>
        <p:txBody>
          <a:bodyPr lIns="0" tIns="0" rIns="0" bIns="0" rtlCol="0" anchor="t">
            <a:spAutoFit/>
          </a:bodyPr>
          <a:lstStyle/>
          <a:p>
            <a:pPr algn="just">
              <a:lnSpc>
                <a:spcPts val="3229"/>
              </a:lnSpc>
              <a:spcBef>
                <a:spcPct val="0"/>
              </a:spcBef>
            </a:pPr>
            <a:r>
              <a:rPr lang="en-US" sz="2306">
                <a:solidFill>
                  <a:srgbClr val="000000"/>
                </a:solidFill>
                <a:latin typeface="Canva Sans"/>
                <a:ea typeface="Canva Sans"/>
                <a:cs typeface="Canva Sans"/>
                <a:sym typeface="Canva Sans"/>
              </a:rPr>
              <a:t>Every job on DTrain is priced automatically and paid for safely. An AI-assisted engine scores each job's complexity and sets a fair flat price — then a reserve-and-charge system built on Stripe makes sure no one pays until training actually finishes.</a:t>
            </a:r>
          </a:p>
        </p:txBody>
      </p:sp>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858" y="0"/>
            <a:ext cx="18283142" cy="10296525"/>
            <a:chOff x="0" y="0"/>
            <a:chExt cx="24377523" cy="13728700"/>
          </a:xfrm>
        </p:grpSpPr>
        <p:sp>
          <p:nvSpPr>
            <p:cNvPr id="3" name="Freeform 3"/>
            <p:cNvSpPr/>
            <p:nvPr/>
          </p:nvSpPr>
          <p:spPr>
            <a:xfrm>
              <a:off x="0" y="0"/>
              <a:ext cx="24377523" cy="13728700"/>
            </a:xfrm>
            <a:custGeom>
              <a:avLst/>
              <a:gdLst/>
              <a:ahLst/>
              <a:cxnLst/>
              <a:rect l="l" t="t" r="r" b="b"/>
              <a:pathLst>
                <a:path w="24377523" h="13728700">
                  <a:moveTo>
                    <a:pt x="0" y="0"/>
                  </a:moveTo>
                  <a:lnTo>
                    <a:pt x="24377523" y="0"/>
                  </a:lnTo>
                  <a:lnTo>
                    <a:pt x="24377523" y="13728700"/>
                  </a:lnTo>
                  <a:lnTo>
                    <a:pt x="0" y="13728700"/>
                  </a:lnTo>
                  <a:lnTo>
                    <a:pt x="0" y="0"/>
                  </a:lnTo>
                  <a:close/>
                </a:path>
              </a:pathLst>
            </a:custGeom>
            <a:blipFill>
              <a:blip r:embed="rId2"/>
              <a:stretch>
                <a:fillRect l="-33" r="-33"/>
              </a:stretch>
            </a:blipFill>
          </p:spPr>
        </p:sp>
      </p:grpSp>
      <p:sp>
        <p:nvSpPr>
          <p:cNvPr id="4" name="TextBox 4"/>
          <p:cNvSpPr txBox="1"/>
          <p:nvPr/>
        </p:nvSpPr>
        <p:spPr>
          <a:xfrm>
            <a:off x="7215009" y="952500"/>
            <a:ext cx="3857982" cy="580390"/>
          </a:xfrm>
          <a:prstGeom prst="rect">
            <a:avLst/>
          </a:prstGeom>
        </p:spPr>
        <p:txBody>
          <a:bodyPr wrap="square" lIns="0" tIns="0" rIns="0" bIns="0" rtlCol="0" anchor="t">
            <a:spAutoFit/>
          </a:bodyPr>
          <a:lstStyle/>
          <a:p>
            <a:pPr algn="ctr">
              <a:lnSpc>
                <a:spcPts val="4759"/>
              </a:lnSpc>
              <a:spcBef>
                <a:spcPct val="0"/>
              </a:spcBef>
            </a:pPr>
            <a:r>
              <a:rPr lang="en-US" sz="3399" b="1" dirty="0">
                <a:solidFill>
                  <a:srgbClr val="000000"/>
                </a:solidFill>
                <a:latin typeface="Canva Sans Bold"/>
                <a:ea typeface="Canva Sans Bold"/>
                <a:cs typeface="Canva Sans Bold"/>
                <a:sym typeface="Canva Sans Bold"/>
              </a:rPr>
              <a:t>Technology Used</a:t>
            </a:r>
          </a:p>
        </p:txBody>
      </p:sp>
      <p:graphicFrame>
        <p:nvGraphicFramePr>
          <p:cNvPr id="5" name="Table 5"/>
          <p:cNvGraphicFramePr>
            <a:graphicFrameLocks noGrp="1"/>
          </p:cNvGraphicFramePr>
          <p:nvPr/>
        </p:nvGraphicFramePr>
        <p:xfrm>
          <a:off x="1978092" y="1882406"/>
          <a:ext cx="14341342" cy="6391275"/>
        </p:xfrm>
        <a:graphic>
          <a:graphicData uri="http://schemas.openxmlformats.org/drawingml/2006/table">
            <a:tbl>
              <a:tblPr/>
              <a:tblGrid>
                <a:gridCol w="2860103">
                  <a:extLst>
                    <a:ext uri="{9D8B030D-6E8A-4147-A177-3AD203B41FA5}">
                      <a16:colId xmlns:a16="http://schemas.microsoft.com/office/drawing/2014/main" val="20000"/>
                    </a:ext>
                  </a:extLst>
                </a:gridCol>
                <a:gridCol w="5228746">
                  <a:extLst>
                    <a:ext uri="{9D8B030D-6E8A-4147-A177-3AD203B41FA5}">
                      <a16:colId xmlns:a16="http://schemas.microsoft.com/office/drawing/2014/main" val="20001"/>
                    </a:ext>
                  </a:extLst>
                </a:gridCol>
                <a:gridCol w="6252493">
                  <a:extLst>
                    <a:ext uri="{9D8B030D-6E8A-4147-A177-3AD203B41FA5}">
                      <a16:colId xmlns:a16="http://schemas.microsoft.com/office/drawing/2014/main" val="20002"/>
                    </a:ext>
                  </a:extLst>
                </a:gridCol>
              </a:tblGrid>
              <a:tr h="729335">
                <a:tc>
                  <a:txBody>
                    <a:bodyPr/>
                    <a:lstStyle/>
                    <a:p>
                      <a:pPr algn="just">
                        <a:lnSpc>
                          <a:spcPts val="3219"/>
                        </a:lnSpc>
                        <a:defRPr/>
                      </a:pPr>
                      <a:r>
                        <a:rPr lang="en-US" sz="2299" b="1">
                          <a:solidFill>
                            <a:srgbClr val="C8912E"/>
                          </a:solidFill>
                          <a:latin typeface="Arimo Bold"/>
                          <a:ea typeface="Arimo Bold"/>
                          <a:cs typeface="Arimo Bold"/>
                          <a:sym typeface="Arimo Bold"/>
                        </a:rPr>
                        <a:t>Component</a:t>
                      </a:r>
                      <a:endParaRPr lang="en-US" sz="1100"/>
                    </a:p>
                  </a:txBody>
                  <a:tcPr marL="104775" marR="104775" marT="104775" marB="104775" anchor="ctr">
                    <a:lnL w="47625" cap="flat" cmpd="sng" algn="ctr">
                      <a:solidFill>
                        <a:srgbClr val="E9DCC8"/>
                      </a:solidFill>
                      <a:prstDash val="solid"/>
                      <a:round/>
                      <a:headEnd type="none" w="med" len="med"/>
                      <a:tailEnd type="none" w="med" len="med"/>
                    </a:lnL>
                    <a:lnR w="47625" cap="flat" cmpd="sng" algn="ctr">
                      <a:solidFill>
                        <a:srgbClr val="E9DCC8"/>
                      </a:solidFill>
                      <a:prstDash val="solid"/>
                      <a:round/>
                      <a:headEnd type="none" w="med" len="med"/>
                      <a:tailEnd type="none" w="med" len="med"/>
                    </a:lnR>
                    <a:lnT w="47625" cap="flat" cmpd="sng" algn="ctr">
                      <a:solidFill>
                        <a:srgbClr val="E9DCC8"/>
                      </a:solidFill>
                      <a:prstDash val="solid"/>
                      <a:round/>
                      <a:headEnd type="none" w="med" len="med"/>
                      <a:tailEnd type="none" w="med" len="med"/>
                    </a:lnT>
                    <a:lnB w="47625" cap="flat" cmpd="sng" algn="ctr">
                      <a:solidFill>
                        <a:srgbClr val="E9DCC8"/>
                      </a:solidFill>
                      <a:prstDash val="solid"/>
                      <a:round/>
                      <a:headEnd type="none" w="med" len="med"/>
                      <a:tailEnd type="none" w="med" len="med"/>
                    </a:lnB>
                    <a:solidFill>
                      <a:srgbClr val="F1E6D3"/>
                    </a:solidFill>
                  </a:tcPr>
                </a:tc>
                <a:tc>
                  <a:txBody>
                    <a:bodyPr/>
                    <a:lstStyle/>
                    <a:p>
                      <a:pPr algn="just">
                        <a:lnSpc>
                          <a:spcPts val="3219"/>
                        </a:lnSpc>
                        <a:defRPr/>
                      </a:pPr>
                      <a:r>
                        <a:rPr lang="en-US" sz="2299" b="1">
                          <a:solidFill>
                            <a:srgbClr val="C8912E"/>
                          </a:solidFill>
                          <a:latin typeface="Canva Sans Bold"/>
                          <a:ea typeface="Canva Sans Bold"/>
                          <a:cs typeface="Canva Sans Bold"/>
                          <a:sym typeface="Canva Sans Bold"/>
                        </a:rPr>
                        <a:t>Technology</a:t>
                      </a:r>
                      <a:endParaRPr lang="en-US" sz="1100"/>
                    </a:p>
                  </a:txBody>
                  <a:tcPr marL="104775" marR="104775" marT="104775" marB="104775" anchor="ctr">
                    <a:lnL w="47625" cap="flat" cmpd="sng" algn="ctr">
                      <a:solidFill>
                        <a:srgbClr val="E9DCC8"/>
                      </a:solidFill>
                      <a:prstDash val="solid"/>
                      <a:round/>
                      <a:headEnd type="none" w="med" len="med"/>
                      <a:tailEnd type="none" w="med" len="med"/>
                    </a:lnL>
                    <a:lnR w="47625" cap="flat" cmpd="sng" algn="ctr">
                      <a:solidFill>
                        <a:srgbClr val="E9DCC8"/>
                      </a:solidFill>
                      <a:prstDash val="solid"/>
                      <a:round/>
                      <a:headEnd type="none" w="med" len="med"/>
                      <a:tailEnd type="none" w="med" len="med"/>
                    </a:lnR>
                    <a:lnT w="47625" cap="flat" cmpd="sng" algn="ctr">
                      <a:solidFill>
                        <a:srgbClr val="E9DCC8"/>
                      </a:solidFill>
                      <a:prstDash val="solid"/>
                      <a:round/>
                      <a:headEnd type="none" w="med" len="med"/>
                      <a:tailEnd type="none" w="med" len="med"/>
                    </a:lnT>
                    <a:lnB w="47625" cap="flat" cmpd="sng" algn="ctr">
                      <a:solidFill>
                        <a:srgbClr val="E9DCC8"/>
                      </a:solidFill>
                      <a:prstDash val="solid"/>
                      <a:round/>
                      <a:headEnd type="none" w="med" len="med"/>
                      <a:tailEnd type="none" w="med" len="med"/>
                    </a:lnB>
                    <a:solidFill>
                      <a:srgbClr val="F1E6D3"/>
                    </a:solidFill>
                  </a:tcPr>
                </a:tc>
                <a:tc>
                  <a:txBody>
                    <a:bodyPr/>
                    <a:lstStyle/>
                    <a:p>
                      <a:pPr algn="just">
                        <a:lnSpc>
                          <a:spcPts val="3219"/>
                        </a:lnSpc>
                        <a:defRPr/>
                      </a:pPr>
                      <a:r>
                        <a:rPr lang="en-US" sz="2299" b="1">
                          <a:solidFill>
                            <a:srgbClr val="C8912E"/>
                          </a:solidFill>
                          <a:latin typeface="Canva Sans Bold"/>
                          <a:ea typeface="Canva Sans Bold"/>
                          <a:cs typeface="Canva Sans Bold"/>
                          <a:sym typeface="Canva Sans Bold"/>
                        </a:rPr>
                        <a:t>Purpose</a:t>
                      </a:r>
                      <a:endParaRPr lang="en-US" sz="1100"/>
                    </a:p>
                  </a:txBody>
                  <a:tcPr marL="104775" marR="104775" marT="104775" marB="104775" anchor="ctr">
                    <a:lnL w="47625" cap="flat" cmpd="sng" algn="ctr">
                      <a:solidFill>
                        <a:srgbClr val="E9DCC8"/>
                      </a:solidFill>
                      <a:prstDash val="solid"/>
                      <a:round/>
                      <a:headEnd type="none" w="med" len="med"/>
                      <a:tailEnd type="none" w="med" len="med"/>
                    </a:lnL>
                    <a:lnR w="47625" cap="flat" cmpd="sng" algn="ctr">
                      <a:solidFill>
                        <a:srgbClr val="E9DCC8"/>
                      </a:solidFill>
                      <a:prstDash val="solid"/>
                      <a:round/>
                      <a:headEnd type="none" w="med" len="med"/>
                      <a:tailEnd type="none" w="med" len="med"/>
                    </a:lnR>
                    <a:lnT w="47625" cap="flat" cmpd="sng" algn="ctr">
                      <a:solidFill>
                        <a:srgbClr val="E9DCC8"/>
                      </a:solidFill>
                      <a:prstDash val="solid"/>
                      <a:round/>
                      <a:headEnd type="none" w="med" len="med"/>
                      <a:tailEnd type="none" w="med" len="med"/>
                    </a:lnT>
                    <a:lnB w="47625" cap="flat" cmpd="sng" algn="ctr">
                      <a:solidFill>
                        <a:srgbClr val="E9DCC8"/>
                      </a:solidFill>
                      <a:prstDash val="solid"/>
                      <a:round/>
                      <a:headEnd type="none" w="med" len="med"/>
                      <a:tailEnd type="none" w="med" len="med"/>
                    </a:lnB>
                    <a:solidFill>
                      <a:srgbClr val="F1E6D3"/>
                    </a:solidFill>
                  </a:tcPr>
                </a:tc>
                <a:extLst>
                  <a:ext uri="{0D108BD9-81ED-4DB2-BD59-A6C34878D82A}">
                    <a16:rowId xmlns:a16="http://schemas.microsoft.com/office/drawing/2014/main" val="10000"/>
                  </a:ext>
                </a:extLst>
              </a:tr>
              <a:tr h="566194">
                <a:tc>
                  <a:txBody>
                    <a:bodyPr/>
                    <a:lstStyle/>
                    <a:p>
                      <a:pPr algn="just">
                        <a:lnSpc>
                          <a:spcPts val="2100"/>
                        </a:lnSpc>
                        <a:defRPr/>
                      </a:pPr>
                      <a:r>
                        <a:rPr lang="en-US" sz="1500" b="1">
                          <a:solidFill>
                            <a:srgbClr val="000000"/>
                          </a:solidFill>
                          <a:latin typeface="Canva Sans Bold"/>
                          <a:ea typeface="Canva Sans Bold"/>
                          <a:cs typeface="Canva Sans Bold"/>
                          <a:sym typeface="Canva Sans Bold"/>
                        </a:rPr>
                        <a:t>Frontend</a:t>
                      </a:r>
                      <a:endParaRPr lang="en-US" sz="1100"/>
                    </a:p>
                  </a:txBody>
                  <a:tcPr marL="104775" marR="104775" marT="104775" marB="104775" anchor="ctr">
                    <a:lnL w="47625" cap="flat" cmpd="sng" algn="ctr">
                      <a:solidFill>
                        <a:srgbClr val="E9DCC8"/>
                      </a:solidFill>
                      <a:prstDash val="solid"/>
                      <a:round/>
                      <a:headEnd type="none" w="med" len="med"/>
                      <a:tailEnd type="none" w="med" len="med"/>
                    </a:lnL>
                    <a:lnR w="47625" cap="flat" cmpd="sng" algn="ctr">
                      <a:solidFill>
                        <a:srgbClr val="E9DCC8"/>
                      </a:solidFill>
                      <a:prstDash val="solid"/>
                      <a:round/>
                      <a:headEnd type="none" w="med" len="med"/>
                      <a:tailEnd type="none" w="med" len="med"/>
                    </a:lnR>
                    <a:lnT w="47625" cap="flat" cmpd="sng" algn="ctr">
                      <a:solidFill>
                        <a:srgbClr val="E9DCC8"/>
                      </a:solidFill>
                      <a:prstDash val="solid"/>
                      <a:round/>
                      <a:headEnd type="none" w="med" len="med"/>
                      <a:tailEnd type="none" w="med" len="med"/>
                    </a:lnT>
                    <a:lnB w="47625" cap="flat" cmpd="sng" algn="ctr">
                      <a:solidFill>
                        <a:srgbClr val="E9DCC8"/>
                      </a:solidFill>
                      <a:prstDash val="solid"/>
                      <a:round/>
                      <a:headEnd type="none" w="med" len="med"/>
                      <a:tailEnd type="none" w="med" len="med"/>
                    </a:lnB>
                  </a:tcPr>
                </a:tc>
                <a:tc>
                  <a:txBody>
                    <a:bodyPr/>
                    <a:lstStyle/>
                    <a:p>
                      <a:pPr algn="just">
                        <a:lnSpc>
                          <a:spcPts val="2100"/>
                        </a:lnSpc>
                        <a:defRPr/>
                      </a:pPr>
                      <a:r>
                        <a:rPr lang="en-US" sz="1500">
                          <a:solidFill>
                            <a:srgbClr val="000000"/>
                          </a:solidFill>
                          <a:latin typeface="Canva Sans"/>
                          <a:ea typeface="Canva Sans"/>
                          <a:cs typeface="Canva Sans"/>
                          <a:sym typeface="Canva Sans"/>
                        </a:rPr>
                        <a:t>React 18, TypeScript, Vite, Tailwind</a:t>
                      </a:r>
                      <a:endParaRPr lang="en-US" sz="1100"/>
                    </a:p>
                  </a:txBody>
                  <a:tcPr marL="104775" marR="104775" marT="104775" marB="104775" anchor="ctr">
                    <a:lnL w="47625" cap="flat" cmpd="sng" algn="ctr">
                      <a:solidFill>
                        <a:srgbClr val="E9DCC8"/>
                      </a:solidFill>
                      <a:prstDash val="solid"/>
                      <a:round/>
                      <a:headEnd type="none" w="med" len="med"/>
                      <a:tailEnd type="none" w="med" len="med"/>
                    </a:lnL>
                    <a:lnR w="47625" cap="flat" cmpd="sng" algn="ctr">
                      <a:solidFill>
                        <a:srgbClr val="E9DCC8"/>
                      </a:solidFill>
                      <a:prstDash val="solid"/>
                      <a:round/>
                      <a:headEnd type="none" w="med" len="med"/>
                      <a:tailEnd type="none" w="med" len="med"/>
                    </a:lnR>
                    <a:lnT w="47625" cap="flat" cmpd="sng" algn="ctr">
                      <a:solidFill>
                        <a:srgbClr val="E9DCC8"/>
                      </a:solidFill>
                      <a:prstDash val="solid"/>
                      <a:round/>
                      <a:headEnd type="none" w="med" len="med"/>
                      <a:tailEnd type="none" w="med" len="med"/>
                    </a:lnT>
                    <a:lnB w="47625" cap="flat" cmpd="sng" algn="ctr">
                      <a:solidFill>
                        <a:srgbClr val="E9DCC8"/>
                      </a:solidFill>
                      <a:prstDash val="solid"/>
                      <a:round/>
                      <a:headEnd type="none" w="med" len="med"/>
                      <a:tailEnd type="none" w="med" len="med"/>
                    </a:lnB>
                  </a:tcPr>
                </a:tc>
                <a:tc>
                  <a:txBody>
                    <a:bodyPr/>
                    <a:lstStyle/>
                    <a:p>
                      <a:pPr algn="just">
                        <a:lnSpc>
                          <a:spcPts val="2100"/>
                        </a:lnSpc>
                        <a:defRPr/>
                      </a:pPr>
                      <a:r>
                        <a:rPr lang="en-US" sz="1500">
                          <a:solidFill>
                            <a:srgbClr val="000000"/>
                          </a:solidFill>
                          <a:latin typeface="Canva Sans"/>
                          <a:ea typeface="Canva Sans"/>
                          <a:cs typeface="Canva Sans"/>
                          <a:sym typeface="Canva Sans"/>
                        </a:rPr>
                        <a:t>Clean, responsive user dashboard</a:t>
                      </a:r>
                      <a:endParaRPr lang="en-US" sz="1100"/>
                    </a:p>
                  </a:txBody>
                  <a:tcPr marL="104775" marR="104775" marT="104775" marB="104775" anchor="ctr">
                    <a:lnL w="47625" cap="flat" cmpd="sng" algn="ctr">
                      <a:solidFill>
                        <a:srgbClr val="E9DCC8"/>
                      </a:solidFill>
                      <a:prstDash val="solid"/>
                      <a:round/>
                      <a:headEnd type="none" w="med" len="med"/>
                      <a:tailEnd type="none" w="med" len="med"/>
                    </a:lnL>
                    <a:lnR w="47625" cap="flat" cmpd="sng" algn="ctr">
                      <a:solidFill>
                        <a:srgbClr val="E9DCC8"/>
                      </a:solidFill>
                      <a:prstDash val="solid"/>
                      <a:round/>
                      <a:headEnd type="none" w="med" len="med"/>
                      <a:tailEnd type="none" w="med" len="med"/>
                    </a:lnR>
                    <a:lnT w="47625" cap="flat" cmpd="sng" algn="ctr">
                      <a:solidFill>
                        <a:srgbClr val="E9DCC8"/>
                      </a:solidFill>
                      <a:prstDash val="solid"/>
                      <a:round/>
                      <a:headEnd type="none" w="med" len="med"/>
                      <a:tailEnd type="none" w="med" len="med"/>
                    </a:lnT>
                    <a:lnB w="47625" cap="flat" cmpd="sng" algn="ctr">
                      <a:solidFill>
                        <a:srgbClr val="E9DCC8"/>
                      </a:solidFill>
                      <a:prstDash val="solid"/>
                      <a:round/>
                      <a:headEnd type="none" w="med" len="med"/>
                      <a:tailEnd type="none" w="med" len="med"/>
                    </a:lnB>
                  </a:tcPr>
                </a:tc>
                <a:extLst>
                  <a:ext uri="{0D108BD9-81ED-4DB2-BD59-A6C34878D82A}">
                    <a16:rowId xmlns:a16="http://schemas.microsoft.com/office/drawing/2014/main" val="10001"/>
                  </a:ext>
                </a:extLst>
              </a:tr>
              <a:tr h="566194">
                <a:tc>
                  <a:txBody>
                    <a:bodyPr/>
                    <a:lstStyle/>
                    <a:p>
                      <a:pPr algn="l">
                        <a:lnSpc>
                          <a:spcPts val="2099"/>
                        </a:lnSpc>
                        <a:defRPr/>
                      </a:pPr>
                      <a:r>
                        <a:rPr lang="en-US" sz="1499" b="1">
                          <a:solidFill>
                            <a:srgbClr val="000000"/>
                          </a:solidFill>
                          <a:latin typeface="Arimo Bold"/>
                          <a:ea typeface="Arimo Bold"/>
                          <a:cs typeface="Arimo Bold"/>
                          <a:sym typeface="Arimo Bold"/>
                        </a:rPr>
                        <a:t>Backend / API</a:t>
                      </a:r>
                      <a:endParaRPr lang="en-US" sz="1100"/>
                    </a:p>
                  </a:txBody>
                  <a:tcPr marL="104775" marR="104775" marT="104775" marB="104775" anchor="ctr">
                    <a:lnL w="47625" cap="flat" cmpd="sng" algn="ctr">
                      <a:solidFill>
                        <a:srgbClr val="E9DCC8"/>
                      </a:solidFill>
                      <a:prstDash val="solid"/>
                      <a:round/>
                      <a:headEnd type="none" w="med" len="med"/>
                      <a:tailEnd type="none" w="med" len="med"/>
                    </a:lnL>
                    <a:lnR w="47625" cap="flat" cmpd="sng" algn="ctr">
                      <a:solidFill>
                        <a:srgbClr val="E9DCC8"/>
                      </a:solidFill>
                      <a:prstDash val="solid"/>
                      <a:round/>
                      <a:headEnd type="none" w="med" len="med"/>
                      <a:tailEnd type="none" w="med" len="med"/>
                    </a:lnR>
                    <a:lnT w="47625" cap="flat" cmpd="sng" algn="ctr">
                      <a:solidFill>
                        <a:srgbClr val="E9DCC8"/>
                      </a:solidFill>
                      <a:prstDash val="solid"/>
                      <a:round/>
                      <a:headEnd type="none" w="med" len="med"/>
                      <a:tailEnd type="none" w="med" len="med"/>
                    </a:lnT>
                    <a:lnB w="47625" cap="flat" cmpd="sng" algn="ctr">
                      <a:solidFill>
                        <a:srgbClr val="E9DCC8"/>
                      </a:solidFill>
                      <a:prstDash val="solid"/>
                      <a:round/>
                      <a:headEnd type="none" w="med" len="med"/>
                      <a:tailEnd type="none" w="med" len="med"/>
                    </a:lnB>
                  </a:tcPr>
                </a:tc>
                <a:tc>
                  <a:txBody>
                    <a:bodyPr/>
                    <a:lstStyle/>
                    <a:p>
                      <a:pPr algn="just">
                        <a:lnSpc>
                          <a:spcPts val="2100"/>
                        </a:lnSpc>
                        <a:defRPr/>
                      </a:pPr>
                      <a:r>
                        <a:rPr lang="en-US" sz="1500">
                          <a:solidFill>
                            <a:srgbClr val="000000"/>
                          </a:solidFill>
                          <a:latin typeface="Canva Sans"/>
                          <a:ea typeface="Canva Sans"/>
                          <a:cs typeface="Canva Sans"/>
                          <a:sym typeface="Canva Sans"/>
                        </a:rPr>
                        <a:t>Node.js, Express v5, Socket.IO</a:t>
                      </a:r>
                      <a:endParaRPr lang="en-US" sz="1100"/>
                    </a:p>
                  </a:txBody>
                  <a:tcPr marL="104775" marR="104775" marT="104775" marB="104775" anchor="ctr">
                    <a:lnL w="47625" cap="flat" cmpd="sng" algn="ctr">
                      <a:solidFill>
                        <a:srgbClr val="E9DCC8"/>
                      </a:solidFill>
                      <a:prstDash val="solid"/>
                      <a:round/>
                      <a:headEnd type="none" w="med" len="med"/>
                      <a:tailEnd type="none" w="med" len="med"/>
                    </a:lnL>
                    <a:lnR w="47625" cap="flat" cmpd="sng" algn="ctr">
                      <a:solidFill>
                        <a:srgbClr val="E9DCC8"/>
                      </a:solidFill>
                      <a:prstDash val="solid"/>
                      <a:round/>
                      <a:headEnd type="none" w="med" len="med"/>
                      <a:tailEnd type="none" w="med" len="med"/>
                    </a:lnR>
                    <a:lnT w="47625" cap="flat" cmpd="sng" algn="ctr">
                      <a:solidFill>
                        <a:srgbClr val="E9DCC8"/>
                      </a:solidFill>
                      <a:prstDash val="solid"/>
                      <a:round/>
                      <a:headEnd type="none" w="med" len="med"/>
                      <a:tailEnd type="none" w="med" len="med"/>
                    </a:lnT>
                    <a:lnB w="47625" cap="flat" cmpd="sng" algn="ctr">
                      <a:solidFill>
                        <a:srgbClr val="E9DCC8"/>
                      </a:solidFill>
                      <a:prstDash val="solid"/>
                      <a:round/>
                      <a:headEnd type="none" w="med" len="med"/>
                      <a:tailEnd type="none" w="med" len="med"/>
                    </a:lnB>
                  </a:tcPr>
                </a:tc>
                <a:tc>
                  <a:txBody>
                    <a:bodyPr/>
                    <a:lstStyle/>
                    <a:p>
                      <a:pPr algn="just">
                        <a:lnSpc>
                          <a:spcPts val="2100"/>
                        </a:lnSpc>
                        <a:defRPr/>
                      </a:pPr>
                      <a:r>
                        <a:rPr lang="en-US" sz="1500">
                          <a:solidFill>
                            <a:srgbClr val="000000"/>
                          </a:solidFill>
                          <a:latin typeface="Canva Sans"/>
                          <a:ea typeface="Canva Sans"/>
                          <a:cs typeface="Canva Sans"/>
                          <a:sym typeface="Canva Sans"/>
                        </a:rPr>
                        <a:t>REST API, auth, orchestration, log relay</a:t>
                      </a:r>
                      <a:endParaRPr lang="en-US" sz="1100"/>
                    </a:p>
                  </a:txBody>
                  <a:tcPr marL="104775" marR="104775" marT="104775" marB="104775" anchor="ctr">
                    <a:lnL w="47625" cap="flat" cmpd="sng" algn="ctr">
                      <a:solidFill>
                        <a:srgbClr val="E9DCC8"/>
                      </a:solidFill>
                      <a:prstDash val="solid"/>
                      <a:round/>
                      <a:headEnd type="none" w="med" len="med"/>
                      <a:tailEnd type="none" w="med" len="med"/>
                    </a:lnL>
                    <a:lnR w="47625" cap="flat" cmpd="sng" algn="ctr">
                      <a:solidFill>
                        <a:srgbClr val="E9DCC8"/>
                      </a:solidFill>
                      <a:prstDash val="solid"/>
                      <a:round/>
                      <a:headEnd type="none" w="med" len="med"/>
                      <a:tailEnd type="none" w="med" len="med"/>
                    </a:lnR>
                    <a:lnT w="47625" cap="flat" cmpd="sng" algn="ctr">
                      <a:solidFill>
                        <a:srgbClr val="E9DCC8"/>
                      </a:solidFill>
                      <a:prstDash val="solid"/>
                      <a:round/>
                      <a:headEnd type="none" w="med" len="med"/>
                      <a:tailEnd type="none" w="med" len="med"/>
                    </a:lnT>
                    <a:lnB w="47625" cap="flat" cmpd="sng" algn="ctr">
                      <a:solidFill>
                        <a:srgbClr val="E9DCC8"/>
                      </a:solidFill>
                      <a:prstDash val="solid"/>
                      <a:round/>
                      <a:headEnd type="none" w="med" len="med"/>
                      <a:tailEnd type="none" w="med" len="med"/>
                    </a:lnB>
                  </a:tcPr>
                </a:tc>
                <a:extLst>
                  <a:ext uri="{0D108BD9-81ED-4DB2-BD59-A6C34878D82A}">
                    <a16:rowId xmlns:a16="http://schemas.microsoft.com/office/drawing/2014/main" val="10002"/>
                  </a:ext>
                </a:extLst>
              </a:tr>
              <a:tr h="566194">
                <a:tc>
                  <a:txBody>
                    <a:bodyPr/>
                    <a:lstStyle/>
                    <a:p>
                      <a:pPr algn="just">
                        <a:lnSpc>
                          <a:spcPts val="2100"/>
                        </a:lnSpc>
                        <a:defRPr/>
                      </a:pPr>
                      <a:r>
                        <a:rPr lang="en-US" sz="1500" b="1">
                          <a:solidFill>
                            <a:srgbClr val="000000"/>
                          </a:solidFill>
                          <a:latin typeface="Canva Sans Bold"/>
                          <a:ea typeface="Canva Sans Bold"/>
                          <a:cs typeface="Canva Sans Bold"/>
                          <a:sym typeface="Canva Sans Bold"/>
                        </a:rPr>
                        <a:t>Database</a:t>
                      </a:r>
                      <a:endParaRPr lang="en-US" sz="1100"/>
                    </a:p>
                  </a:txBody>
                  <a:tcPr marL="104775" marR="104775" marT="104775" marB="104775" anchor="ctr">
                    <a:lnL w="47625" cap="flat" cmpd="sng" algn="ctr">
                      <a:solidFill>
                        <a:srgbClr val="E9DCC8"/>
                      </a:solidFill>
                      <a:prstDash val="solid"/>
                      <a:round/>
                      <a:headEnd type="none" w="med" len="med"/>
                      <a:tailEnd type="none" w="med" len="med"/>
                    </a:lnL>
                    <a:lnR w="47625" cap="flat" cmpd="sng" algn="ctr">
                      <a:solidFill>
                        <a:srgbClr val="E9DCC8"/>
                      </a:solidFill>
                      <a:prstDash val="solid"/>
                      <a:round/>
                      <a:headEnd type="none" w="med" len="med"/>
                      <a:tailEnd type="none" w="med" len="med"/>
                    </a:lnR>
                    <a:lnT w="47625" cap="flat" cmpd="sng" algn="ctr">
                      <a:solidFill>
                        <a:srgbClr val="E9DCC8"/>
                      </a:solidFill>
                      <a:prstDash val="solid"/>
                      <a:round/>
                      <a:headEnd type="none" w="med" len="med"/>
                      <a:tailEnd type="none" w="med" len="med"/>
                    </a:lnT>
                    <a:lnB w="47625" cap="flat" cmpd="sng" algn="ctr">
                      <a:solidFill>
                        <a:srgbClr val="E9DCC8"/>
                      </a:solidFill>
                      <a:prstDash val="solid"/>
                      <a:round/>
                      <a:headEnd type="none" w="med" len="med"/>
                      <a:tailEnd type="none" w="med" len="med"/>
                    </a:lnB>
                  </a:tcPr>
                </a:tc>
                <a:tc>
                  <a:txBody>
                    <a:bodyPr/>
                    <a:lstStyle/>
                    <a:p>
                      <a:pPr algn="just">
                        <a:lnSpc>
                          <a:spcPts val="2100"/>
                        </a:lnSpc>
                        <a:defRPr/>
                      </a:pPr>
                      <a:r>
                        <a:rPr lang="en-US" sz="1500">
                          <a:solidFill>
                            <a:srgbClr val="000000"/>
                          </a:solidFill>
                          <a:latin typeface="Canva Sans"/>
                          <a:ea typeface="Canva Sans"/>
                          <a:cs typeface="Canva Sans"/>
                          <a:sym typeface="Canva Sans"/>
                        </a:rPr>
                        <a:t>MongoDB (Atlas) + Mongoose</a:t>
                      </a:r>
                      <a:endParaRPr lang="en-US" sz="1100"/>
                    </a:p>
                  </a:txBody>
                  <a:tcPr marL="104775" marR="104775" marT="104775" marB="104775" anchor="ctr">
                    <a:lnL w="47625" cap="flat" cmpd="sng" algn="ctr">
                      <a:solidFill>
                        <a:srgbClr val="E9DCC8"/>
                      </a:solidFill>
                      <a:prstDash val="solid"/>
                      <a:round/>
                      <a:headEnd type="none" w="med" len="med"/>
                      <a:tailEnd type="none" w="med" len="med"/>
                    </a:lnL>
                    <a:lnR w="47625" cap="flat" cmpd="sng" algn="ctr">
                      <a:solidFill>
                        <a:srgbClr val="E9DCC8"/>
                      </a:solidFill>
                      <a:prstDash val="solid"/>
                      <a:round/>
                      <a:headEnd type="none" w="med" len="med"/>
                      <a:tailEnd type="none" w="med" len="med"/>
                    </a:lnR>
                    <a:lnT w="47625" cap="flat" cmpd="sng" algn="ctr">
                      <a:solidFill>
                        <a:srgbClr val="E9DCC8"/>
                      </a:solidFill>
                      <a:prstDash val="solid"/>
                      <a:round/>
                      <a:headEnd type="none" w="med" len="med"/>
                      <a:tailEnd type="none" w="med" len="med"/>
                    </a:lnT>
                    <a:lnB w="47625" cap="flat" cmpd="sng" algn="ctr">
                      <a:solidFill>
                        <a:srgbClr val="E9DCC8"/>
                      </a:solidFill>
                      <a:prstDash val="solid"/>
                      <a:round/>
                      <a:headEnd type="none" w="med" len="med"/>
                      <a:tailEnd type="none" w="med" len="med"/>
                    </a:lnB>
                  </a:tcPr>
                </a:tc>
                <a:tc>
                  <a:txBody>
                    <a:bodyPr/>
                    <a:lstStyle/>
                    <a:p>
                      <a:pPr algn="just">
                        <a:lnSpc>
                          <a:spcPts val="2100"/>
                        </a:lnSpc>
                        <a:defRPr/>
                      </a:pPr>
                      <a:r>
                        <a:rPr lang="en-US" sz="1500">
                          <a:solidFill>
                            <a:srgbClr val="000000"/>
                          </a:solidFill>
                          <a:latin typeface="Canva Sans"/>
                          <a:ea typeface="Canva Sans"/>
                          <a:cs typeface="Canva Sans"/>
                          <a:sym typeface="Canva Sans"/>
                        </a:rPr>
                        <a:t>Jobs, users, workers, billing</a:t>
                      </a:r>
                      <a:endParaRPr lang="en-US" sz="1100"/>
                    </a:p>
                  </a:txBody>
                  <a:tcPr marL="104775" marR="104775" marT="104775" marB="104775" anchor="ctr">
                    <a:lnL w="47625" cap="flat" cmpd="sng" algn="ctr">
                      <a:solidFill>
                        <a:srgbClr val="E9DCC8"/>
                      </a:solidFill>
                      <a:prstDash val="solid"/>
                      <a:round/>
                      <a:headEnd type="none" w="med" len="med"/>
                      <a:tailEnd type="none" w="med" len="med"/>
                    </a:lnL>
                    <a:lnR w="47625" cap="flat" cmpd="sng" algn="ctr">
                      <a:solidFill>
                        <a:srgbClr val="E9DCC8"/>
                      </a:solidFill>
                      <a:prstDash val="solid"/>
                      <a:round/>
                      <a:headEnd type="none" w="med" len="med"/>
                      <a:tailEnd type="none" w="med" len="med"/>
                    </a:lnR>
                    <a:lnT w="47625" cap="flat" cmpd="sng" algn="ctr">
                      <a:solidFill>
                        <a:srgbClr val="E9DCC8"/>
                      </a:solidFill>
                      <a:prstDash val="solid"/>
                      <a:round/>
                      <a:headEnd type="none" w="med" len="med"/>
                      <a:tailEnd type="none" w="med" len="med"/>
                    </a:lnT>
                    <a:lnB w="47625" cap="flat" cmpd="sng" algn="ctr">
                      <a:solidFill>
                        <a:srgbClr val="E9DCC8"/>
                      </a:solidFill>
                      <a:prstDash val="solid"/>
                      <a:round/>
                      <a:headEnd type="none" w="med" len="med"/>
                      <a:tailEnd type="none" w="med" len="med"/>
                    </a:lnB>
                  </a:tcPr>
                </a:tc>
                <a:extLst>
                  <a:ext uri="{0D108BD9-81ED-4DB2-BD59-A6C34878D82A}">
                    <a16:rowId xmlns:a16="http://schemas.microsoft.com/office/drawing/2014/main" val="10003"/>
                  </a:ext>
                </a:extLst>
              </a:tr>
              <a:tr h="566194">
                <a:tc>
                  <a:txBody>
                    <a:bodyPr/>
                    <a:lstStyle/>
                    <a:p>
                      <a:pPr algn="just">
                        <a:lnSpc>
                          <a:spcPts val="2100"/>
                        </a:lnSpc>
                        <a:defRPr/>
                      </a:pPr>
                      <a:r>
                        <a:rPr lang="en-US" sz="1500" b="1">
                          <a:solidFill>
                            <a:srgbClr val="000000"/>
                          </a:solidFill>
                          <a:latin typeface="Canva Sans Bold"/>
                          <a:ea typeface="Canva Sans Bold"/>
                          <a:cs typeface="Canva Sans Bold"/>
                          <a:sym typeface="Canva Sans Bold"/>
                        </a:rPr>
                        <a:t>Job Queue</a:t>
                      </a:r>
                      <a:endParaRPr lang="en-US" sz="1100"/>
                    </a:p>
                  </a:txBody>
                  <a:tcPr marL="104775" marR="104775" marT="104775" marB="104775" anchor="ctr">
                    <a:lnL w="47625" cap="flat" cmpd="sng" algn="ctr">
                      <a:solidFill>
                        <a:srgbClr val="E9DCC8"/>
                      </a:solidFill>
                      <a:prstDash val="solid"/>
                      <a:round/>
                      <a:headEnd type="none" w="med" len="med"/>
                      <a:tailEnd type="none" w="med" len="med"/>
                    </a:lnL>
                    <a:lnR w="47625" cap="flat" cmpd="sng" algn="ctr">
                      <a:solidFill>
                        <a:srgbClr val="E9DCC8"/>
                      </a:solidFill>
                      <a:prstDash val="solid"/>
                      <a:round/>
                      <a:headEnd type="none" w="med" len="med"/>
                      <a:tailEnd type="none" w="med" len="med"/>
                    </a:lnR>
                    <a:lnT w="47625" cap="flat" cmpd="sng" algn="ctr">
                      <a:solidFill>
                        <a:srgbClr val="E9DCC8"/>
                      </a:solidFill>
                      <a:prstDash val="solid"/>
                      <a:round/>
                      <a:headEnd type="none" w="med" len="med"/>
                      <a:tailEnd type="none" w="med" len="med"/>
                    </a:lnT>
                    <a:lnB w="47625" cap="flat" cmpd="sng" algn="ctr">
                      <a:solidFill>
                        <a:srgbClr val="E9DCC8"/>
                      </a:solidFill>
                      <a:prstDash val="solid"/>
                      <a:round/>
                      <a:headEnd type="none" w="med" len="med"/>
                      <a:tailEnd type="none" w="med" len="med"/>
                    </a:lnB>
                  </a:tcPr>
                </a:tc>
                <a:tc>
                  <a:txBody>
                    <a:bodyPr/>
                    <a:lstStyle/>
                    <a:p>
                      <a:pPr algn="just">
                        <a:lnSpc>
                          <a:spcPts val="2100"/>
                        </a:lnSpc>
                        <a:defRPr/>
                      </a:pPr>
                      <a:r>
                        <a:rPr lang="en-US" sz="1500">
                          <a:solidFill>
                            <a:srgbClr val="000000"/>
                          </a:solidFill>
                          <a:latin typeface="Canva Sans"/>
                          <a:ea typeface="Canva Sans"/>
                          <a:cs typeface="Canva Sans"/>
                          <a:sym typeface="Canva Sans"/>
                        </a:rPr>
                        <a:t>Redis (ioredis) Pub/Sub</a:t>
                      </a:r>
                      <a:endParaRPr lang="en-US" sz="1100"/>
                    </a:p>
                  </a:txBody>
                  <a:tcPr marL="104775" marR="104775" marT="104775" marB="104775" anchor="ctr">
                    <a:lnL w="47625" cap="flat" cmpd="sng" algn="ctr">
                      <a:solidFill>
                        <a:srgbClr val="E9DCC8"/>
                      </a:solidFill>
                      <a:prstDash val="solid"/>
                      <a:round/>
                      <a:headEnd type="none" w="med" len="med"/>
                      <a:tailEnd type="none" w="med" len="med"/>
                    </a:lnL>
                    <a:lnR w="47625" cap="flat" cmpd="sng" algn="ctr">
                      <a:solidFill>
                        <a:srgbClr val="E9DCC8"/>
                      </a:solidFill>
                      <a:prstDash val="solid"/>
                      <a:round/>
                      <a:headEnd type="none" w="med" len="med"/>
                      <a:tailEnd type="none" w="med" len="med"/>
                    </a:lnR>
                    <a:lnT w="47625" cap="flat" cmpd="sng" algn="ctr">
                      <a:solidFill>
                        <a:srgbClr val="E9DCC8"/>
                      </a:solidFill>
                      <a:prstDash val="solid"/>
                      <a:round/>
                      <a:headEnd type="none" w="med" len="med"/>
                      <a:tailEnd type="none" w="med" len="med"/>
                    </a:lnT>
                    <a:lnB w="47625" cap="flat" cmpd="sng" algn="ctr">
                      <a:solidFill>
                        <a:srgbClr val="E9DCC8"/>
                      </a:solidFill>
                      <a:prstDash val="solid"/>
                      <a:round/>
                      <a:headEnd type="none" w="med" len="med"/>
                      <a:tailEnd type="none" w="med" len="med"/>
                    </a:lnB>
                  </a:tcPr>
                </a:tc>
                <a:tc>
                  <a:txBody>
                    <a:bodyPr/>
                    <a:lstStyle/>
                    <a:p>
                      <a:pPr algn="just">
                        <a:lnSpc>
                          <a:spcPts val="2100"/>
                        </a:lnSpc>
                        <a:defRPr/>
                      </a:pPr>
                      <a:r>
                        <a:rPr lang="en-US" sz="1500">
                          <a:solidFill>
                            <a:srgbClr val="000000"/>
                          </a:solidFill>
                          <a:latin typeface="Canva Sans"/>
                          <a:ea typeface="Canva Sans"/>
                          <a:cs typeface="Canva Sans"/>
                          <a:sym typeface="Canva Sans"/>
                        </a:rPr>
                        <a:t>Instant job dispatch &amp; coordination</a:t>
                      </a:r>
                      <a:endParaRPr lang="en-US" sz="1100"/>
                    </a:p>
                  </a:txBody>
                  <a:tcPr marL="104775" marR="104775" marT="104775" marB="104775" anchor="ctr">
                    <a:lnL w="47625" cap="flat" cmpd="sng" algn="ctr">
                      <a:solidFill>
                        <a:srgbClr val="E9DCC8"/>
                      </a:solidFill>
                      <a:prstDash val="solid"/>
                      <a:round/>
                      <a:headEnd type="none" w="med" len="med"/>
                      <a:tailEnd type="none" w="med" len="med"/>
                    </a:lnL>
                    <a:lnR w="47625" cap="flat" cmpd="sng" algn="ctr">
                      <a:solidFill>
                        <a:srgbClr val="E9DCC8"/>
                      </a:solidFill>
                      <a:prstDash val="solid"/>
                      <a:round/>
                      <a:headEnd type="none" w="med" len="med"/>
                      <a:tailEnd type="none" w="med" len="med"/>
                    </a:lnR>
                    <a:lnT w="47625" cap="flat" cmpd="sng" algn="ctr">
                      <a:solidFill>
                        <a:srgbClr val="E9DCC8"/>
                      </a:solidFill>
                      <a:prstDash val="solid"/>
                      <a:round/>
                      <a:headEnd type="none" w="med" len="med"/>
                      <a:tailEnd type="none" w="med" len="med"/>
                    </a:lnT>
                    <a:lnB w="47625" cap="flat" cmpd="sng" algn="ctr">
                      <a:solidFill>
                        <a:srgbClr val="E9DCC8"/>
                      </a:solidFill>
                      <a:prstDash val="solid"/>
                      <a:round/>
                      <a:headEnd type="none" w="med" len="med"/>
                      <a:tailEnd type="none" w="med" len="med"/>
                    </a:lnB>
                  </a:tcPr>
                </a:tc>
                <a:extLst>
                  <a:ext uri="{0D108BD9-81ED-4DB2-BD59-A6C34878D82A}">
                    <a16:rowId xmlns:a16="http://schemas.microsoft.com/office/drawing/2014/main" val="10004"/>
                  </a:ext>
                </a:extLst>
              </a:tr>
              <a:tr h="566194">
                <a:tc>
                  <a:txBody>
                    <a:bodyPr/>
                    <a:lstStyle/>
                    <a:p>
                      <a:pPr algn="just">
                        <a:lnSpc>
                          <a:spcPts val="2100"/>
                        </a:lnSpc>
                        <a:defRPr/>
                      </a:pPr>
                      <a:r>
                        <a:rPr lang="en-US" sz="1500" b="1">
                          <a:solidFill>
                            <a:srgbClr val="000000"/>
                          </a:solidFill>
                          <a:latin typeface="Canva Sans Bold"/>
                          <a:ea typeface="Canva Sans Bold"/>
                          <a:cs typeface="Canva Sans Bold"/>
                          <a:sym typeface="Canva Sans Bold"/>
                        </a:rPr>
                        <a:t>Object Storage</a:t>
                      </a:r>
                      <a:endParaRPr lang="en-US" sz="1100"/>
                    </a:p>
                  </a:txBody>
                  <a:tcPr marL="104775" marR="104775" marT="104775" marB="104775" anchor="ctr">
                    <a:lnL w="47625" cap="flat" cmpd="sng" algn="ctr">
                      <a:solidFill>
                        <a:srgbClr val="E9DCC8"/>
                      </a:solidFill>
                      <a:prstDash val="solid"/>
                      <a:round/>
                      <a:headEnd type="none" w="med" len="med"/>
                      <a:tailEnd type="none" w="med" len="med"/>
                    </a:lnL>
                    <a:lnR w="47625" cap="flat" cmpd="sng" algn="ctr">
                      <a:solidFill>
                        <a:srgbClr val="E9DCC8"/>
                      </a:solidFill>
                      <a:prstDash val="solid"/>
                      <a:round/>
                      <a:headEnd type="none" w="med" len="med"/>
                      <a:tailEnd type="none" w="med" len="med"/>
                    </a:lnR>
                    <a:lnT w="47625" cap="flat" cmpd="sng" algn="ctr">
                      <a:solidFill>
                        <a:srgbClr val="E9DCC8"/>
                      </a:solidFill>
                      <a:prstDash val="solid"/>
                      <a:round/>
                      <a:headEnd type="none" w="med" len="med"/>
                      <a:tailEnd type="none" w="med" len="med"/>
                    </a:lnT>
                    <a:lnB w="47625" cap="flat" cmpd="sng" algn="ctr">
                      <a:solidFill>
                        <a:srgbClr val="E9DCC8"/>
                      </a:solidFill>
                      <a:prstDash val="solid"/>
                      <a:round/>
                      <a:headEnd type="none" w="med" len="med"/>
                      <a:tailEnd type="none" w="med" len="med"/>
                    </a:lnB>
                  </a:tcPr>
                </a:tc>
                <a:tc>
                  <a:txBody>
                    <a:bodyPr/>
                    <a:lstStyle/>
                    <a:p>
                      <a:pPr algn="just">
                        <a:lnSpc>
                          <a:spcPts val="2100"/>
                        </a:lnSpc>
                        <a:defRPr/>
                      </a:pPr>
                      <a:r>
                        <a:rPr lang="en-US" sz="1500">
                          <a:solidFill>
                            <a:srgbClr val="000000"/>
                          </a:solidFill>
                          <a:latin typeface="Canva Sans"/>
                          <a:ea typeface="Canva Sans"/>
                          <a:cs typeface="Canva Sans"/>
                          <a:sym typeface="Canva Sans"/>
                        </a:rPr>
                        <a:t>Supabase Storage</a:t>
                      </a:r>
                      <a:endParaRPr lang="en-US" sz="1100"/>
                    </a:p>
                  </a:txBody>
                  <a:tcPr marL="104775" marR="104775" marT="104775" marB="104775" anchor="ctr">
                    <a:lnL w="47625" cap="flat" cmpd="sng" algn="ctr">
                      <a:solidFill>
                        <a:srgbClr val="E9DCC8"/>
                      </a:solidFill>
                      <a:prstDash val="solid"/>
                      <a:round/>
                      <a:headEnd type="none" w="med" len="med"/>
                      <a:tailEnd type="none" w="med" len="med"/>
                    </a:lnL>
                    <a:lnR w="47625" cap="flat" cmpd="sng" algn="ctr">
                      <a:solidFill>
                        <a:srgbClr val="E9DCC8"/>
                      </a:solidFill>
                      <a:prstDash val="solid"/>
                      <a:round/>
                      <a:headEnd type="none" w="med" len="med"/>
                      <a:tailEnd type="none" w="med" len="med"/>
                    </a:lnR>
                    <a:lnT w="47625" cap="flat" cmpd="sng" algn="ctr">
                      <a:solidFill>
                        <a:srgbClr val="E9DCC8"/>
                      </a:solidFill>
                      <a:prstDash val="solid"/>
                      <a:round/>
                      <a:headEnd type="none" w="med" len="med"/>
                      <a:tailEnd type="none" w="med" len="med"/>
                    </a:lnT>
                    <a:lnB w="47625" cap="flat" cmpd="sng" algn="ctr">
                      <a:solidFill>
                        <a:srgbClr val="E9DCC8"/>
                      </a:solidFill>
                      <a:prstDash val="solid"/>
                      <a:round/>
                      <a:headEnd type="none" w="med" len="med"/>
                      <a:tailEnd type="none" w="med" len="med"/>
                    </a:lnB>
                  </a:tcPr>
                </a:tc>
                <a:tc>
                  <a:txBody>
                    <a:bodyPr/>
                    <a:lstStyle/>
                    <a:p>
                      <a:pPr algn="just">
                        <a:lnSpc>
                          <a:spcPts val="2100"/>
                        </a:lnSpc>
                        <a:defRPr/>
                      </a:pPr>
                      <a:r>
                        <a:rPr lang="en-US" sz="1500">
                          <a:solidFill>
                            <a:srgbClr val="000000"/>
                          </a:solidFill>
                          <a:latin typeface="Canva Sans"/>
                          <a:ea typeface="Canva Sans"/>
                          <a:cs typeface="Canva Sans"/>
                          <a:sym typeface="Canva Sans"/>
                        </a:rPr>
                        <a:t>ZIP uploads &amp; trained model files</a:t>
                      </a:r>
                      <a:endParaRPr lang="en-US" sz="1100"/>
                    </a:p>
                  </a:txBody>
                  <a:tcPr marL="104775" marR="104775" marT="104775" marB="104775" anchor="ctr">
                    <a:lnL w="47625" cap="flat" cmpd="sng" algn="ctr">
                      <a:solidFill>
                        <a:srgbClr val="E9DCC8"/>
                      </a:solidFill>
                      <a:prstDash val="solid"/>
                      <a:round/>
                      <a:headEnd type="none" w="med" len="med"/>
                      <a:tailEnd type="none" w="med" len="med"/>
                    </a:lnL>
                    <a:lnR w="47625" cap="flat" cmpd="sng" algn="ctr">
                      <a:solidFill>
                        <a:srgbClr val="E9DCC8"/>
                      </a:solidFill>
                      <a:prstDash val="solid"/>
                      <a:round/>
                      <a:headEnd type="none" w="med" len="med"/>
                      <a:tailEnd type="none" w="med" len="med"/>
                    </a:lnR>
                    <a:lnT w="47625" cap="flat" cmpd="sng" algn="ctr">
                      <a:solidFill>
                        <a:srgbClr val="E9DCC8"/>
                      </a:solidFill>
                      <a:prstDash val="solid"/>
                      <a:round/>
                      <a:headEnd type="none" w="med" len="med"/>
                      <a:tailEnd type="none" w="med" len="med"/>
                    </a:lnT>
                    <a:lnB w="47625" cap="flat" cmpd="sng" algn="ctr">
                      <a:solidFill>
                        <a:srgbClr val="E9DCC8"/>
                      </a:solidFill>
                      <a:prstDash val="solid"/>
                      <a:round/>
                      <a:headEnd type="none" w="med" len="med"/>
                      <a:tailEnd type="none" w="med" len="med"/>
                    </a:lnB>
                  </a:tcPr>
                </a:tc>
                <a:extLst>
                  <a:ext uri="{0D108BD9-81ED-4DB2-BD59-A6C34878D82A}">
                    <a16:rowId xmlns:a16="http://schemas.microsoft.com/office/drawing/2014/main" val="10005"/>
                  </a:ext>
                </a:extLst>
              </a:tr>
              <a:tr h="566194">
                <a:tc>
                  <a:txBody>
                    <a:bodyPr/>
                    <a:lstStyle/>
                    <a:p>
                      <a:pPr algn="just">
                        <a:lnSpc>
                          <a:spcPts val="2100"/>
                        </a:lnSpc>
                        <a:defRPr/>
                      </a:pPr>
                      <a:r>
                        <a:rPr lang="en-US" sz="1500" b="1">
                          <a:solidFill>
                            <a:srgbClr val="000000"/>
                          </a:solidFill>
                          <a:latin typeface="Canva Sans Bold"/>
                          <a:ea typeface="Canva Sans Bold"/>
                          <a:cs typeface="Canva Sans Bold"/>
                          <a:sym typeface="Canva Sans Bold"/>
                        </a:rPr>
                        <a:t>Worker Agent</a:t>
                      </a:r>
                      <a:endParaRPr lang="en-US" sz="1100"/>
                    </a:p>
                  </a:txBody>
                  <a:tcPr marL="104775" marR="104775" marT="104775" marB="104775" anchor="ctr">
                    <a:lnL w="47625" cap="flat" cmpd="sng" algn="ctr">
                      <a:solidFill>
                        <a:srgbClr val="E9DCC8"/>
                      </a:solidFill>
                      <a:prstDash val="solid"/>
                      <a:round/>
                      <a:headEnd type="none" w="med" len="med"/>
                      <a:tailEnd type="none" w="med" len="med"/>
                    </a:lnL>
                    <a:lnR w="47625" cap="flat" cmpd="sng" algn="ctr">
                      <a:solidFill>
                        <a:srgbClr val="E9DCC8"/>
                      </a:solidFill>
                      <a:prstDash val="solid"/>
                      <a:round/>
                      <a:headEnd type="none" w="med" len="med"/>
                      <a:tailEnd type="none" w="med" len="med"/>
                    </a:lnR>
                    <a:lnT w="47625" cap="flat" cmpd="sng" algn="ctr">
                      <a:solidFill>
                        <a:srgbClr val="E9DCC8"/>
                      </a:solidFill>
                      <a:prstDash val="solid"/>
                      <a:round/>
                      <a:headEnd type="none" w="med" len="med"/>
                      <a:tailEnd type="none" w="med" len="med"/>
                    </a:lnT>
                    <a:lnB w="47625" cap="flat" cmpd="sng" algn="ctr">
                      <a:solidFill>
                        <a:srgbClr val="E9DCC8"/>
                      </a:solidFill>
                      <a:prstDash val="solid"/>
                      <a:round/>
                      <a:headEnd type="none" w="med" len="med"/>
                      <a:tailEnd type="none" w="med" len="med"/>
                    </a:lnB>
                  </a:tcPr>
                </a:tc>
                <a:tc>
                  <a:txBody>
                    <a:bodyPr/>
                    <a:lstStyle/>
                    <a:p>
                      <a:pPr algn="just">
                        <a:lnSpc>
                          <a:spcPts val="2100"/>
                        </a:lnSpc>
                        <a:defRPr/>
                      </a:pPr>
                      <a:r>
                        <a:rPr lang="en-US" sz="1500">
                          <a:solidFill>
                            <a:srgbClr val="000000"/>
                          </a:solidFill>
                          <a:latin typeface="Canva Sans"/>
                          <a:ea typeface="Canva Sans"/>
                          <a:cs typeface="Canva Sans"/>
                          <a:sym typeface="Canva Sans"/>
                        </a:rPr>
                        <a:t>Electron + Node.js</a:t>
                      </a:r>
                      <a:endParaRPr lang="en-US" sz="1100"/>
                    </a:p>
                  </a:txBody>
                  <a:tcPr marL="104775" marR="104775" marT="104775" marB="104775" anchor="ctr">
                    <a:lnL w="47625" cap="flat" cmpd="sng" algn="ctr">
                      <a:solidFill>
                        <a:srgbClr val="E9DCC8"/>
                      </a:solidFill>
                      <a:prstDash val="solid"/>
                      <a:round/>
                      <a:headEnd type="none" w="med" len="med"/>
                      <a:tailEnd type="none" w="med" len="med"/>
                    </a:lnL>
                    <a:lnR w="47625" cap="flat" cmpd="sng" algn="ctr">
                      <a:solidFill>
                        <a:srgbClr val="E9DCC8"/>
                      </a:solidFill>
                      <a:prstDash val="solid"/>
                      <a:round/>
                      <a:headEnd type="none" w="med" len="med"/>
                      <a:tailEnd type="none" w="med" len="med"/>
                    </a:lnR>
                    <a:lnT w="47625" cap="flat" cmpd="sng" algn="ctr">
                      <a:solidFill>
                        <a:srgbClr val="E9DCC8"/>
                      </a:solidFill>
                      <a:prstDash val="solid"/>
                      <a:round/>
                      <a:headEnd type="none" w="med" len="med"/>
                      <a:tailEnd type="none" w="med" len="med"/>
                    </a:lnT>
                    <a:lnB w="47625" cap="flat" cmpd="sng" algn="ctr">
                      <a:solidFill>
                        <a:srgbClr val="E9DCC8"/>
                      </a:solidFill>
                      <a:prstDash val="solid"/>
                      <a:round/>
                      <a:headEnd type="none" w="med" len="med"/>
                      <a:tailEnd type="none" w="med" len="med"/>
                    </a:lnB>
                  </a:tcPr>
                </a:tc>
                <a:tc>
                  <a:txBody>
                    <a:bodyPr/>
                    <a:lstStyle/>
                    <a:p>
                      <a:pPr algn="just">
                        <a:lnSpc>
                          <a:spcPts val="2100"/>
                        </a:lnSpc>
                        <a:defRPr/>
                      </a:pPr>
                      <a:r>
                        <a:rPr lang="en-US" sz="1500">
                          <a:solidFill>
                            <a:srgbClr val="000000"/>
                          </a:solidFill>
                          <a:latin typeface="Canva Sans"/>
                          <a:ea typeface="Canva Sans"/>
                          <a:cs typeface="Canva Sans"/>
                          <a:sym typeface="Canva Sans"/>
                        </a:rPr>
                        <a:t>Cross-platform desktop worker app</a:t>
                      </a:r>
                      <a:endParaRPr lang="en-US" sz="1100"/>
                    </a:p>
                  </a:txBody>
                  <a:tcPr marL="104775" marR="104775" marT="104775" marB="104775" anchor="ctr">
                    <a:lnL w="47625" cap="flat" cmpd="sng" algn="ctr">
                      <a:solidFill>
                        <a:srgbClr val="E9DCC8"/>
                      </a:solidFill>
                      <a:prstDash val="solid"/>
                      <a:round/>
                      <a:headEnd type="none" w="med" len="med"/>
                      <a:tailEnd type="none" w="med" len="med"/>
                    </a:lnL>
                    <a:lnR w="47625" cap="flat" cmpd="sng" algn="ctr">
                      <a:solidFill>
                        <a:srgbClr val="E9DCC8"/>
                      </a:solidFill>
                      <a:prstDash val="solid"/>
                      <a:round/>
                      <a:headEnd type="none" w="med" len="med"/>
                      <a:tailEnd type="none" w="med" len="med"/>
                    </a:lnR>
                    <a:lnT w="47625" cap="flat" cmpd="sng" algn="ctr">
                      <a:solidFill>
                        <a:srgbClr val="E9DCC8"/>
                      </a:solidFill>
                      <a:prstDash val="solid"/>
                      <a:round/>
                      <a:headEnd type="none" w="med" len="med"/>
                      <a:tailEnd type="none" w="med" len="med"/>
                    </a:lnT>
                    <a:lnB w="47625" cap="flat" cmpd="sng" algn="ctr">
                      <a:solidFill>
                        <a:srgbClr val="E9DCC8"/>
                      </a:solidFill>
                      <a:prstDash val="solid"/>
                      <a:round/>
                      <a:headEnd type="none" w="med" len="med"/>
                      <a:tailEnd type="none" w="med" len="med"/>
                    </a:lnB>
                  </a:tcPr>
                </a:tc>
                <a:extLst>
                  <a:ext uri="{0D108BD9-81ED-4DB2-BD59-A6C34878D82A}">
                    <a16:rowId xmlns:a16="http://schemas.microsoft.com/office/drawing/2014/main" val="10006"/>
                  </a:ext>
                </a:extLst>
              </a:tr>
              <a:tr h="566194">
                <a:tc>
                  <a:txBody>
                    <a:bodyPr/>
                    <a:lstStyle/>
                    <a:p>
                      <a:pPr algn="just">
                        <a:lnSpc>
                          <a:spcPts val="2100"/>
                        </a:lnSpc>
                        <a:defRPr/>
                      </a:pPr>
                      <a:r>
                        <a:rPr lang="en-US" sz="1500" b="1">
                          <a:solidFill>
                            <a:srgbClr val="000000"/>
                          </a:solidFill>
                          <a:latin typeface="Canva Sans Bold"/>
                          <a:ea typeface="Canva Sans Bold"/>
                          <a:cs typeface="Canva Sans Bold"/>
                          <a:sym typeface="Canva Sans Bold"/>
                        </a:rPr>
                        <a:t>Execution</a:t>
                      </a:r>
                      <a:endParaRPr lang="en-US" sz="1100"/>
                    </a:p>
                  </a:txBody>
                  <a:tcPr marL="104775" marR="104775" marT="104775" marB="104775" anchor="ctr">
                    <a:lnL w="47625" cap="flat" cmpd="sng" algn="ctr">
                      <a:solidFill>
                        <a:srgbClr val="E9DCC8"/>
                      </a:solidFill>
                      <a:prstDash val="solid"/>
                      <a:round/>
                      <a:headEnd type="none" w="med" len="med"/>
                      <a:tailEnd type="none" w="med" len="med"/>
                    </a:lnL>
                    <a:lnR w="47625" cap="flat" cmpd="sng" algn="ctr">
                      <a:solidFill>
                        <a:srgbClr val="E9DCC8"/>
                      </a:solidFill>
                      <a:prstDash val="solid"/>
                      <a:round/>
                      <a:headEnd type="none" w="med" len="med"/>
                      <a:tailEnd type="none" w="med" len="med"/>
                    </a:lnR>
                    <a:lnT w="47625" cap="flat" cmpd="sng" algn="ctr">
                      <a:solidFill>
                        <a:srgbClr val="E9DCC8"/>
                      </a:solidFill>
                      <a:prstDash val="solid"/>
                      <a:round/>
                      <a:headEnd type="none" w="med" len="med"/>
                      <a:tailEnd type="none" w="med" len="med"/>
                    </a:lnT>
                    <a:lnB w="47625" cap="flat" cmpd="sng" algn="ctr">
                      <a:solidFill>
                        <a:srgbClr val="E9DCC8"/>
                      </a:solidFill>
                      <a:prstDash val="solid"/>
                      <a:round/>
                      <a:headEnd type="none" w="med" len="med"/>
                      <a:tailEnd type="none" w="med" len="med"/>
                    </a:lnB>
                  </a:tcPr>
                </a:tc>
                <a:tc>
                  <a:txBody>
                    <a:bodyPr/>
                    <a:lstStyle/>
                    <a:p>
                      <a:pPr algn="just">
                        <a:lnSpc>
                          <a:spcPts val="2100"/>
                        </a:lnSpc>
                        <a:defRPr/>
                      </a:pPr>
                      <a:r>
                        <a:rPr lang="en-US" sz="1500">
                          <a:solidFill>
                            <a:srgbClr val="000000"/>
                          </a:solidFill>
                          <a:latin typeface="Canva Sans"/>
                          <a:ea typeface="Canva Sans"/>
                          <a:cs typeface="Canva Sans"/>
                          <a:sym typeface="Canva Sans"/>
                        </a:rPr>
                        <a:t>Docker</a:t>
                      </a:r>
                      <a:endParaRPr lang="en-US" sz="1100"/>
                    </a:p>
                  </a:txBody>
                  <a:tcPr marL="104775" marR="104775" marT="104775" marB="104775" anchor="ctr">
                    <a:lnL w="47625" cap="flat" cmpd="sng" algn="ctr">
                      <a:solidFill>
                        <a:srgbClr val="E9DCC8"/>
                      </a:solidFill>
                      <a:prstDash val="solid"/>
                      <a:round/>
                      <a:headEnd type="none" w="med" len="med"/>
                      <a:tailEnd type="none" w="med" len="med"/>
                    </a:lnL>
                    <a:lnR w="47625" cap="flat" cmpd="sng" algn="ctr">
                      <a:solidFill>
                        <a:srgbClr val="E9DCC8"/>
                      </a:solidFill>
                      <a:prstDash val="solid"/>
                      <a:round/>
                      <a:headEnd type="none" w="med" len="med"/>
                      <a:tailEnd type="none" w="med" len="med"/>
                    </a:lnR>
                    <a:lnT w="47625" cap="flat" cmpd="sng" algn="ctr">
                      <a:solidFill>
                        <a:srgbClr val="E9DCC8"/>
                      </a:solidFill>
                      <a:prstDash val="solid"/>
                      <a:round/>
                      <a:headEnd type="none" w="med" len="med"/>
                      <a:tailEnd type="none" w="med" len="med"/>
                    </a:lnT>
                    <a:lnB w="47625" cap="flat" cmpd="sng" algn="ctr">
                      <a:solidFill>
                        <a:srgbClr val="E9DCC8"/>
                      </a:solidFill>
                      <a:prstDash val="solid"/>
                      <a:round/>
                      <a:headEnd type="none" w="med" len="med"/>
                      <a:tailEnd type="none" w="med" len="med"/>
                    </a:lnB>
                  </a:tcPr>
                </a:tc>
                <a:tc>
                  <a:txBody>
                    <a:bodyPr/>
                    <a:lstStyle/>
                    <a:p>
                      <a:pPr algn="just">
                        <a:lnSpc>
                          <a:spcPts val="2100"/>
                        </a:lnSpc>
                        <a:defRPr/>
                      </a:pPr>
                      <a:r>
                        <a:rPr lang="en-US" sz="1500">
                          <a:solidFill>
                            <a:srgbClr val="000000"/>
                          </a:solidFill>
                          <a:latin typeface="Canva Sans"/>
                          <a:ea typeface="Canva Sans"/>
                          <a:cs typeface="Canva Sans"/>
                          <a:sym typeface="Canva Sans"/>
                        </a:rPr>
                        <a:t>Isolated, reproducible training runs</a:t>
                      </a:r>
                      <a:endParaRPr lang="en-US" sz="1100"/>
                    </a:p>
                  </a:txBody>
                  <a:tcPr marL="104775" marR="104775" marT="104775" marB="104775" anchor="ctr">
                    <a:lnL w="47625" cap="flat" cmpd="sng" algn="ctr">
                      <a:solidFill>
                        <a:srgbClr val="E9DCC8"/>
                      </a:solidFill>
                      <a:prstDash val="solid"/>
                      <a:round/>
                      <a:headEnd type="none" w="med" len="med"/>
                      <a:tailEnd type="none" w="med" len="med"/>
                    </a:lnL>
                    <a:lnR w="47625" cap="flat" cmpd="sng" algn="ctr">
                      <a:solidFill>
                        <a:srgbClr val="E9DCC8"/>
                      </a:solidFill>
                      <a:prstDash val="solid"/>
                      <a:round/>
                      <a:headEnd type="none" w="med" len="med"/>
                      <a:tailEnd type="none" w="med" len="med"/>
                    </a:lnR>
                    <a:lnT w="47625" cap="flat" cmpd="sng" algn="ctr">
                      <a:solidFill>
                        <a:srgbClr val="E9DCC8"/>
                      </a:solidFill>
                      <a:prstDash val="solid"/>
                      <a:round/>
                      <a:headEnd type="none" w="med" len="med"/>
                      <a:tailEnd type="none" w="med" len="med"/>
                    </a:lnT>
                    <a:lnB w="47625" cap="flat" cmpd="sng" algn="ctr">
                      <a:solidFill>
                        <a:srgbClr val="E9DCC8"/>
                      </a:solidFill>
                      <a:prstDash val="solid"/>
                      <a:round/>
                      <a:headEnd type="none" w="med" len="med"/>
                      <a:tailEnd type="none" w="med" len="med"/>
                    </a:lnB>
                  </a:tcPr>
                </a:tc>
                <a:extLst>
                  <a:ext uri="{0D108BD9-81ED-4DB2-BD59-A6C34878D82A}">
                    <a16:rowId xmlns:a16="http://schemas.microsoft.com/office/drawing/2014/main" val="10007"/>
                  </a:ext>
                </a:extLst>
              </a:tr>
              <a:tr h="566194">
                <a:tc>
                  <a:txBody>
                    <a:bodyPr/>
                    <a:lstStyle/>
                    <a:p>
                      <a:pPr algn="just">
                        <a:lnSpc>
                          <a:spcPts val="2100"/>
                        </a:lnSpc>
                        <a:defRPr/>
                      </a:pPr>
                      <a:r>
                        <a:rPr lang="en-US" sz="1500" b="1">
                          <a:solidFill>
                            <a:srgbClr val="000000"/>
                          </a:solidFill>
                          <a:latin typeface="Canva Sans Bold"/>
                          <a:ea typeface="Canva Sans Bold"/>
                          <a:cs typeface="Canva Sans Bold"/>
                          <a:sym typeface="Canva Sans Bold"/>
                        </a:rPr>
                        <a:t>AI Pricing</a:t>
                      </a:r>
                      <a:endParaRPr lang="en-US" sz="1100"/>
                    </a:p>
                  </a:txBody>
                  <a:tcPr marL="104775" marR="104775" marT="104775" marB="104775" anchor="ctr">
                    <a:lnL w="47625" cap="flat" cmpd="sng" algn="ctr">
                      <a:solidFill>
                        <a:srgbClr val="E9DCC8"/>
                      </a:solidFill>
                      <a:prstDash val="solid"/>
                      <a:round/>
                      <a:headEnd type="none" w="med" len="med"/>
                      <a:tailEnd type="none" w="med" len="med"/>
                    </a:lnL>
                    <a:lnR w="47625" cap="flat" cmpd="sng" algn="ctr">
                      <a:solidFill>
                        <a:srgbClr val="E9DCC8"/>
                      </a:solidFill>
                      <a:prstDash val="solid"/>
                      <a:round/>
                      <a:headEnd type="none" w="med" len="med"/>
                      <a:tailEnd type="none" w="med" len="med"/>
                    </a:lnR>
                    <a:lnT w="47625" cap="flat" cmpd="sng" algn="ctr">
                      <a:solidFill>
                        <a:srgbClr val="E9DCC8"/>
                      </a:solidFill>
                      <a:prstDash val="solid"/>
                      <a:round/>
                      <a:headEnd type="none" w="med" len="med"/>
                      <a:tailEnd type="none" w="med" len="med"/>
                    </a:lnT>
                    <a:lnB w="47625" cap="flat" cmpd="sng" algn="ctr">
                      <a:solidFill>
                        <a:srgbClr val="E9DCC8"/>
                      </a:solidFill>
                      <a:prstDash val="solid"/>
                      <a:round/>
                      <a:headEnd type="none" w="med" len="med"/>
                      <a:tailEnd type="none" w="med" len="med"/>
                    </a:lnB>
                  </a:tcPr>
                </a:tc>
                <a:tc>
                  <a:txBody>
                    <a:bodyPr/>
                    <a:lstStyle/>
                    <a:p>
                      <a:pPr algn="just">
                        <a:lnSpc>
                          <a:spcPts val="2100"/>
                        </a:lnSpc>
                        <a:defRPr/>
                      </a:pPr>
                      <a:r>
                        <a:rPr lang="en-US" sz="1500">
                          <a:solidFill>
                            <a:srgbClr val="000000"/>
                          </a:solidFill>
                          <a:latin typeface="Canva Sans"/>
                          <a:ea typeface="Canva Sans"/>
                          <a:cs typeface="Canva Sans"/>
                          <a:sym typeface="Canva Sans"/>
                        </a:rPr>
                        <a:t>Groq LLM API</a:t>
                      </a:r>
                      <a:endParaRPr lang="en-US" sz="1100"/>
                    </a:p>
                  </a:txBody>
                  <a:tcPr marL="104775" marR="104775" marT="104775" marB="104775" anchor="ctr">
                    <a:lnL w="47625" cap="flat" cmpd="sng" algn="ctr">
                      <a:solidFill>
                        <a:srgbClr val="E9DCC8"/>
                      </a:solidFill>
                      <a:prstDash val="solid"/>
                      <a:round/>
                      <a:headEnd type="none" w="med" len="med"/>
                      <a:tailEnd type="none" w="med" len="med"/>
                    </a:lnL>
                    <a:lnR w="47625" cap="flat" cmpd="sng" algn="ctr">
                      <a:solidFill>
                        <a:srgbClr val="E9DCC8"/>
                      </a:solidFill>
                      <a:prstDash val="solid"/>
                      <a:round/>
                      <a:headEnd type="none" w="med" len="med"/>
                      <a:tailEnd type="none" w="med" len="med"/>
                    </a:lnR>
                    <a:lnT w="47625" cap="flat" cmpd="sng" algn="ctr">
                      <a:solidFill>
                        <a:srgbClr val="E9DCC8"/>
                      </a:solidFill>
                      <a:prstDash val="solid"/>
                      <a:round/>
                      <a:headEnd type="none" w="med" len="med"/>
                      <a:tailEnd type="none" w="med" len="med"/>
                    </a:lnT>
                    <a:lnB w="47625" cap="flat" cmpd="sng" algn="ctr">
                      <a:solidFill>
                        <a:srgbClr val="E9DCC8"/>
                      </a:solidFill>
                      <a:prstDash val="solid"/>
                      <a:round/>
                      <a:headEnd type="none" w="med" len="med"/>
                      <a:tailEnd type="none" w="med" len="med"/>
                    </a:lnB>
                  </a:tcPr>
                </a:tc>
                <a:tc>
                  <a:txBody>
                    <a:bodyPr/>
                    <a:lstStyle/>
                    <a:p>
                      <a:pPr algn="just">
                        <a:lnSpc>
                          <a:spcPts val="2100"/>
                        </a:lnSpc>
                        <a:defRPr/>
                      </a:pPr>
                      <a:r>
                        <a:rPr lang="en-US" sz="1500">
                          <a:solidFill>
                            <a:srgbClr val="000000"/>
                          </a:solidFill>
                          <a:latin typeface="Canva Sans"/>
                          <a:ea typeface="Canva Sans"/>
                          <a:cs typeface="Canva Sans"/>
                          <a:sym typeface="Canva Sans"/>
                        </a:rPr>
                        <a:t>Job complexity scoring for pricing</a:t>
                      </a:r>
                      <a:endParaRPr lang="en-US" sz="1100"/>
                    </a:p>
                  </a:txBody>
                  <a:tcPr marL="104775" marR="104775" marT="104775" marB="104775" anchor="ctr">
                    <a:lnL w="47625" cap="flat" cmpd="sng" algn="ctr">
                      <a:solidFill>
                        <a:srgbClr val="E9DCC8"/>
                      </a:solidFill>
                      <a:prstDash val="solid"/>
                      <a:round/>
                      <a:headEnd type="none" w="med" len="med"/>
                      <a:tailEnd type="none" w="med" len="med"/>
                    </a:lnL>
                    <a:lnR w="47625" cap="flat" cmpd="sng" algn="ctr">
                      <a:solidFill>
                        <a:srgbClr val="E9DCC8"/>
                      </a:solidFill>
                      <a:prstDash val="solid"/>
                      <a:round/>
                      <a:headEnd type="none" w="med" len="med"/>
                      <a:tailEnd type="none" w="med" len="med"/>
                    </a:lnR>
                    <a:lnT w="47625" cap="flat" cmpd="sng" algn="ctr">
                      <a:solidFill>
                        <a:srgbClr val="E9DCC8"/>
                      </a:solidFill>
                      <a:prstDash val="solid"/>
                      <a:round/>
                      <a:headEnd type="none" w="med" len="med"/>
                      <a:tailEnd type="none" w="med" len="med"/>
                    </a:lnT>
                    <a:lnB w="47625" cap="flat" cmpd="sng" algn="ctr">
                      <a:solidFill>
                        <a:srgbClr val="E9DCC8"/>
                      </a:solidFill>
                      <a:prstDash val="solid"/>
                      <a:round/>
                      <a:headEnd type="none" w="med" len="med"/>
                      <a:tailEnd type="none" w="med" len="med"/>
                    </a:lnB>
                  </a:tcPr>
                </a:tc>
                <a:extLst>
                  <a:ext uri="{0D108BD9-81ED-4DB2-BD59-A6C34878D82A}">
                    <a16:rowId xmlns:a16="http://schemas.microsoft.com/office/drawing/2014/main" val="10008"/>
                  </a:ext>
                </a:extLst>
              </a:tr>
              <a:tr h="566194">
                <a:tc>
                  <a:txBody>
                    <a:bodyPr/>
                    <a:lstStyle/>
                    <a:p>
                      <a:pPr algn="just">
                        <a:lnSpc>
                          <a:spcPts val="2100"/>
                        </a:lnSpc>
                        <a:defRPr/>
                      </a:pPr>
                      <a:r>
                        <a:rPr lang="en-US" sz="1500" b="1">
                          <a:solidFill>
                            <a:srgbClr val="000000"/>
                          </a:solidFill>
                          <a:latin typeface="Canva Sans Bold"/>
                          <a:ea typeface="Canva Sans Bold"/>
                          <a:cs typeface="Canva Sans Bold"/>
                          <a:sym typeface="Canva Sans Bold"/>
                        </a:rPr>
                        <a:t>Payments</a:t>
                      </a:r>
                      <a:endParaRPr lang="en-US" sz="1100"/>
                    </a:p>
                  </a:txBody>
                  <a:tcPr marL="104775" marR="104775" marT="104775" marB="104775" anchor="ctr">
                    <a:lnL w="47625" cap="flat" cmpd="sng" algn="ctr">
                      <a:solidFill>
                        <a:srgbClr val="E9DCC8"/>
                      </a:solidFill>
                      <a:prstDash val="solid"/>
                      <a:round/>
                      <a:headEnd type="none" w="med" len="med"/>
                      <a:tailEnd type="none" w="med" len="med"/>
                    </a:lnL>
                    <a:lnR w="47625" cap="flat" cmpd="sng" algn="ctr">
                      <a:solidFill>
                        <a:srgbClr val="E9DCC8"/>
                      </a:solidFill>
                      <a:prstDash val="solid"/>
                      <a:round/>
                      <a:headEnd type="none" w="med" len="med"/>
                      <a:tailEnd type="none" w="med" len="med"/>
                    </a:lnR>
                    <a:lnT w="47625" cap="flat" cmpd="sng" algn="ctr">
                      <a:solidFill>
                        <a:srgbClr val="E9DCC8"/>
                      </a:solidFill>
                      <a:prstDash val="solid"/>
                      <a:round/>
                      <a:headEnd type="none" w="med" len="med"/>
                      <a:tailEnd type="none" w="med" len="med"/>
                    </a:lnT>
                    <a:lnB w="47625" cap="flat" cmpd="sng" algn="ctr">
                      <a:solidFill>
                        <a:srgbClr val="E9DCC8"/>
                      </a:solidFill>
                      <a:prstDash val="solid"/>
                      <a:round/>
                      <a:headEnd type="none" w="med" len="med"/>
                      <a:tailEnd type="none" w="med" len="med"/>
                    </a:lnB>
                  </a:tcPr>
                </a:tc>
                <a:tc>
                  <a:txBody>
                    <a:bodyPr/>
                    <a:lstStyle/>
                    <a:p>
                      <a:pPr algn="just">
                        <a:lnSpc>
                          <a:spcPts val="2100"/>
                        </a:lnSpc>
                        <a:defRPr/>
                      </a:pPr>
                      <a:r>
                        <a:rPr lang="en-US" sz="1500">
                          <a:solidFill>
                            <a:srgbClr val="000000"/>
                          </a:solidFill>
                          <a:latin typeface="Canva Sans"/>
                          <a:ea typeface="Canva Sans"/>
                          <a:cs typeface="Canva Sans"/>
                          <a:sym typeface="Canva Sans"/>
                        </a:rPr>
                        <a:t>Stripe + Stripe Connect</a:t>
                      </a:r>
                      <a:endParaRPr lang="en-US" sz="1100"/>
                    </a:p>
                  </a:txBody>
                  <a:tcPr marL="104775" marR="104775" marT="104775" marB="104775" anchor="ctr">
                    <a:lnL w="47625" cap="flat" cmpd="sng" algn="ctr">
                      <a:solidFill>
                        <a:srgbClr val="E9DCC8"/>
                      </a:solidFill>
                      <a:prstDash val="solid"/>
                      <a:round/>
                      <a:headEnd type="none" w="med" len="med"/>
                      <a:tailEnd type="none" w="med" len="med"/>
                    </a:lnL>
                    <a:lnR w="47625" cap="flat" cmpd="sng" algn="ctr">
                      <a:solidFill>
                        <a:srgbClr val="E9DCC8"/>
                      </a:solidFill>
                      <a:prstDash val="solid"/>
                      <a:round/>
                      <a:headEnd type="none" w="med" len="med"/>
                      <a:tailEnd type="none" w="med" len="med"/>
                    </a:lnR>
                    <a:lnT w="47625" cap="flat" cmpd="sng" algn="ctr">
                      <a:solidFill>
                        <a:srgbClr val="E9DCC8"/>
                      </a:solidFill>
                      <a:prstDash val="solid"/>
                      <a:round/>
                      <a:headEnd type="none" w="med" len="med"/>
                      <a:tailEnd type="none" w="med" len="med"/>
                    </a:lnT>
                    <a:lnB w="47625" cap="flat" cmpd="sng" algn="ctr">
                      <a:solidFill>
                        <a:srgbClr val="E9DCC8"/>
                      </a:solidFill>
                      <a:prstDash val="solid"/>
                      <a:round/>
                      <a:headEnd type="none" w="med" len="med"/>
                      <a:tailEnd type="none" w="med" len="med"/>
                    </a:lnB>
                  </a:tcPr>
                </a:tc>
                <a:tc>
                  <a:txBody>
                    <a:bodyPr/>
                    <a:lstStyle/>
                    <a:p>
                      <a:pPr algn="just">
                        <a:lnSpc>
                          <a:spcPts val="2100"/>
                        </a:lnSpc>
                        <a:defRPr/>
                      </a:pPr>
                      <a:r>
                        <a:rPr lang="en-US" sz="1500">
                          <a:solidFill>
                            <a:srgbClr val="000000"/>
                          </a:solidFill>
                          <a:latin typeface="Canva Sans"/>
                          <a:ea typeface="Canva Sans"/>
                          <a:cs typeface="Canva Sans"/>
                          <a:sym typeface="Canva Sans"/>
                        </a:rPr>
                        <a:t>Escrow, top-up, automatic payouts</a:t>
                      </a:r>
                      <a:endParaRPr lang="en-US" sz="1100"/>
                    </a:p>
                  </a:txBody>
                  <a:tcPr marL="104775" marR="104775" marT="104775" marB="104775" anchor="ctr">
                    <a:lnL w="47625" cap="flat" cmpd="sng" algn="ctr">
                      <a:solidFill>
                        <a:srgbClr val="E9DCC8"/>
                      </a:solidFill>
                      <a:prstDash val="solid"/>
                      <a:round/>
                      <a:headEnd type="none" w="med" len="med"/>
                      <a:tailEnd type="none" w="med" len="med"/>
                    </a:lnL>
                    <a:lnR w="47625" cap="flat" cmpd="sng" algn="ctr">
                      <a:solidFill>
                        <a:srgbClr val="E9DCC8"/>
                      </a:solidFill>
                      <a:prstDash val="solid"/>
                      <a:round/>
                      <a:headEnd type="none" w="med" len="med"/>
                      <a:tailEnd type="none" w="med" len="med"/>
                    </a:lnR>
                    <a:lnT w="47625" cap="flat" cmpd="sng" algn="ctr">
                      <a:solidFill>
                        <a:srgbClr val="E9DCC8"/>
                      </a:solidFill>
                      <a:prstDash val="solid"/>
                      <a:round/>
                      <a:headEnd type="none" w="med" len="med"/>
                      <a:tailEnd type="none" w="med" len="med"/>
                    </a:lnT>
                    <a:lnB w="47625" cap="flat" cmpd="sng" algn="ctr">
                      <a:solidFill>
                        <a:srgbClr val="E9DCC8"/>
                      </a:solidFill>
                      <a:prstDash val="solid"/>
                      <a:round/>
                      <a:headEnd type="none" w="med" len="med"/>
                      <a:tailEnd type="none" w="med" len="med"/>
                    </a:lnB>
                  </a:tcPr>
                </a:tc>
                <a:extLst>
                  <a:ext uri="{0D108BD9-81ED-4DB2-BD59-A6C34878D82A}">
                    <a16:rowId xmlns:a16="http://schemas.microsoft.com/office/drawing/2014/main" val="10009"/>
                  </a:ext>
                </a:extLst>
              </a:tr>
              <a:tr h="566194">
                <a:tc>
                  <a:txBody>
                    <a:bodyPr/>
                    <a:lstStyle/>
                    <a:p>
                      <a:pPr algn="just">
                        <a:lnSpc>
                          <a:spcPts val="2100"/>
                        </a:lnSpc>
                        <a:defRPr/>
                      </a:pPr>
                      <a:r>
                        <a:rPr lang="en-US" sz="1500" b="1">
                          <a:solidFill>
                            <a:srgbClr val="000000"/>
                          </a:solidFill>
                          <a:latin typeface="Canva Sans Bold"/>
                          <a:ea typeface="Canva Sans Bold"/>
                          <a:cs typeface="Canva Sans Bold"/>
                          <a:sym typeface="Canva Sans Bold"/>
                        </a:rPr>
                        <a:t>Authentication</a:t>
                      </a:r>
                      <a:endParaRPr lang="en-US" sz="1100"/>
                    </a:p>
                  </a:txBody>
                  <a:tcPr marL="104775" marR="104775" marT="104775" marB="104775" anchor="ctr">
                    <a:lnL w="47625" cap="flat" cmpd="sng" algn="ctr">
                      <a:solidFill>
                        <a:srgbClr val="E9DCC8"/>
                      </a:solidFill>
                      <a:prstDash val="solid"/>
                      <a:round/>
                      <a:headEnd type="none" w="med" len="med"/>
                      <a:tailEnd type="none" w="med" len="med"/>
                    </a:lnL>
                    <a:lnR w="47625" cap="flat" cmpd="sng" algn="ctr">
                      <a:solidFill>
                        <a:srgbClr val="E9DCC8"/>
                      </a:solidFill>
                      <a:prstDash val="solid"/>
                      <a:round/>
                      <a:headEnd type="none" w="med" len="med"/>
                      <a:tailEnd type="none" w="med" len="med"/>
                    </a:lnR>
                    <a:lnT w="47625" cap="flat" cmpd="sng" algn="ctr">
                      <a:solidFill>
                        <a:srgbClr val="E9DCC8"/>
                      </a:solidFill>
                      <a:prstDash val="solid"/>
                      <a:round/>
                      <a:headEnd type="none" w="med" len="med"/>
                      <a:tailEnd type="none" w="med" len="med"/>
                    </a:lnT>
                    <a:lnB w="47625" cap="flat" cmpd="sng" algn="ctr">
                      <a:solidFill>
                        <a:srgbClr val="E9DCC8"/>
                      </a:solidFill>
                      <a:prstDash val="solid"/>
                      <a:round/>
                      <a:headEnd type="none" w="med" len="med"/>
                      <a:tailEnd type="none" w="med" len="med"/>
                    </a:lnB>
                  </a:tcPr>
                </a:tc>
                <a:tc>
                  <a:txBody>
                    <a:bodyPr/>
                    <a:lstStyle/>
                    <a:p>
                      <a:pPr algn="just">
                        <a:lnSpc>
                          <a:spcPts val="2100"/>
                        </a:lnSpc>
                        <a:defRPr/>
                      </a:pPr>
                      <a:r>
                        <a:rPr lang="en-US" sz="1500">
                          <a:solidFill>
                            <a:srgbClr val="000000"/>
                          </a:solidFill>
                          <a:latin typeface="Canva Sans"/>
                          <a:ea typeface="Canva Sans"/>
                          <a:cs typeface="Canva Sans"/>
                          <a:sym typeface="Canva Sans"/>
                        </a:rPr>
                        <a:t>JWT + bcryptjs</a:t>
                      </a:r>
                      <a:endParaRPr lang="en-US" sz="1100"/>
                    </a:p>
                  </a:txBody>
                  <a:tcPr marL="104775" marR="104775" marT="104775" marB="104775" anchor="ctr">
                    <a:lnL w="47625" cap="flat" cmpd="sng" algn="ctr">
                      <a:solidFill>
                        <a:srgbClr val="E9DCC8"/>
                      </a:solidFill>
                      <a:prstDash val="solid"/>
                      <a:round/>
                      <a:headEnd type="none" w="med" len="med"/>
                      <a:tailEnd type="none" w="med" len="med"/>
                    </a:lnL>
                    <a:lnR w="47625" cap="flat" cmpd="sng" algn="ctr">
                      <a:solidFill>
                        <a:srgbClr val="E9DCC8"/>
                      </a:solidFill>
                      <a:prstDash val="solid"/>
                      <a:round/>
                      <a:headEnd type="none" w="med" len="med"/>
                      <a:tailEnd type="none" w="med" len="med"/>
                    </a:lnR>
                    <a:lnT w="47625" cap="flat" cmpd="sng" algn="ctr">
                      <a:solidFill>
                        <a:srgbClr val="E9DCC8"/>
                      </a:solidFill>
                      <a:prstDash val="solid"/>
                      <a:round/>
                      <a:headEnd type="none" w="med" len="med"/>
                      <a:tailEnd type="none" w="med" len="med"/>
                    </a:lnT>
                    <a:lnB w="47625" cap="flat" cmpd="sng" algn="ctr">
                      <a:solidFill>
                        <a:srgbClr val="E9DCC8"/>
                      </a:solidFill>
                      <a:prstDash val="solid"/>
                      <a:round/>
                      <a:headEnd type="none" w="med" len="med"/>
                      <a:tailEnd type="none" w="med" len="med"/>
                    </a:lnB>
                  </a:tcPr>
                </a:tc>
                <a:tc>
                  <a:txBody>
                    <a:bodyPr/>
                    <a:lstStyle/>
                    <a:p>
                      <a:pPr algn="just">
                        <a:lnSpc>
                          <a:spcPts val="2100"/>
                        </a:lnSpc>
                        <a:defRPr/>
                      </a:pPr>
                      <a:r>
                        <a:rPr lang="en-US" sz="1500">
                          <a:solidFill>
                            <a:srgbClr val="000000"/>
                          </a:solidFill>
                          <a:latin typeface="Canva Sans"/>
                          <a:ea typeface="Canva Sans"/>
                          <a:cs typeface="Canva Sans"/>
                          <a:sym typeface="Canva Sans"/>
                        </a:rPr>
                        <a:t>Stateless auth, secure password hashing</a:t>
                      </a:r>
                      <a:endParaRPr lang="en-US" sz="1100"/>
                    </a:p>
                  </a:txBody>
                  <a:tcPr marL="104775" marR="104775" marT="104775" marB="104775" anchor="ctr">
                    <a:lnL w="47625" cap="flat" cmpd="sng" algn="ctr">
                      <a:solidFill>
                        <a:srgbClr val="E9DCC8"/>
                      </a:solidFill>
                      <a:prstDash val="solid"/>
                      <a:round/>
                      <a:headEnd type="none" w="med" len="med"/>
                      <a:tailEnd type="none" w="med" len="med"/>
                    </a:lnL>
                    <a:lnR w="47625" cap="flat" cmpd="sng" algn="ctr">
                      <a:solidFill>
                        <a:srgbClr val="E9DCC8"/>
                      </a:solidFill>
                      <a:prstDash val="solid"/>
                      <a:round/>
                      <a:headEnd type="none" w="med" len="med"/>
                      <a:tailEnd type="none" w="med" len="med"/>
                    </a:lnR>
                    <a:lnT w="47625" cap="flat" cmpd="sng" algn="ctr">
                      <a:solidFill>
                        <a:srgbClr val="E9DCC8"/>
                      </a:solidFill>
                      <a:prstDash val="solid"/>
                      <a:round/>
                      <a:headEnd type="none" w="med" len="med"/>
                      <a:tailEnd type="none" w="med" len="med"/>
                    </a:lnT>
                    <a:lnB w="47625" cap="flat" cmpd="sng" algn="ctr">
                      <a:solidFill>
                        <a:srgbClr val="E9DCC8"/>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Tree>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858" y="0"/>
            <a:ext cx="18278284" cy="10287000"/>
            <a:chOff x="0" y="0"/>
            <a:chExt cx="24371046" cy="13716000"/>
          </a:xfrm>
        </p:grpSpPr>
        <p:sp>
          <p:nvSpPr>
            <p:cNvPr id="3" name="Freeform 3"/>
            <p:cNvSpPr/>
            <p:nvPr/>
          </p:nvSpPr>
          <p:spPr>
            <a:xfrm>
              <a:off x="0" y="0"/>
              <a:ext cx="24371046" cy="13716000"/>
            </a:xfrm>
            <a:custGeom>
              <a:avLst/>
              <a:gdLst/>
              <a:ahLst/>
              <a:cxnLst/>
              <a:rect l="l" t="t" r="r" b="b"/>
              <a:pathLst>
                <a:path w="24371046" h="13716000">
                  <a:moveTo>
                    <a:pt x="0" y="0"/>
                  </a:moveTo>
                  <a:lnTo>
                    <a:pt x="24371046" y="0"/>
                  </a:lnTo>
                  <a:lnTo>
                    <a:pt x="24371046" y="13716000"/>
                  </a:lnTo>
                  <a:lnTo>
                    <a:pt x="0" y="13716000"/>
                  </a:lnTo>
                  <a:lnTo>
                    <a:pt x="0" y="0"/>
                  </a:lnTo>
                  <a:close/>
                </a:path>
              </a:pathLst>
            </a:custGeom>
            <a:blipFill>
              <a:blip r:embed="rId2"/>
              <a:stretch>
                <a:fillRect/>
              </a:stretch>
            </a:blipFill>
          </p:spPr>
        </p:sp>
      </p:grpSp>
      <p:grpSp>
        <p:nvGrpSpPr>
          <p:cNvPr id="4" name="Group 4"/>
          <p:cNvGrpSpPr/>
          <p:nvPr/>
        </p:nvGrpSpPr>
        <p:grpSpPr>
          <a:xfrm>
            <a:off x="2322195" y="3981715"/>
            <a:ext cx="6473445" cy="4956810"/>
            <a:chOff x="0" y="0"/>
            <a:chExt cx="8631260" cy="6609080"/>
          </a:xfrm>
        </p:grpSpPr>
        <p:sp>
          <p:nvSpPr>
            <p:cNvPr id="5" name="Freeform 5"/>
            <p:cNvSpPr/>
            <p:nvPr/>
          </p:nvSpPr>
          <p:spPr>
            <a:xfrm>
              <a:off x="0" y="0"/>
              <a:ext cx="8631259" cy="6609080"/>
            </a:xfrm>
            <a:custGeom>
              <a:avLst/>
              <a:gdLst/>
              <a:ahLst/>
              <a:cxnLst/>
              <a:rect l="l" t="t" r="r" b="b"/>
              <a:pathLst>
                <a:path w="8631259" h="6609080">
                  <a:moveTo>
                    <a:pt x="0" y="128524"/>
                  </a:moveTo>
                  <a:cubicBezTo>
                    <a:pt x="0" y="57531"/>
                    <a:pt x="56113" y="0"/>
                    <a:pt x="125356" y="0"/>
                  </a:cubicBezTo>
                  <a:lnTo>
                    <a:pt x="8505903" y="0"/>
                  </a:lnTo>
                  <a:cubicBezTo>
                    <a:pt x="8575147" y="0"/>
                    <a:pt x="8631259" y="57531"/>
                    <a:pt x="8631259" y="128524"/>
                  </a:cubicBezTo>
                  <a:lnTo>
                    <a:pt x="8631259" y="6480556"/>
                  </a:lnTo>
                  <a:cubicBezTo>
                    <a:pt x="8631259" y="6551549"/>
                    <a:pt x="8575147" y="6609080"/>
                    <a:pt x="8505903" y="6609080"/>
                  </a:cubicBezTo>
                  <a:lnTo>
                    <a:pt x="125356" y="6609080"/>
                  </a:lnTo>
                  <a:cubicBezTo>
                    <a:pt x="56113" y="6609080"/>
                    <a:pt x="0" y="6551549"/>
                    <a:pt x="0" y="6480556"/>
                  </a:cubicBezTo>
                  <a:close/>
                </a:path>
              </a:pathLst>
            </a:custGeom>
            <a:solidFill>
              <a:srgbClr val="F1E6D3"/>
            </a:solidFill>
            <a:ln w="47625" cap="sq">
              <a:solidFill>
                <a:srgbClr val="E9DCC8"/>
              </a:solidFill>
              <a:prstDash val="solid"/>
              <a:miter/>
            </a:ln>
          </p:spPr>
        </p:sp>
      </p:grpSp>
      <p:grpSp>
        <p:nvGrpSpPr>
          <p:cNvPr id="6" name="Group 6"/>
          <p:cNvGrpSpPr/>
          <p:nvPr/>
        </p:nvGrpSpPr>
        <p:grpSpPr>
          <a:xfrm>
            <a:off x="9042500" y="3981715"/>
            <a:ext cx="6946165" cy="4956810"/>
            <a:chOff x="0" y="0"/>
            <a:chExt cx="9261553" cy="6609080"/>
          </a:xfrm>
        </p:grpSpPr>
        <p:sp>
          <p:nvSpPr>
            <p:cNvPr id="7" name="Freeform 7"/>
            <p:cNvSpPr/>
            <p:nvPr/>
          </p:nvSpPr>
          <p:spPr>
            <a:xfrm>
              <a:off x="0" y="0"/>
              <a:ext cx="9261553" cy="6609080"/>
            </a:xfrm>
            <a:custGeom>
              <a:avLst/>
              <a:gdLst/>
              <a:ahLst/>
              <a:cxnLst/>
              <a:rect l="l" t="t" r="r" b="b"/>
              <a:pathLst>
                <a:path w="9261553" h="6609080">
                  <a:moveTo>
                    <a:pt x="0" y="128524"/>
                  </a:moveTo>
                  <a:cubicBezTo>
                    <a:pt x="0" y="57531"/>
                    <a:pt x="60211" y="0"/>
                    <a:pt x="134510" y="0"/>
                  </a:cubicBezTo>
                  <a:lnTo>
                    <a:pt x="9127042" y="0"/>
                  </a:lnTo>
                  <a:cubicBezTo>
                    <a:pt x="9201342" y="0"/>
                    <a:pt x="9261553" y="57531"/>
                    <a:pt x="9261553" y="128524"/>
                  </a:cubicBezTo>
                  <a:lnTo>
                    <a:pt x="9261553" y="6480556"/>
                  </a:lnTo>
                  <a:cubicBezTo>
                    <a:pt x="9261553" y="6551549"/>
                    <a:pt x="9201342" y="6609080"/>
                    <a:pt x="9127042" y="6609080"/>
                  </a:cubicBezTo>
                  <a:lnTo>
                    <a:pt x="134510" y="6609080"/>
                  </a:lnTo>
                  <a:cubicBezTo>
                    <a:pt x="60211" y="6609080"/>
                    <a:pt x="0" y="6551549"/>
                    <a:pt x="0" y="6480556"/>
                  </a:cubicBezTo>
                  <a:close/>
                </a:path>
              </a:pathLst>
            </a:custGeom>
            <a:solidFill>
              <a:srgbClr val="F1E6D3"/>
            </a:solidFill>
            <a:ln w="47625" cap="sq">
              <a:solidFill>
                <a:srgbClr val="E9DCC8"/>
              </a:solidFill>
              <a:prstDash val="solid"/>
              <a:miter/>
            </a:ln>
          </p:spPr>
        </p:sp>
      </p:grpSp>
      <p:sp>
        <p:nvSpPr>
          <p:cNvPr id="8" name="Freeform 8"/>
          <p:cNvSpPr/>
          <p:nvPr/>
        </p:nvSpPr>
        <p:spPr>
          <a:xfrm>
            <a:off x="2440748" y="4540444"/>
            <a:ext cx="6193804" cy="3758865"/>
          </a:xfrm>
          <a:custGeom>
            <a:avLst/>
            <a:gdLst/>
            <a:ahLst/>
            <a:cxnLst/>
            <a:rect l="l" t="t" r="r" b="b"/>
            <a:pathLst>
              <a:path w="6193804" h="3758865">
                <a:moveTo>
                  <a:pt x="0" y="0"/>
                </a:moveTo>
                <a:lnTo>
                  <a:pt x="6193803" y="0"/>
                </a:lnTo>
                <a:lnTo>
                  <a:pt x="6193803" y="3758865"/>
                </a:lnTo>
                <a:lnTo>
                  <a:pt x="0" y="3758865"/>
                </a:lnTo>
                <a:lnTo>
                  <a:pt x="0" y="0"/>
                </a:lnTo>
                <a:close/>
              </a:path>
            </a:pathLst>
          </a:custGeom>
          <a:blipFill>
            <a:blip r:embed="rId3"/>
            <a:stretch>
              <a:fillRect/>
            </a:stretch>
          </a:blipFill>
        </p:spPr>
      </p:sp>
      <p:sp>
        <p:nvSpPr>
          <p:cNvPr id="9" name="Freeform 9"/>
          <p:cNvSpPr/>
          <p:nvPr/>
        </p:nvSpPr>
        <p:spPr>
          <a:xfrm>
            <a:off x="9148179" y="4540444"/>
            <a:ext cx="6734808" cy="3758865"/>
          </a:xfrm>
          <a:custGeom>
            <a:avLst/>
            <a:gdLst/>
            <a:ahLst/>
            <a:cxnLst/>
            <a:rect l="l" t="t" r="r" b="b"/>
            <a:pathLst>
              <a:path w="6734808" h="3758865">
                <a:moveTo>
                  <a:pt x="0" y="0"/>
                </a:moveTo>
                <a:lnTo>
                  <a:pt x="6734808" y="0"/>
                </a:lnTo>
                <a:lnTo>
                  <a:pt x="6734808" y="3758865"/>
                </a:lnTo>
                <a:lnTo>
                  <a:pt x="0" y="3758865"/>
                </a:lnTo>
                <a:lnTo>
                  <a:pt x="0" y="0"/>
                </a:lnTo>
                <a:close/>
              </a:path>
            </a:pathLst>
          </a:custGeom>
          <a:blipFill>
            <a:blip r:embed="rId4"/>
            <a:stretch>
              <a:fillRect/>
            </a:stretch>
          </a:blipFill>
        </p:spPr>
      </p:sp>
      <p:grpSp>
        <p:nvGrpSpPr>
          <p:cNvPr id="10" name="Group 10"/>
          <p:cNvGrpSpPr/>
          <p:nvPr/>
        </p:nvGrpSpPr>
        <p:grpSpPr>
          <a:xfrm rot="1871017">
            <a:off x="8113077" y="6296960"/>
            <a:ext cx="129424" cy="96372"/>
            <a:chOff x="0" y="0"/>
            <a:chExt cx="172494" cy="128442"/>
          </a:xfrm>
        </p:grpSpPr>
        <p:sp>
          <p:nvSpPr>
            <p:cNvPr id="11" name="Freeform 11"/>
            <p:cNvSpPr/>
            <p:nvPr/>
          </p:nvSpPr>
          <p:spPr>
            <a:xfrm>
              <a:off x="0" y="0"/>
              <a:ext cx="172494" cy="128442"/>
            </a:xfrm>
            <a:custGeom>
              <a:avLst/>
              <a:gdLst/>
              <a:ahLst/>
              <a:cxnLst/>
              <a:rect l="l" t="t" r="r" b="b"/>
              <a:pathLst>
                <a:path w="172494" h="128442">
                  <a:moveTo>
                    <a:pt x="0" y="0"/>
                  </a:moveTo>
                  <a:lnTo>
                    <a:pt x="172494" y="0"/>
                  </a:lnTo>
                  <a:lnTo>
                    <a:pt x="172494" y="128442"/>
                  </a:lnTo>
                  <a:lnTo>
                    <a:pt x="0" y="128442"/>
                  </a:lnTo>
                  <a:close/>
                </a:path>
              </a:pathLst>
            </a:custGeom>
            <a:solidFill>
              <a:srgbClr val="F1E6D3"/>
            </a:solidFill>
          </p:spPr>
        </p:sp>
        <p:sp>
          <p:nvSpPr>
            <p:cNvPr id="12" name="TextBox 12"/>
            <p:cNvSpPr txBox="1"/>
            <p:nvPr/>
          </p:nvSpPr>
          <p:spPr>
            <a:xfrm>
              <a:off x="0" y="-9525"/>
              <a:ext cx="172494" cy="137967"/>
            </a:xfrm>
            <a:prstGeom prst="rect">
              <a:avLst/>
            </a:prstGeom>
          </p:spPr>
          <p:txBody>
            <a:bodyPr lIns="50800" tIns="50800" rIns="50800" bIns="50800" rtlCol="0" anchor="ctr"/>
            <a:lstStyle/>
            <a:p>
              <a:pPr algn="ctr">
                <a:lnSpc>
                  <a:spcPts val="2160"/>
                </a:lnSpc>
              </a:pPr>
              <a:endParaRPr/>
            </a:p>
          </p:txBody>
        </p:sp>
      </p:grpSp>
      <p:sp>
        <p:nvSpPr>
          <p:cNvPr id="13" name="TextBox 13"/>
          <p:cNvSpPr txBox="1"/>
          <p:nvPr/>
        </p:nvSpPr>
        <p:spPr>
          <a:xfrm>
            <a:off x="4018895" y="943447"/>
            <a:ext cx="10250210" cy="580390"/>
          </a:xfrm>
          <a:prstGeom prst="rect">
            <a:avLst/>
          </a:prstGeom>
        </p:spPr>
        <p:txBody>
          <a:bodyPr wrap="square" lIns="0" tIns="0" rIns="0" bIns="0" rtlCol="0" anchor="t">
            <a:spAutoFit/>
          </a:bodyPr>
          <a:lstStyle/>
          <a:p>
            <a:pPr algn="ctr">
              <a:lnSpc>
                <a:spcPts val="4759"/>
              </a:lnSpc>
              <a:spcBef>
                <a:spcPct val="0"/>
              </a:spcBef>
            </a:pPr>
            <a:r>
              <a:rPr lang="en-US" sz="3399" b="1" dirty="0">
                <a:solidFill>
                  <a:srgbClr val="000000"/>
                </a:solidFill>
                <a:latin typeface="Canva Sans Bold"/>
                <a:ea typeface="Canva Sans Bold"/>
                <a:cs typeface="Canva Sans Bold"/>
                <a:sym typeface="Canva Sans Bold"/>
              </a:rPr>
              <a:t>Performance &amp; Cost — A Modeled Comparison</a:t>
            </a:r>
          </a:p>
        </p:txBody>
      </p:sp>
      <p:sp>
        <p:nvSpPr>
          <p:cNvPr id="14" name="TextBox 14"/>
          <p:cNvSpPr txBox="1"/>
          <p:nvPr/>
        </p:nvSpPr>
        <p:spPr>
          <a:xfrm>
            <a:off x="2336397" y="2116256"/>
            <a:ext cx="13615207" cy="1627334"/>
          </a:xfrm>
          <a:prstGeom prst="rect">
            <a:avLst/>
          </a:prstGeom>
        </p:spPr>
        <p:txBody>
          <a:bodyPr lIns="0" tIns="0" rIns="0" bIns="0" rtlCol="0" anchor="t">
            <a:spAutoFit/>
          </a:bodyPr>
          <a:lstStyle/>
          <a:p>
            <a:pPr algn="just">
              <a:lnSpc>
                <a:spcPts val="3229"/>
              </a:lnSpc>
              <a:spcBef>
                <a:spcPct val="0"/>
              </a:spcBef>
            </a:pPr>
            <a:r>
              <a:rPr lang="en-US" sz="2306">
                <a:solidFill>
                  <a:srgbClr val="000000"/>
                </a:solidFill>
                <a:latin typeface="Canva Sans"/>
                <a:ea typeface="Canva Sans"/>
                <a:cs typeface="Canva Sans"/>
                <a:sym typeface="Canva Sans"/>
              </a:rPr>
              <a:t>Training time and cost were calculated using published GPU specs (TFLOPS) and real AWS pricing for each hardware tier, since testing identical jobs across four physical machines wasn't feasible within project scope. These are projected estimates, not numbers measured on live hardware.</a:t>
            </a:r>
          </a:p>
        </p:txBody>
      </p:sp>
      <p:grpSp>
        <p:nvGrpSpPr>
          <p:cNvPr id="15" name="Group 15"/>
          <p:cNvGrpSpPr/>
          <p:nvPr/>
        </p:nvGrpSpPr>
        <p:grpSpPr>
          <a:xfrm rot="1988997">
            <a:off x="8030677" y="6257927"/>
            <a:ext cx="80887" cy="70870"/>
            <a:chOff x="0" y="0"/>
            <a:chExt cx="146596" cy="128442"/>
          </a:xfrm>
        </p:grpSpPr>
        <p:sp>
          <p:nvSpPr>
            <p:cNvPr id="16" name="Freeform 16"/>
            <p:cNvSpPr/>
            <p:nvPr/>
          </p:nvSpPr>
          <p:spPr>
            <a:xfrm>
              <a:off x="0" y="0"/>
              <a:ext cx="146596" cy="128442"/>
            </a:xfrm>
            <a:custGeom>
              <a:avLst/>
              <a:gdLst/>
              <a:ahLst/>
              <a:cxnLst/>
              <a:rect l="l" t="t" r="r" b="b"/>
              <a:pathLst>
                <a:path w="146596" h="128442">
                  <a:moveTo>
                    <a:pt x="0" y="0"/>
                  </a:moveTo>
                  <a:lnTo>
                    <a:pt x="146596" y="0"/>
                  </a:lnTo>
                  <a:lnTo>
                    <a:pt x="146596" y="128442"/>
                  </a:lnTo>
                  <a:lnTo>
                    <a:pt x="0" y="128442"/>
                  </a:lnTo>
                  <a:close/>
                </a:path>
              </a:pathLst>
            </a:custGeom>
            <a:solidFill>
              <a:srgbClr val="F1E6D3"/>
            </a:solidFill>
          </p:spPr>
        </p:sp>
        <p:sp>
          <p:nvSpPr>
            <p:cNvPr id="17" name="TextBox 17"/>
            <p:cNvSpPr txBox="1"/>
            <p:nvPr/>
          </p:nvSpPr>
          <p:spPr>
            <a:xfrm>
              <a:off x="0" y="-9525"/>
              <a:ext cx="146596" cy="137967"/>
            </a:xfrm>
            <a:prstGeom prst="rect">
              <a:avLst/>
            </a:prstGeom>
          </p:spPr>
          <p:txBody>
            <a:bodyPr lIns="50800" tIns="50800" rIns="50800" bIns="50800" rtlCol="0" anchor="ctr"/>
            <a:lstStyle/>
            <a:p>
              <a:pPr algn="ctr">
                <a:lnSpc>
                  <a:spcPts val="2160"/>
                </a:lnSpc>
              </a:pPr>
              <a:endParaRPr/>
            </a:p>
          </p:txBody>
        </p:sp>
      </p:grpSp>
      <p:grpSp>
        <p:nvGrpSpPr>
          <p:cNvPr id="18" name="Group 18"/>
          <p:cNvGrpSpPr/>
          <p:nvPr/>
        </p:nvGrpSpPr>
        <p:grpSpPr>
          <a:xfrm rot="1984592">
            <a:off x="8118351" y="6268972"/>
            <a:ext cx="40444" cy="24897"/>
            <a:chOff x="0" y="0"/>
            <a:chExt cx="146596" cy="90243"/>
          </a:xfrm>
        </p:grpSpPr>
        <p:sp>
          <p:nvSpPr>
            <p:cNvPr id="19" name="Freeform 19"/>
            <p:cNvSpPr/>
            <p:nvPr/>
          </p:nvSpPr>
          <p:spPr>
            <a:xfrm>
              <a:off x="0" y="0"/>
              <a:ext cx="146596" cy="90243"/>
            </a:xfrm>
            <a:custGeom>
              <a:avLst/>
              <a:gdLst/>
              <a:ahLst/>
              <a:cxnLst/>
              <a:rect l="l" t="t" r="r" b="b"/>
              <a:pathLst>
                <a:path w="146596" h="90243">
                  <a:moveTo>
                    <a:pt x="0" y="0"/>
                  </a:moveTo>
                  <a:lnTo>
                    <a:pt x="146596" y="0"/>
                  </a:lnTo>
                  <a:lnTo>
                    <a:pt x="146596" y="90243"/>
                  </a:lnTo>
                  <a:lnTo>
                    <a:pt x="0" y="90243"/>
                  </a:lnTo>
                  <a:close/>
                </a:path>
              </a:pathLst>
            </a:custGeom>
            <a:solidFill>
              <a:srgbClr val="F1E6D3"/>
            </a:solidFill>
          </p:spPr>
        </p:sp>
        <p:sp>
          <p:nvSpPr>
            <p:cNvPr id="20" name="TextBox 20"/>
            <p:cNvSpPr txBox="1"/>
            <p:nvPr/>
          </p:nvSpPr>
          <p:spPr>
            <a:xfrm>
              <a:off x="0" y="-9525"/>
              <a:ext cx="146596" cy="99768"/>
            </a:xfrm>
            <a:prstGeom prst="rect">
              <a:avLst/>
            </a:prstGeom>
          </p:spPr>
          <p:txBody>
            <a:bodyPr lIns="50800" tIns="50800" rIns="50800" bIns="50800" rtlCol="0" anchor="ctr"/>
            <a:lstStyle/>
            <a:p>
              <a:pPr algn="ctr">
                <a:lnSpc>
                  <a:spcPts val="2160"/>
                </a:lnSpc>
              </a:pPr>
              <a:endParaRPr/>
            </a:p>
          </p:txBody>
        </p:sp>
      </p:grpSp>
    </p:spTree>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78284" cy="10287000"/>
            <a:chOff x="0" y="0"/>
            <a:chExt cx="24371046" cy="13716000"/>
          </a:xfrm>
        </p:grpSpPr>
        <p:sp>
          <p:nvSpPr>
            <p:cNvPr id="3" name="Freeform 3"/>
            <p:cNvSpPr/>
            <p:nvPr/>
          </p:nvSpPr>
          <p:spPr>
            <a:xfrm>
              <a:off x="0" y="0"/>
              <a:ext cx="24371046" cy="13716000"/>
            </a:xfrm>
            <a:custGeom>
              <a:avLst/>
              <a:gdLst/>
              <a:ahLst/>
              <a:cxnLst/>
              <a:rect l="l" t="t" r="r" b="b"/>
              <a:pathLst>
                <a:path w="24371046" h="13716000">
                  <a:moveTo>
                    <a:pt x="0" y="0"/>
                  </a:moveTo>
                  <a:lnTo>
                    <a:pt x="24371046" y="0"/>
                  </a:lnTo>
                  <a:lnTo>
                    <a:pt x="24371046" y="13716000"/>
                  </a:lnTo>
                  <a:lnTo>
                    <a:pt x="0" y="13716000"/>
                  </a:lnTo>
                  <a:lnTo>
                    <a:pt x="0" y="0"/>
                  </a:lnTo>
                  <a:close/>
                </a:path>
              </a:pathLst>
            </a:custGeom>
            <a:blipFill>
              <a:blip r:embed="rId2"/>
              <a:stretch>
                <a:fillRect/>
              </a:stretch>
            </a:blipFill>
          </p:spPr>
        </p:sp>
      </p:grpSp>
      <p:grpSp>
        <p:nvGrpSpPr>
          <p:cNvPr id="4" name="Group 4"/>
          <p:cNvGrpSpPr/>
          <p:nvPr/>
        </p:nvGrpSpPr>
        <p:grpSpPr>
          <a:xfrm>
            <a:off x="2322195" y="3769995"/>
            <a:ext cx="6637020" cy="2556510"/>
            <a:chOff x="0" y="0"/>
            <a:chExt cx="8849360" cy="3408680"/>
          </a:xfrm>
        </p:grpSpPr>
        <p:sp>
          <p:nvSpPr>
            <p:cNvPr id="5" name="Freeform 5"/>
            <p:cNvSpPr/>
            <p:nvPr/>
          </p:nvSpPr>
          <p:spPr>
            <a:xfrm>
              <a:off x="0" y="0"/>
              <a:ext cx="8849360" cy="3408680"/>
            </a:xfrm>
            <a:custGeom>
              <a:avLst/>
              <a:gdLst/>
              <a:ahLst/>
              <a:cxnLst/>
              <a:rect l="l" t="t" r="r" b="b"/>
              <a:pathLst>
                <a:path w="8849360" h="3408680">
                  <a:moveTo>
                    <a:pt x="0" y="147447"/>
                  </a:moveTo>
                  <a:cubicBezTo>
                    <a:pt x="0" y="66040"/>
                    <a:pt x="66040" y="0"/>
                    <a:pt x="147447" y="0"/>
                  </a:cubicBezTo>
                  <a:lnTo>
                    <a:pt x="8701913" y="0"/>
                  </a:lnTo>
                  <a:cubicBezTo>
                    <a:pt x="8783320" y="0"/>
                    <a:pt x="8849360" y="66040"/>
                    <a:pt x="8849360" y="147447"/>
                  </a:cubicBezTo>
                  <a:lnTo>
                    <a:pt x="8849360" y="3261233"/>
                  </a:lnTo>
                  <a:cubicBezTo>
                    <a:pt x="8849360" y="3342640"/>
                    <a:pt x="8783320" y="3408680"/>
                    <a:pt x="8701913" y="3408680"/>
                  </a:cubicBezTo>
                  <a:lnTo>
                    <a:pt x="147447" y="3408680"/>
                  </a:lnTo>
                  <a:cubicBezTo>
                    <a:pt x="66040" y="3408680"/>
                    <a:pt x="0" y="3342640"/>
                    <a:pt x="0" y="3261233"/>
                  </a:cubicBezTo>
                  <a:close/>
                </a:path>
              </a:pathLst>
            </a:custGeom>
            <a:solidFill>
              <a:srgbClr val="FDF8F1"/>
            </a:solidFill>
            <a:ln w="47625" cap="sq">
              <a:solidFill>
                <a:srgbClr val="E9DCC8"/>
              </a:solidFill>
              <a:prstDash val="solid"/>
              <a:miter/>
            </a:ln>
          </p:spPr>
        </p:sp>
      </p:grpSp>
      <p:grpSp>
        <p:nvGrpSpPr>
          <p:cNvPr id="6" name="Group 6"/>
          <p:cNvGrpSpPr/>
          <p:nvPr/>
        </p:nvGrpSpPr>
        <p:grpSpPr>
          <a:xfrm>
            <a:off x="2633472" y="4139565"/>
            <a:ext cx="658368" cy="658368"/>
            <a:chOff x="0" y="0"/>
            <a:chExt cx="877824" cy="877824"/>
          </a:xfrm>
        </p:grpSpPr>
        <p:sp>
          <p:nvSpPr>
            <p:cNvPr id="7" name="Freeform 7"/>
            <p:cNvSpPr/>
            <p:nvPr/>
          </p:nvSpPr>
          <p:spPr>
            <a:xfrm>
              <a:off x="0" y="0"/>
              <a:ext cx="877824" cy="877824"/>
            </a:xfrm>
            <a:custGeom>
              <a:avLst/>
              <a:gdLst/>
              <a:ahLst/>
              <a:cxnLst/>
              <a:rect l="l" t="t" r="r" b="b"/>
              <a:pathLst>
                <a:path w="877824" h="877824">
                  <a:moveTo>
                    <a:pt x="0" y="438912"/>
                  </a:moveTo>
                  <a:cubicBezTo>
                    <a:pt x="0" y="196469"/>
                    <a:pt x="196469" y="0"/>
                    <a:pt x="438912" y="0"/>
                  </a:cubicBezTo>
                  <a:cubicBezTo>
                    <a:pt x="681355" y="0"/>
                    <a:pt x="877824" y="196469"/>
                    <a:pt x="877824" y="438912"/>
                  </a:cubicBezTo>
                  <a:cubicBezTo>
                    <a:pt x="877824" y="681355"/>
                    <a:pt x="681355" y="877824"/>
                    <a:pt x="438912" y="877824"/>
                  </a:cubicBezTo>
                  <a:cubicBezTo>
                    <a:pt x="196469" y="877824"/>
                    <a:pt x="0" y="681355"/>
                    <a:pt x="0" y="438912"/>
                  </a:cubicBezTo>
                  <a:close/>
                </a:path>
              </a:pathLst>
            </a:custGeom>
            <a:solidFill>
              <a:srgbClr val="F1E6D3"/>
            </a:solidFill>
          </p:spPr>
        </p:sp>
      </p:grpSp>
      <p:grpSp>
        <p:nvGrpSpPr>
          <p:cNvPr id="8" name="Group 8"/>
          <p:cNvGrpSpPr/>
          <p:nvPr/>
        </p:nvGrpSpPr>
        <p:grpSpPr>
          <a:xfrm>
            <a:off x="3456432" y="3998976"/>
            <a:ext cx="3051810" cy="480060"/>
            <a:chOff x="0" y="0"/>
            <a:chExt cx="4069080" cy="640080"/>
          </a:xfrm>
        </p:grpSpPr>
        <p:sp>
          <p:nvSpPr>
            <p:cNvPr id="9" name="Freeform 9"/>
            <p:cNvSpPr/>
            <p:nvPr/>
          </p:nvSpPr>
          <p:spPr>
            <a:xfrm>
              <a:off x="0" y="0"/>
              <a:ext cx="4069080" cy="640080"/>
            </a:xfrm>
            <a:custGeom>
              <a:avLst/>
              <a:gdLst/>
              <a:ahLst/>
              <a:cxnLst/>
              <a:rect l="l" t="t" r="r" b="b"/>
              <a:pathLst>
                <a:path w="4069080" h="640080">
                  <a:moveTo>
                    <a:pt x="0" y="0"/>
                  </a:moveTo>
                  <a:lnTo>
                    <a:pt x="4069080" y="0"/>
                  </a:lnTo>
                  <a:lnTo>
                    <a:pt x="4069080" y="640080"/>
                  </a:lnTo>
                  <a:lnTo>
                    <a:pt x="0" y="640080"/>
                  </a:lnTo>
                  <a:close/>
                </a:path>
              </a:pathLst>
            </a:custGeom>
            <a:blipFill>
              <a:blip r:embed="rId3">
                <a:alphaModFix amt="0"/>
              </a:blip>
              <a:stretch>
                <a:fillRect t="-73869" b="-73869"/>
              </a:stretch>
            </a:blipFill>
          </p:spPr>
        </p:sp>
        <p:sp>
          <p:nvSpPr>
            <p:cNvPr id="10" name="TextBox 10"/>
            <p:cNvSpPr txBox="1"/>
            <p:nvPr/>
          </p:nvSpPr>
          <p:spPr>
            <a:xfrm>
              <a:off x="0" y="-9525"/>
              <a:ext cx="4069080" cy="649605"/>
            </a:xfrm>
            <a:prstGeom prst="rect">
              <a:avLst/>
            </a:prstGeom>
          </p:spPr>
          <p:txBody>
            <a:bodyPr lIns="0" tIns="0" rIns="0" bIns="0" rtlCol="0" anchor="ctr"/>
            <a:lstStyle/>
            <a:p>
              <a:pPr algn="l">
                <a:lnSpc>
                  <a:spcPts val="2430"/>
                </a:lnSpc>
              </a:pPr>
              <a:r>
                <a:rPr lang="en-US" sz="2025" b="1">
                  <a:solidFill>
                    <a:srgbClr val="26324A"/>
                  </a:solidFill>
                  <a:latin typeface="Cambria Bold"/>
                  <a:ea typeface="Cambria Bold"/>
                  <a:cs typeface="Cambria Bold"/>
                  <a:sym typeface="Cambria Bold"/>
                </a:rPr>
                <a:t>Technical</a:t>
              </a:r>
            </a:p>
          </p:txBody>
        </p:sp>
      </p:grpSp>
      <p:grpSp>
        <p:nvGrpSpPr>
          <p:cNvPr id="11" name="Group 11"/>
          <p:cNvGrpSpPr/>
          <p:nvPr/>
        </p:nvGrpSpPr>
        <p:grpSpPr>
          <a:xfrm>
            <a:off x="6823710" y="4166997"/>
            <a:ext cx="571500" cy="219456"/>
            <a:chOff x="0" y="0"/>
            <a:chExt cx="762000" cy="292608"/>
          </a:xfrm>
        </p:grpSpPr>
        <p:sp>
          <p:nvSpPr>
            <p:cNvPr id="12" name="Freeform 12"/>
            <p:cNvSpPr/>
            <p:nvPr/>
          </p:nvSpPr>
          <p:spPr>
            <a:xfrm>
              <a:off x="0" y="0"/>
              <a:ext cx="762000" cy="292608"/>
            </a:xfrm>
            <a:custGeom>
              <a:avLst/>
              <a:gdLst/>
              <a:ahLst/>
              <a:cxnLst/>
              <a:rect l="l" t="t" r="r" b="b"/>
              <a:pathLst>
                <a:path w="762000" h="292608">
                  <a:moveTo>
                    <a:pt x="0" y="54864"/>
                  </a:moveTo>
                  <a:cubicBezTo>
                    <a:pt x="0" y="24511"/>
                    <a:pt x="24511" y="0"/>
                    <a:pt x="54864" y="0"/>
                  </a:cubicBezTo>
                  <a:lnTo>
                    <a:pt x="707136" y="0"/>
                  </a:lnTo>
                  <a:cubicBezTo>
                    <a:pt x="737489" y="0"/>
                    <a:pt x="762000" y="24511"/>
                    <a:pt x="762000" y="54864"/>
                  </a:cubicBezTo>
                  <a:lnTo>
                    <a:pt x="762000" y="237744"/>
                  </a:lnTo>
                  <a:cubicBezTo>
                    <a:pt x="762000" y="268097"/>
                    <a:pt x="737489" y="292608"/>
                    <a:pt x="707136" y="292608"/>
                  </a:cubicBezTo>
                  <a:lnTo>
                    <a:pt x="54864" y="292608"/>
                  </a:lnTo>
                  <a:cubicBezTo>
                    <a:pt x="24511" y="292608"/>
                    <a:pt x="0" y="268097"/>
                    <a:pt x="0" y="237744"/>
                  </a:cubicBezTo>
                  <a:close/>
                </a:path>
              </a:pathLst>
            </a:custGeom>
            <a:solidFill>
              <a:srgbClr val="C8912E"/>
            </a:solidFill>
          </p:spPr>
        </p:sp>
      </p:grpSp>
      <p:grpSp>
        <p:nvGrpSpPr>
          <p:cNvPr id="13" name="Group 13"/>
          <p:cNvGrpSpPr/>
          <p:nvPr/>
        </p:nvGrpSpPr>
        <p:grpSpPr>
          <a:xfrm>
            <a:off x="7463790" y="4166997"/>
            <a:ext cx="571500" cy="219456"/>
            <a:chOff x="0" y="0"/>
            <a:chExt cx="762000" cy="292608"/>
          </a:xfrm>
        </p:grpSpPr>
        <p:sp>
          <p:nvSpPr>
            <p:cNvPr id="14" name="Freeform 14"/>
            <p:cNvSpPr/>
            <p:nvPr/>
          </p:nvSpPr>
          <p:spPr>
            <a:xfrm>
              <a:off x="0" y="0"/>
              <a:ext cx="762000" cy="292608"/>
            </a:xfrm>
            <a:custGeom>
              <a:avLst/>
              <a:gdLst/>
              <a:ahLst/>
              <a:cxnLst/>
              <a:rect l="l" t="t" r="r" b="b"/>
              <a:pathLst>
                <a:path w="762000" h="292608">
                  <a:moveTo>
                    <a:pt x="0" y="54864"/>
                  </a:moveTo>
                  <a:cubicBezTo>
                    <a:pt x="0" y="24511"/>
                    <a:pt x="24511" y="0"/>
                    <a:pt x="54864" y="0"/>
                  </a:cubicBezTo>
                  <a:lnTo>
                    <a:pt x="707136" y="0"/>
                  </a:lnTo>
                  <a:cubicBezTo>
                    <a:pt x="737489" y="0"/>
                    <a:pt x="762000" y="24511"/>
                    <a:pt x="762000" y="54864"/>
                  </a:cubicBezTo>
                  <a:lnTo>
                    <a:pt x="762000" y="237744"/>
                  </a:lnTo>
                  <a:cubicBezTo>
                    <a:pt x="762000" y="268097"/>
                    <a:pt x="737489" y="292608"/>
                    <a:pt x="707136" y="292608"/>
                  </a:cubicBezTo>
                  <a:lnTo>
                    <a:pt x="54864" y="292608"/>
                  </a:lnTo>
                  <a:cubicBezTo>
                    <a:pt x="24511" y="292608"/>
                    <a:pt x="0" y="268097"/>
                    <a:pt x="0" y="237744"/>
                  </a:cubicBezTo>
                  <a:close/>
                </a:path>
              </a:pathLst>
            </a:custGeom>
            <a:solidFill>
              <a:srgbClr val="C8912E"/>
            </a:solidFill>
          </p:spPr>
        </p:sp>
      </p:grpSp>
      <p:grpSp>
        <p:nvGrpSpPr>
          <p:cNvPr id="15" name="Group 15"/>
          <p:cNvGrpSpPr/>
          <p:nvPr/>
        </p:nvGrpSpPr>
        <p:grpSpPr>
          <a:xfrm>
            <a:off x="8103870" y="4166997"/>
            <a:ext cx="571500" cy="219456"/>
            <a:chOff x="0" y="0"/>
            <a:chExt cx="762000" cy="292608"/>
          </a:xfrm>
        </p:grpSpPr>
        <p:sp>
          <p:nvSpPr>
            <p:cNvPr id="16" name="Freeform 16"/>
            <p:cNvSpPr/>
            <p:nvPr/>
          </p:nvSpPr>
          <p:spPr>
            <a:xfrm>
              <a:off x="0" y="0"/>
              <a:ext cx="762000" cy="292608"/>
            </a:xfrm>
            <a:custGeom>
              <a:avLst/>
              <a:gdLst/>
              <a:ahLst/>
              <a:cxnLst/>
              <a:rect l="l" t="t" r="r" b="b"/>
              <a:pathLst>
                <a:path w="762000" h="292608">
                  <a:moveTo>
                    <a:pt x="0" y="54864"/>
                  </a:moveTo>
                  <a:cubicBezTo>
                    <a:pt x="0" y="24511"/>
                    <a:pt x="24511" y="0"/>
                    <a:pt x="54864" y="0"/>
                  </a:cubicBezTo>
                  <a:lnTo>
                    <a:pt x="707136" y="0"/>
                  </a:lnTo>
                  <a:cubicBezTo>
                    <a:pt x="737489" y="0"/>
                    <a:pt x="762000" y="24511"/>
                    <a:pt x="762000" y="54864"/>
                  </a:cubicBezTo>
                  <a:lnTo>
                    <a:pt x="762000" y="237744"/>
                  </a:lnTo>
                  <a:cubicBezTo>
                    <a:pt x="762000" y="268097"/>
                    <a:pt x="737489" y="292608"/>
                    <a:pt x="707136" y="292608"/>
                  </a:cubicBezTo>
                  <a:lnTo>
                    <a:pt x="54864" y="292608"/>
                  </a:lnTo>
                  <a:cubicBezTo>
                    <a:pt x="24511" y="292608"/>
                    <a:pt x="0" y="268097"/>
                    <a:pt x="0" y="237744"/>
                  </a:cubicBezTo>
                  <a:close/>
                </a:path>
              </a:pathLst>
            </a:custGeom>
            <a:solidFill>
              <a:srgbClr val="C8912E"/>
            </a:solidFill>
          </p:spPr>
        </p:sp>
      </p:grpSp>
      <p:grpSp>
        <p:nvGrpSpPr>
          <p:cNvPr id="17" name="Group 17"/>
          <p:cNvGrpSpPr/>
          <p:nvPr/>
        </p:nvGrpSpPr>
        <p:grpSpPr>
          <a:xfrm>
            <a:off x="6823710" y="4355592"/>
            <a:ext cx="1851660" cy="342900"/>
            <a:chOff x="0" y="0"/>
            <a:chExt cx="2468880" cy="457200"/>
          </a:xfrm>
        </p:grpSpPr>
        <p:sp>
          <p:nvSpPr>
            <p:cNvPr id="18" name="Freeform 18"/>
            <p:cNvSpPr/>
            <p:nvPr/>
          </p:nvSpPr>
          <p:spPr>
            <a:xfrm>
              <a:off x="0" y="0"/>
              <a:ext cx="2468880" cy="457200"/>
            </a:xfrm>
            <a:custGeom>
              <a:avLst/>
              <a:gdLst/>
              <a:ahLst/>
              <a:cxnLst/>
              <a:rect l="l" t="t" r="r" b="b"/>
              <a:pathLst>
                <a:path w="2468880" h="457200">
                  <a:moveTo>
                    <a:pt x="0" y="0"/>
                  </a:moveTo>
                  <a:lnTo>
                    <a:pt x="2468880" y="0"/>
                  </a:lnTo>
                  <a:lnTo>
                    <a:pt x="2468880" y="457200"/>
                  </a:lnTo>
                  <a:lnTo>
                    <a:pt x="0" y="457200"/>
                  </a:lnTo>
                  <a:close/>
                </a:path>
              </a:pathLst>
            </a:custGeom>
            <a:solidFill>
              <a:srgbClr val="C8912E">
                <a:alpha val="0"/>
              </a:srgbClr>
            </a:solidFill>
          </p:spPr>
        </p:sp>
        <p:sp>
          <p:nvSpPr>
            <p:cNvPr id="19" name="TextBox 19"/>
            <p:cNvSpPr txBox="1"/>
            <p:nvPr/>
          </p:nvSpPr>
          <p:spPr>
            <a:xfrm>
              <a:off x="0" y="-38100"/>
              <a:ext cx="2468880" cy="495300"/>
            </a:xfrm>
            <a:prstGeom prst="rect">
              <a:avLst/>
            </a:prstGeom>
          </p:spPr>
          <p:txBody>
            <a:bodyPr lIns="0" tIns="0" rIns="0" bIns="0" rtlCol="0" anchor="ctr"/>
            <a:lstStyle/>
            <a:p>
              <a:pPr algn="r">
                <a:lnSpc>
                  <a:spcPts val="1709"/>
                </a:lnSpc>
              </a:pPr>
              <a:r>
                <a:rPr lang="en-US" sz="1425" b="1">
                  <a:solidFill>
                    <a:srgbClr val="C8912E"/>
                  </a:solidFill>
                  <a:latin typeface="Calibri (MS) Bold"/>
                  <a:ea typeface="Calibri (MS) Bold"/>
                  <a:cs typeface="Calibri (MS) Bold"/>
                  <a:sym typeface="Calibri (MS) Bold"/>
                </a:rPr>
                <a:t>High</a:t>
              </a:r>
            </a:p>
          </p:txBody>
        </p:sp>
      </p:grpSp>
      <p:grpSp>
        <p:nvGrpSpPr>
          <p:cNvPr id="20" name="Group 20"/>
          <p:cNvGrpSpPr/>
          <p:nvPr/>
        </p:nvGrpSpPr>
        <p:grpSpPr>
          <a:xfrm>
            <a:off x="2633472" y="4849368"/>
            <a:ext cx="6014466" cy="1371600"/>
            <a:chOff x="0" y="0"/>
            <a:chExt cx="8019288" cy="1828800"/>
          </a:xfrm>
        </p:grpSpPr>
        <p:sp>
          <p:nvSpPr>
            <p:cNvPr id="21" name="Freeform 21"/>
            <p:cNvSpPr/>
            <p:nvPr/>
          </p:nvSpPr>
          <p:spPr>
            <a:xfrm>
              <a:off x="0" y="0"/>
              <a:ext cx="8019288" cy="1828800"/>
            </a:xfrm>
            <a:custGeom>
              <a:avLst/>
              <a:gdLst/>
              <a:ahLst/>
              <a:cxnLst/>
              <a:rect l="l" t="t" r="r" b="b"/>
              <a:pathLst>
                <a:path w="8019288" h="1828800">
                  <a:moveTo>
                    <a:pt x="0" y="0"/>
                  </a:moveTo>
                  <a:lnTo>
                    <a:pt x="8019288" y="0"/>
                  </a:lnTo>
                  <a:lnTo>
                    <a:pt x="8019288" y="1828800"/>
                  </a:lnTo>
                  <a:lnTo>
                    <a:pt x="0" y="1828800"/>
                  </a:lnTo>
                  <a:close/>
                </a:path>
              </a:pathLst>
            </a:custGeom>
            <a:blipFill>
              <a:blip r:embed="rId3">
                <a:alphaModFix amt="0"/>
              </a:blip>
              <a:stretch>
                <a:fillRect t="-35441" b="-35441"/>
              </a:stretch>
            </a:blipFill>
          </p:spPr>
        </p:sp>
        <p:sp>
          <p:nvSpPr>
            <p:cNvPr id="22" name="TextBox 22"/>
            <p:cNvSpPr txBox="1"/>
            <p:nvPr/>
          </p:nvSpPr>
          <p:spPr>
            <a:xfrm>
              <a:off x="0" y="-57150"/>
              <a:ext cx="8019288" cy="1885950"/>
            </a:xfrm>
            <a:prstGeom prst="rect">
              <a:avLst/>
            </a:prstGeom>
          </p:spPr>
          <p:txBody>
            <a:bodyPr lIns="0" tIns="0" rIns="0" bIns="0" rtlCol="0" anchor="ctr"/>
            <a:lstStyle/>
            <a:p>
              <a:pPr algn="l">
                <a:lnSpc>
                  <a:spcPts val="1935"/>
                </a:lnSpc>
              </a:pPr>
              <a:r>
                <a:rPr lang="en-US" sz="1439">
                  <a:solidFill>
                    <a:srgbClr val="5B6472"/>
                  </a:solidFill>
                  <a:latin typeface="Calibri (MS)"/>
                  <a:ea typeface="Calibri (MS)"/>
                  <a:cs typeface="Calibri (MS)"/>
                  <a:sym typeface="Calibri (MS)"/>
                </a:rPr>
                <a:t>Built entirely on proven, well-documented, mostly open-source tools — Node.js, MongoDB, Redis, Docker, React — with strong community support and no exotic dependencies.</a:t>
              </a:r>
            </a:p>
          </p:txBody>
        </p:sp>
      </p:grpSp>
      <p:grpSp>
        <p:nvGrpSpPr>
          <p:cNvPr id="23" name="Group 23"/>
          <p:cNvGrpSpPr/>
          <p:nvPr/>
        </p:nvGrpSpPr>
        <p:grpSpPr>
          <a:xfrm>
            <a:off x="9351645" y="3769995"/>
            <a:ext cx="6637020" cy="2556510"/>
            <a:chOff x="0" y="0"/>
            <a:chExt cx="8849360" cy="3408680"/>
          </a:xfrm>
        </p:grpSpPr>
        <p:sp>
          <p:nvSpPr>
            <p:cNvPr id="24" name="Freeform 24"/>
            <p:cNvSpPr/>
            <p:nvPr/>
          </p:nvSpPr>
          <p:spPr>
            <a:xfrm>
              <a:off x="0" y="0"/>
              <a:ext cx="8849360" cy="3408680"/>
            </a:xfrm>
            <a:custGeom>
              <a:avLst/>
              <a:gdLst/>
              <a:ahLst/>
              <a:cxnLst/>
              <a:rect l="l" t="t" r="r" b="b"/>
              <a:pathLst>
                <a:path w="8849360" h="3408680">
                  <a:moveTo>
                    <a:pt x="0" y="147447"/>
                  </a:moveTo>
                  <a:cubicBezTo>
                    <a:pt x="0" y="66040"/>
                    <a:pt x="66040" y="0"/>
                    <a:pt x="147447" y="0"/>
                  </a:cubicBezTo>
                  <a:lnTo>
                    <a:pt x="8701913" y="0"/>
                  </a:lnTo>
                  <a:cubicBezTo>
                    <a:pt x="8783320" y="0"/>
                    <a:pt x="8849360" y="66040"/>
                    <a:pt x="8849360" y="147447"/>
                  </a:cubicBezTo>
                  <a:lnTo>
                    <a:pt x="8849360" y="3261233"/>
                  </a:lnTo>
                  <a:cubicBezTo>
                    <a:pt x="8849360" y="3342640"/>
                    <a:pt x="8783320" y="3408680"/>
                    <a:pt x="8701913" y="3408680"/>
                  </a:cubicBezTo>
                  <a:lnTo>
                    <a:pt x="147447" y="3408680"/>
                  </a:lnTo>
                  <a:cubicBezTo>
                    <a:pt x="66040" y="3408680"/>
                    <a:pt x="0" y="3342640"/>
                    <a:pt x="0" y="3261233"/>
                  </a:cubicBezTo>
                  <a:close/>
                </a:path>
              </a:pathLst>
            </a:custGeom>
            <a:solidFill>
              <a:srgbClr val="FDF8F1"/>
            </a:solidFill>
            <a:ln w="47625" cap="sq">
              <a:solidFill>
                <a:srgbClr val="E9DCC8"/>
              </a:solidFill>
              <a:prstDash val="solid"/>
              <a:miter/>
            </a:ln>
          </p:spPr>
        </p:sp>
      </p:grpSp>
      <p:grpSp>
        <p:nvGrpSpPr>
          <p:cNvPr id="25" name="Group 25"/>
          <p:cNvGrpSpPr/>
          <p:nvPr/>
        </p:nvGrpSpPr>
        <p:grpSpPr>
          <a:xfrm>
            <a:off x="9662922" y="4053840"/>
            <a:ext cx="658368" cy="658368"/>
            <a:chOff x="0" y="0"/>
            <a:chExt cx="877824" cy="877824"/>
          </a:xfrm>
        </p:grpSpPr>
        <p:sp>
          <p:nvSpPr>
            <p:cNvPr id="26" name="Freeform 26"/>
            <p:cNvSpPr/>
            <p:nvPr/>
          </p:nvSpPr>
          <p:spPr>
            <a:xfrm>
              <a:off x="0" y="0"/>
              <a:ext cx="877824" cy="877824"/>
            </a:xfrm>
            <a:custGeom>
              <a:avLst/>
              <a:gdLst/>
              <a:ahLst/>
              <a:cxnLst/>
              <a:rect l="l" t="t" r="r" b="b"/>
              <a:pathLst>
                <a:path w="877824" h="877824">
                  <a:moveTo>
                    <a:pt x="0" y="438912"/>
                  </a:moveTo>
                  <a:cubicBezTo>
                    <a:pt x="0" y="196469"/>
                    <a:pt x="196469" y="0"/>
                    <a:pt x="438912" y="0"/>
                  </a:cubicBezTo>
                  <a:cubicBezTo>
                    <a:pt x="681355" y="0"/>
                    <a:pt x="877824" y="196469"/>
                    <a:pt x="877824" y="438912"/>
                  </a:cubicBezTo>
                  <a:cubicBezTo>
                    <a:pt x="877824" y="681355"/>
                    <a:pt x="681355" y="877824"/>
                    <a:pt x="438912" y="877824"/>
                  </a:cubicBezTo>
                  <a:cubicBezTo>
                    <a:pt x="196469" y="877824"/>
                    <a:pt x="0" y="681355"/>
                    <a:pt x="0" y="438912"/>
                  </a:cubicBezTo>
                  <a:close/>
                </a:path>
              </a:pathLst>
            </a:custGeom>
            <a:solidFill>
              <a:srgbClr val="F1E6D3"/>
            </a:solidFill>
          </p:spPr>
        </p:sp>
      </p:grpSp>
      <p:grpSp>
        <p:nvGrpSpPr>
          <p:cNvPr id="27" name="Group 27"/>
          <p:cNvGrpSpPr/>
          <p:nvPr/>
        </p:nvGrpSpPr>
        <p:grpSpPr>
          <a:xfrm>
            <a:off x="10485882" y="3998976"/>
            <a:ext cx="3051810" cy="480060"/>
            <a:chOff x="0" y="0"/>
            <a:chExt cx="4069080" cy="640080"/>
          </a:xfrm>
        </p:grpSpPr>
        <p:sp>
          <p:nvSpPr>
            <p:cNvPr id="28" name="Freeform 28"/>
            <p:cNvSpPr/>
            <p:nvPr/>
          </p:nvSpPr>
          <p:spPr>
            <a:xfrm>
              <a:off x="0" y="0"/>
              <a:ext cx="4069080" cy="640080"/>
            </a:xfrm>
            <a:custGeom>
              <a:avLst/>
              <a:gdLst/>
              <a:ahLst/>
              <a:cxnLst/>
              <a:rect l="l" t="t" r="r" b="b"/>
              <a:pathLst>
                <a:path w="4069080" h="640080">
                  <a:moveTo>
                    <a:pt x="0" y="0"/>
                  </a:moveTo>
                  <a:lnTo>
                    <a:pt x="4069080" y="0"/>
                  </a:lnTo>
                  <a:lnTo>
                    <a:pt x="4069080" y="640080"/>
                  </a:lnTo>
                  <a:lnTo>
                    <a:pt x="0" y="640080"/>
                  </a:lnTo>
                  <a:close/>
                </a:path>
              </a:pathLst>
            </a:custGeom>
            <a:blipFill>
              <a:blip r:embed="rId3">
                <a:alphaModFix amt="0"/>
              </a:blip>
              <a:stretch>
                <a:fillRect t="-73869" b="-73869"/>
              </a:stretch>
            </a:blipFill>
          </p:spPr>
        </p:sp>
        <p:sp>
          <p:nvSpPr>
            <p:cNvPr id="29" name="TextBox 29"/>
            <p:cNvSpPr txBox="1"/>
            <p:nvPr/>
          </p:nvSpPr>
          <p:spPr>
            <a:xfrm>
              <a:off x="0" y="-9525"/>
              <a:ext cx="4069080" cy="649605"/>
            </a:xfrm>
            <a:prstGeom prst="rect">
              <a:avLst/>
            </a:prstGeom>
          </p:spPr>
          <p:txBody>
            <a:bodyPr lIns="0" tIns="0" rIns="0" bIns="0" rtlCol="0" anchor="ctr"/>
            <a:lstStyle/>
            <a:p>
              <a:pPr algn="l">
                <a:lnSpc>
                  <a:spcPts val="2430"/>
                </a:lnSpc>
              </a:pPr>
              <a:r>
                <a:rPr lang="en-US" sz="2025" b="1">
                  <a:solidFill>
                    <a:srgbClr val="26324A"/>
                  </a:solidFill>
                  <a:latin typeface="Cambria Bold"/>
                  <a:ea typeface="Cambria Bold"/>
                  <a:cs typeface="Cambria Bold"/>
                  <a:sym typeface="Cambria Bold"/>
                </a:rPr>
                <a:t>Economic</a:t>
              </a:r>
            </a:p>
          </p:txBody>
        </p:sp>
      </p:grpSp>
      <p:grpSp>
        <p:nvGrpSpPr>
          <p:cNvPr id="30" name="Group 30"/>
          <p:cNvGrpSpPr/>
          <p:nvPr/>
        </p:nvGrpSpPr>
        <p:grpSpPr>
          <a:xfrm>
            <a:off x="13853160" y="4166997"/>
            <a:ext cx="571500" cy="219456"/>
            <a:chOff x="0" y="0"/>
            <a:chExt cx="762000" cy="292608"/>
          </a:xfrm>
        </p:grpSpPr>
        <p:sp>
          <p:nvSpPr>
            <p:cNvPr id="31" name="Freeform 31"/>
            <p:cNvSpPr/>
            <p:nvPr/>
          </p:nvSpPr>
          <p:spPr>
            <a:xfrm>
              <a:off x="0" y="0"/>
              <a:ext cx="762000" cy="292608"/>
            </a:xfrm>
            <a:custGeom>
              <a:avLst/>
              <a:gdLst/>
              <a:ahLst/>
              <a:cxnLst/>
              <a:rect l="l" t="t" r="r" b="b"/>
              <a:pathLst>
                <a:path w="762000" h="292608">
                  <a:moveTo>
                    <a:pt x="0" y="54864"/>
                  </a:moveTo>
                  <a:cubicBezTo>
                    <a:pt x="0" y="24511"/>
                    <a:pt x="24511" y="0"/>
                    <a:pt x="54864" y="0"/>
                  </a:cubicBezTo>
                  <a:lnTo>
                    <a:pt x="707136" y="0"/>
                  </a:lnTo>
                  <a:cubicBezTo>
                    <a:pt x="737489" y="0"/>
                    <a:pt x="762000" y="24511"/>
                    <a:pt x="762000" y="54864"/>
                  </a:cubicBezTo>
                  <a:lnTo>
                    <a:pt x="762000" y="237744"/>
                  </a:lnTo>
                  <a:cubicBezTo>
                    <a:pt x="762000" y="268097"/>
                    <a:pt x="737489" y="292608"/>
                    <a:pt x="707136" y="292608"/>
                  </a:cubicBezTo>
                  <a:lnTo>
                    <a:pt x="54864" y="292608"/>
                  </a:lnTo>
                  <a:cubicBezTo>
                    <a:pt x="24511" y="292608"/>
                    <a:pt x="0" y="268097"/>
                    <a:pt x="0" y="237744"/>
                  </a:cubicBezTo>
                  <a:close/>
                </a:path>
              </a:pathLst>
            </a:custGeom>
            <a:solidFill>
              <a:srgbClr val="C8912E"/>
            </a:solidFill>
          </p:spPr>
        </p:sp>
      </p:grpSp>
      <p:grpSp>
        <p:nvGrpSpPr>
          <p:cNvPr id="32" name="Group 32"/>
          <p:cNvGrpSpPr/>
          <p:nvPr/>
        </p:nvGrpSpPr>
        <p:grpSpPr>
          <a:xfrm>
            <a:off x="14493240" y="4166997"/>
            <a:ext cx="571500" cy="219456"/>
            <a:chOff x="0" y="0"/>
            <a:chExt cx="762000" cy="292608"/>
          </a:xfrm>
        </p:grpSpPr>
        <p:sp>
          <p:nvSpPr>
            <p:cNvPr id="33" name="Freeform 33"/>
            <p:cNvSpPr/>
            <p:nvPr/>
          </p:nvSpPr>
          <p:spPr>
            <a:xfrm>
              <a:off x="0" y="0"/>
              <a:ext cx="762000" cy="292608"/>
            </a:xfrm>
            <a:custGeom>
              <a:avLst/>
              <a:gdLst/>
              <a:ahLst/>
              <a:cxnLst/>
              <a:rect l="l" t="t" r="r" b="b"/>
              <a:pathLst>
                <a:path w="762000" h="292608">
                  <a:moveTo>
                    <a:pt x="0" y="54864"/>
                  </a:moveTo>
                  <a:cubicBezTo>
                    <a:pt x="0" y="24511"/>
                    <a:pt x="24511" y="0"/>
                    <a:pt x="54864" y="0"/>
                  </a:cubicBezTo>
                  <a:lnTo>
                    <a:pt x="707136" y="0"/>
                  </a:lnTo>
                  <a:cubicBezTo>
                    <a:pt x="737489" y="0"/>
                    <a:pt x="762000" y="24511"/>
                    <a:pt x="762000" y="54864"/>
                  </a:cubicBezTo>
                  <a:lnTo>
                    <a:pt x="762000" y="237744"/>
                  </a:lnTo>
                  <a:cubicBezTo>
                    <a:pt x="762000" y="268097"/>
                    <a:pt x="737489" y="292608"/>
                    <a:pt x="707136" y="292608"/>
                  </a:cubicBezTo>
                  <a:lnTo>
                    <a:pt x="54864" y="292608"/>
                  </a:lnTo>
                  <a:cubicBezTo>
                    <a:pt x="24511" y="292608"/>
                    <a:pt x="0" y="268097"/>
                    <a:pt x="0" y="237744"/>
                  </a:cubicBezTo>
                  <a:close/>
                </a:path>
              </a:pathLst>
            </a:custGeom>
            <a:solidFill>
              <a:srgbClr val="C8912E"/>
            </a:solidFill>
          </p:spPr>
        </p:sp>
      </p:grpSp>
      <p:grpSp>
        <p:nvGrpSpPr>
          <p:cNvPr id="34" name="Group 34"/>
          <p:cNvGrpSpPr/>
          <p:nvPr/>
        </p:nvGrpSpPr>
        <p:grpSpPr>
          <a:xfrm>
            <a:off x="15133320" y="4166997"/>
            <a:ext cx="571500" cy="219456"/>
            <a:chOff x="0" y="0"/>
            <a:chExt cx="762000" cy="292608"/>
          </a:xfrm>
        </p:grpSpPr>
        <p:sp>
          <p:nvSpPr>
            <p:cNvPr id="35" name="Freeform 35"/>
            <p:cNvSpPr/>
            <p:nvPr/>
          </p:nvSpPr>
          <p:spPr>
            <a:xfrm>
              <a:off x="0" y="0"/>
              <a:ext cx="762000" cy="292608"/>
            </a:xfrm>
            <a:custGeom>
              <a:avLst/>
              <a:gdLst/>
              <a:ahLst/>
              <a:cxnLst/>
              <a:rect l="l" t="t" r="r" b="b"/>
              <a:pathLst>
                <a:path w="762000" h="292608">
                  <a:moveTo>
                    <a:pt x="0" y="54864"/>
                  </a:moveTo>
                  <a:cubicBezTo>
                    <a:pt x="0" y="24511"/>
                    <a:pt x="24511" y="0"/>
                    <a:pt x="54864" y="0"/>
                  </a:cubicBezTo>
                  <a:lnTo>
                    <a:pt x="707136" y="0"/>
                  </a:lnTo>
                  <a:cubicBezTo>
                    <a:pt x="737489" y="0"/>
                    <a:pt x="762000" y="24511"/>
                    <a:pt x="762000" y="54864"/>
                  </a:cubicBezTo>
                  <a:lnTo>
                    <a:pt x="762000" y="237744"/>
                  </a:lnTo>
                  <a:cubicBezTo>
                    <a:pt x="762000" y="268097"/>
                    <a:pt x="737489" y="292608"/>
                    <a:pt x="707136" y="292608"/>
                  </a:cubicBezTo>
                  <a:lnTo>
                    <a:pt x="54864" y="292608"/>
                  </a:lnTo>
                  <a:cubicBezTo>
                    <a:pt x="24511" y="292608"/>
                    <a:pt x="0" y="268097"/>
                    <a:pt x="0" y="237744"/>
                  </a:cubicBezTo>
                  <a:close/>
                </a:path>
              </a:pathLst>
            </a:custGeom>
            <a:solidFill>
              <a:srgbClr val="C8912E"/>
            </a:solidFill>
          </p:spPr>
        </p:sp>
      </p:grpSp>
      <p:grpSp>
        <p:nvGrpSpPr>
          <p:cNvPr id="36" name="Group 36"/>
          <p:cNvGrpSpPr/>
          <p:nvPr/>
        </p:nvGrpSpPr>
        <p:grpSpPr>
          <a:xfrm>
            <a:off x="13853160" y="4355592"/>
            <a:ext cx="1851660" cy="342900"/>
            <a:chOff x="0" y="0"/>
            <a:chExt cx="2468880" cy="457200"/>
          </a:xfrm>
        </p:grpSpPr>
        <p:sp>
          <p:nvSpPr>
            <p:cNvPr id="37" name="Freeform 37"/>
            <p:cNvSpPr/>
            <p:nvPr/>
          </p:nvSpPr>
          <p:spPr>
            <a:xfrm>
              <a:off x="0" y="0"/>
              <a:ext cx="2468880" cy="457200"/>
            </a:xfrm>
            <a:custGeom>
              <a:avLst/>
              <a:gdLst/>
              <a:ahLst/>
              <a:cxnLst/>
              <a:rect l="l" t="t" r="r" b="b"/>
              <a:pathLst>
                <a:path w="2468880" h="457200">
                  <a:moveTo>
                    <a:pt x="0" y="0"/>
                  </a:moveTo>
                  <a:lnTo>
                    <a:pt x="2468880" y="0"/>
                  </a:lnTo>
                  <a:lnTo>
                    <a:pt x="2468880" y="457200"/>
                  </a:lnTo>
                  <a:lnTo>
                    <a:pt x="0" y="457200"/>
                  </a:lnTo>
                  <a:close/>
                </a:path>
              </a:pathLst>
            </a:custGeom>
            <a:blipFill>
              <a:blip r:embed="rId3">
                <a:alphaModFix amt="0"/>
              </a:blip>
              <a:stretch>
                <a:fillRect t="-55219" b="-55219"/>
              </a:stretch>
            </a:blipFill>
          </p:spPr>
        </p:sp>
        <p:sp>
          <p:nvSpPr>
            <p:cNvPr id="38" name="TextBox 38"/>
            <p:cNvSpPr txBox="1"/>
            <p:nvPr/>
          </p:nvSpPr>
          <p:spPr>
            <a:xfrm>
              <a:off x="0" y="-38100"/>
              <a:ext cx="2468880" cy="495300"/>
            </a:xfrm>
            <a:prstGeom prst="rect">
              <a:avLst/>
            </a:prstGeom>
          </p:spPr>
          <p:txBody>
            <a:bodyPr lIns="0" tIns="0" rIns="0" bIns="0" rtlCol="0" anchor="ctr"/>
            <a:lstStyle/>
            <a:p>
              <a:pPr algn="r">
                <a:lnSpc>
                  <a:spcPts val="1709"/>
                </a:lnSpc>
              </a:pPr>
              <a:r>
                <a:rPr lang="en-US" sz="1425" b="1">
                  <a:solidFill>
                    <a:srgbClr val="C8912E"/>
                  </a:solidFill>
                  <a:latin typeface="Calibri (MS) Bold"/>
                  <a:ea typeface="Calibri (MS) Bold"/>
                  <a:cs typeface="Calibri (MS) Bold"/>
                  <a:sym typeface="Calibri (MS) Bold"/>
                </a:rPr>
                <a:t>High</a:t>
              </a:r>
            </a:p>
          </p:txBody>
        </p:sp>
      </p:grpSp>
      <p:grpSp>
        <p:nvGrpSpPr>
          <p:cNvPr id="39" name="Group 39"/>
          <p:cNvGrpSpPr/>
          <p:nvPr/>
        </p:nvGrpSpPr>
        <p:grpSpPr>
          <a:xfrm>
            <a:off x="9662922" y="4849368"/>
            <a:ext cx="6014466" cy="1371600"/>
            <a:chOff x="0" y="0"/>
            <a:chExt cx="8019288" cy="1828800"/>
          </a:xfrm>
        </p:grpSpPr>
        <p:sp>
          <p:nvSpPr>
            <p:cNvPr id="40" name="Freeform 40"/>
            <p:cNvSpPr/>
            <p:nvPr/>
          </p:nvSpPr>
          <p:spPr>
            <a:xfrm>
              <a:off x="0" y="0"/>
              <a:ext cx="8019288" cy="1828800"/>
            </a:xfrm>
            <a:custGeom>
              <a:avLst/>
              <a:gdLst/>
              <a:ahLst/>
              <a:cxnLst/>
              <a:rect l="l" t="t" r="r" b="b"/>
              <a:pathLst>
                <a:path w="8019288" h="1828800">
                  <a:moveTo>
                    <a:pt x="0" y="0"/>
                  </a:moveTo>
                  <a:lnTo>
                    <a:pt x="8019288" y="0"/>
                  </a:lnTo>
                  <a:lnTo>
                    <a:pt x="8019288" y="1828800"/>
                  </a:lnTo>
                  <a:lnTo>
                    <a:pt x="0" y="1828800"/>
                  </a:lnTo>
                  <a:close/>
                </a:path>
              </a:pathLst>
            </a:custGeom>
            <a:blipFill>
              <a:blip r:embed="rId3">
                <a:alphaModFix amt="0"/>
              </a:blip>
              <a:stretch>
                <a:fillRect t="-35441" b="-35441"/>
              </a:stretch>
            </a:blipFill>
          </p:spPr>
        </p:sp>
        <p:sp>
          <p:nvSpPr>
            <p:cNvPr id="41" name="TextBox 41"/>
            <p:cNvSpPr txBox="1"/>
            <p:nvPr/>
          </p:nvSpPr>
          <p:spPr>
            <a:xfrm>
              <a:off x="0" y="-57150"/>
              <a:ext cx="8019288" cy="1885950"/>
            </a:xfrm>
            <a:prstGeom prst="rect">
              <a:avLst/>
            </a:prstGeom>
          </p:spPr>
          <p:txBody>
            <a:bodyPr lIns="0" tIns="0" rIns="0" bIns="0" rtlCol="0" anchor="ctr"/>
            <a:lstStyle/>
            <a:p>
              <a:pPr algn="l">
                <a:lnSpc>
                  <a:spcPts val="1935"/>
                </a:lnSpc>
              </a:pPr>
              <a:r>
                <a:rPr lang="en-US" sz="1439">
                  <a:solidFill>
                    <a:srgbClr val="5B6472"/>
                  </a:solidFill>
                  <a:latin typeface="Calibri (MS)"/>
                  <a:ea typeface="Calibri (MS)"/>
                  <a:cs typeface="Calibri (MS)"/>
                  <a:sym typeface="Calibri (MS)"/>
                </a:rPr>
                <a:t>No fixed infrastructure cost — workers use their own hardware. The platform earns a 20% cut per completed job, so cost scales with usage, not upfront investment.</a:t>
              </a:r>
            </a:p>
          </p:txBody>
        </p:sp>
      </p:grpSp>
      <p:grpSp>
        <p:nvGrpSpPr>
          <p:cNvPr id="42" name="Group 42"/>
          <p:cNvGrpSpPr/>
          <p:nvPr/>
        </p:nvGrpSpPr>
        <p:grpSpPr>
          <a:xfrm>
            <a:off x="2322195" y="6609207"/>
            <a:ext cx="6637020" cy="2556510"/>
            <a:chOff x="0" y="0"/>
            <a:chExt cx="8849360" cy="3408680"/>
          </a:xfrm>
        </p:grpSpPr>
        <p:sp>
          <p:nvSpPr>
            <p:cNvPr id="43" name="Freeform 43"/>
            <p:cNvSpPr/>
            <p:nvPr/>
          </p:nvSpPr>
          <p:spPr>
            <a:xfrm>
              <a:off x="0" y="0"/>
              <a:ext cx="8849360" cy="3408680"/>
            </a:xfrm>
            <a:custGeom>
              <a:avLst/>
              <a:gdLst/>
              <a:ahLst/>
              <a:cxnLst/>
              <a:rect l="l" t="t" r="r" b="b"/>
              <a:pathLst>
                <a:path w="8849360" h="3408680">
                  <a:moveTo>
                    <a:pt x="0" y="147447"/>
                  </a:moveTo>
                  <a:cubicBezTo>
                    <a:pt x="0" y="66040"/>
                    <a:pt x="66040" y="0"/>
                    <a:pt x="147447" y="0"/>
                  </a:cubicBezTo>
                  <a:lnTo>
                    <a:pt x="8701913" y="0"/>
                  </a:lnTo>
                  <a:cubicBezTo>
                    <a:pt x="8783320" y="0"/>
                    <a:pt x="8849360" y="66040"/>
                    <a:pt x="8849360" y="147447"/>
                  </a:cubicBezTo>
                  <a:lnTo>
                    <a:pt x="8849360" y="3261233"/>
                  </a:lnTo>
                  <a:cubicBezTo>
                    <a:pt x="8849360" y="3342640"/>
                    <a:pt x="8783320" y="3408680"/>
                    <a:pt x="8701913" y="3408680"/>
                  </a:cubicBezTo>
                  <a:lnTo>
                    <a:pt x="147447" y="3408680"/>
                  </a:lnTo>
                  <a:cubicBezTo>
                    <a:pt x="66040" y="3408680"/>
                    <a:pt x="0" y="3342640"/>
                    <a:pt x="0" y="3261233"/>
                  </a:cubicBezTo>
                  <a:close/>
                </a:path>
              </a:pathLst>
            </a:custGeom>
            <a:solidFill>
              <a:srgbClr val="FDF8F1"/>
            </a:solidFill>
            <a:ln w="47625" cap="sq">
              <a:solidFill>
                <a:srgbClr val="E9DCC8"/>
              </a:solidFill>
              <a:prstDash val="solid"/>
              <a:miter/>
            </a:ln>
          </p:spPr>
        </p:sp>
      </p:grpSp>
      <p:grpSp>
        <p:nvGrpSpPr>
          <p:cNvPr id="44" name="Group 44"/>
          <p:cNvGrpSpPr/>
          <p:nvPr/>
        </p:nvGrpSpPr>
        <p:grpSpPr>
          <a:xfrm>
            <a:off x="2633472" y="6978777"/>
            <a:ext cx="658368" cy="658368"/>
            <a:chOff x="0" y="0"/>
            <a:chExt cx="877824" cy="877824"/>
          </a:xfrm>
        </p:grpSpPr>
        <p:sp>
          <p:nvSpPr>
            <p:cNvPr id="45" name="Freeform 45"/>
            <p:cNvSpPr/>
            <p:nvPr/>
          </p:nvSpPr>
          <p:spPr>
            <a:xfrm>
              <a:off x="0" y="0"/>
              <a:ext cx="877824" cy="877824"/>
            </a:xfrm>
            <a:custGeom>
              <a:avLst/>
              <a:gdLst/>
              <a:ahLst/>
              <a:cxnLst/>
              <a:rect l="l" t="t" r="r" b="b"/>
              <a:pathLst>
                <a:path w="877824" h="877824">
                  <a:moveTo>
                    <a:pt x="0" y="438912"/>
                  </a:moveTo>
                  <a:cubicBezTo>
                    <a:pt x="0" y="196469"/>
                    <a:pt x="196469" y="0"/>
                    <a:pt x="438912" y="0"/>
                  </a:cubicBezTo>
                  <a:cubicBezTo>
                    <a:pt x="681355" y="0"/>
                    <a:pt x="877824" y="196469"/>
                    <a:pt x="877824" y="438912"/>
                  </a:cubicBezTo>
                  <a:cubicBezTo>
                    <a:pt x="877824" y="681355"/>
                    <a:pt x="681355" y="877824"/>
                    <a:pt x="438912" y="877824"/>
                  </a:cubicBezTo>
                  <a:cubicBezTo>
                    <a:pt x="196469" y="877824"/>
                    <a:pt x="0" y="681355"/>
                    <a:pt x="0" y="438912"/>
                  </a:cubicBezTo>
                  <a:close/>
                </a:path>
              </a:pathLst>
            </a:custGeom>
            <a:solidFill>
              <a:srgbClr val="F1E6D3"/>
            </a:solidFill>
          </p:spPr>
        </p:sp>
      </p:grpSp>
      <p:grpSp>
        <p:nvGrpSpPr>
          <p:cNvPr id="46" name="Group 46"/>
          <p:cNvGrpSpPr/>
          <p:nvPr/>
        </p:nvGrpSpPr>
        <p:grpSpPr>
          <a:xfrm>
            <a:off x="3456432" y="6838188"/>
            <a:ext cx="3051810" cy="480060"/>
            <a:chOff x="0" y="0"/>
            <a:chExt cx="4069080" cy="640080"/>
          </a:xfrm>
        </p:grpSpPr>
        <p:sp>
          <p:nvSpPr>
            <p:cNvPr id="47" name="Freeform 47"/>
            <p:cNvSpPr/>
            <p:nvPr/>
          </p:nvSpPr>
          <p:spPr>
            <a:xfrm>
              <a:off x="0" y="0"/>
              <a:ext cx="4069080" cy="640080"/>
            </a:xfrm>
            <a:custGeom>
              <a:avLst/>
              <a:gdLst/>
              <a:ahLst/>
              <a:cxnLst/>
              <a:rect l="l" t="t" r="r" b="b"/>
              <a:pathLst>
                <a:path w="4069080" h="640080">
                  <a:moveTo>
                    <a:pt x="0" y="0"/>
                  </a:moveTo>
                  <a:lnTo>
                    <a:pt x="4069080" y="0"/>
                  </a:lnTo>
                  <a:lnTo>
                    <a:pt x="4069080" y="640080"/>
                  </a:lnTo>
                  <a:lnTo>
                    <a:pt x="0" y="640080"/>
                  </a:lnTo>
                  <a:close/>
                </a:path>
              </a:pathLst>
            </a:custGeom>
            <a:blipFill>
              <a:blip r:embed="rId3">
                <a:alphaModFix amt="0"/>
              </a:blip>
              <a:stretch>
                <a:fillRect t="-73869" b="-73869"/>
              </a:stretch>
            </a:blipFill>
          </p:spPr>
        </p:sp>
        <p:sp>
          <p:nvSpPr>
            <p:cNvPr id="48" name="TextBox 48"/>
            <p:cNvSpPr txBox="1"/>
            <p:nvPr/>
          </p:nvSpPr>
          <p:spPr>
            <a:xfrm>
              <a:off x="0" y="-9525"/>
              <a:ext cx="4069080" cy="649605"/>
            </a:xfrm>
            <a:prstGeom prst="rect">
              <a:avLst/>
            </a:prstGeom>
          </p:spPr>
          <p:txBody>
            <a:bodyPr lIns="0" tIns="0" rIns="0" bIns="0" rtlCol="0" anchor="ctr"/>
            <a:lstStyle/>
            <a:p>
              <a:pPr algn="l">
                <a:lnSpc>
                  <a:spcPts val="2430"/>
                </a:lnSpc>
              </a:pPr>
              <a:r>
                <a:rPr lang="en-US" sz="2025" b="1">
                  <a:solidFill>
                    <a:srgbClr val="26324A"/>
                  </a:solidFill>
                  <a:latin typeface="Cambria Bold"/>
                  <a:ea typeface="Cambria Bold"/>
                  <a:cs typeface="Cambria Bold"/>
                  <a:sym typeface="Cambria Bold"/>
                </a:rPr>
                <a:t>Operational</a:t>
              </a:r>
            </a:p>
          </p:txBody>
        </p:sp>
      </p:grpSp>
      <p:grpSp>
        <p:nvGrpSpPr>
          <p:cNvPr id="49" name="Group 49"/>
          <p:cNvGrpSpPr/>
          <p:nvPr/>
        </p:nvGrpSpPr>
        <p:grpSpPr>
          <a:xfrm>
            <a:off x="6823710" y="6920484"/>
            <a:ext cx="571500" cy="219456"/>
            <a:chOff x="0" y="0"/>
            <a:chExt cx="762000" cy="292608"/>
          </a:xfrm>
        </p:grpSpPr>
        <p:sp>
          <p:nvSpPr>
            <p:cNvPr id="50" name="Freeform 50"/>
            <p:cNvSpPr/>
            <p:nvPr/>
          </p:nvSpPr>
          <p:spPr>
            <a:xfrm>
              <a:off x="0" y="0"/>
              <a:ext cx="762000" cy="292608"/>
            </a:xfrm>
            <a:custGeom>
              <a:avLst/>
              <a:gdLst/>
              <a:ahLst/>
              <a:cxnLst/>
              <a:rect l="l" t="t" r="r" b="b"/>
              <a:pathLst>
                <a:path w="762000" h="292608">
                  <a:moveTo>
                    <a:pt x="0" y="54864"/>
                  </a:moveTo>
                  <a:cubicBezTo>
                    <a:pt x="0" y="24511"/>
                    <a:pt x="24511" y="0"/>
                    <a:pt x="54864" y="0"/>
                  </a:cubicBezTo>
                  <a:lnTo>
                    <a:pt x="707136" y="0"/>
                  </a:lnTo>
                  <a:cubicBezTo>
                    <a:pt x="737489" y="0"/>
                    <a:pt x="762000" y="24511"/>
                    <a:pt x="762000" y="54864"/>
                  </a:cubicBezTo>
                  <a:lnTo>
                    <a:pt x="762000" y="237744"/>
                  </a:lnTo>
                  <a:cubicBezTo>
                    <a:pt x="762000" y="268097"/>
                    <a:pt x="737489" y="292608"/>
                    <a:pt x="707136" y="292608"/>
                  </a:cubicBezTo>
                  <a:lnTo>
                    <a:pt x="54864" y="292608"/>
                  </a:lnTo>
                  <a:cubicBezTo>
                    <a:pt x="24511" y="292608"/>
                    <a:pt x="0" y="268097"/>
                    <a:pt x="0" y="237744"/>
                  </a:cubicBezTo>
                  <a:close/>
                </a:path>
              </a:pathLst>
            </a:custGeom>
            <a:solidFill>
              <a:srgbClr val="C8912E"/>
            </a:solidFill>
          </p:spPr>
        </p:sp>
      </p:grpSp>
      <p:grpSp>
        <p:nvGrpSpPr>
          <p:cNvPr id="51" name="Group 51"/>
          <p:cNvGrpSpPr/>
          <p:nvPr/>
        </p:nvGrpSpPr>
        <p:grpSpPr>
          <a:xfrm>
            <a:off x="7463790" y="6920484"/>
            <a:ext cx="571500" cy="219456"/>
            <a:chOff x="0" y="0"/>
            <a:chExt cx="762000" cy="292608"/>
          </a:xfrm>
        </p:grpSpPr>
        <p:sp>
          <p:nvSpPr>
            <p:cNvPr id="52" name="Freeform 52"/>
            <p:cNvSpPr/>
            <p:nvPr/>
          </p:nvSpPr>
          <p:spPr>
            <a:xfrm>
              <a:off x="0" y="0"/>
              <a:ext cx="762000" cy="292608"/>
            </a:xfrm>
            <a:custGeom>
              <a:avLst/>
              <a:gdLst/>
              <a:ahLst/>
              <a:cxnLst/>
              <a:rect l="l" t="t" r="r" b="b"/>
              <a:pathLst>
                <a:path w="762000" h="292608">
                  <a:moveTo>
                    <a:pt x="0" y="54864"/>
                  </a:moveTo>
                  <a:cubicBezTo>
                    <a:pt x="0" y="24511"/>
                    <a:pt x="24511" y="0"/>
                    <a:pt x="54864" y="0"/>
                  </a:cubicBezTo>
                  <a:lnTo>
                    <a:pt x="707136" y="0"/>
                  </a:lnTo>
                  <a:cubicBezTo>
                    <a:pt x="737489" y="0"/>
                    <a:pt x="762000" y="24511"/>
                    <a:pt x="762000" y="54864"/>
                  </a:cubicBezTo>
                  <a:lnTo>
                    <a:pt x="762000" y="237744"/>
                  </a:lnTo>
                  <a:cubicBezTo>
                    <a:pt x="762000" y="268097"/>
                    <a:pt x="737489" y="292608"/>
                    <a:pt x="707136" y="292608"/>
                  </a:cubicBezTo>
                  <a:lnTo>
                    <a:pt x="54864" y="292608"/>
                  </a:lnTo>
                  <a:cubicBezTo>
                    <a:pt x="24511" y="292608"/>
                    <a:pt x="0" y="268097"/>
                    <a:pt x="0" y="237744"/>
                  </a:cubicBezTo>
                  <a:close/>
                </a:path>
              </a:pathLst>
            </a:custGeom>
            <a:solidFill>
              <a:srgbClr val="C8912E"/>
            </a:solidFill>
          </p:spPr>
        </p:sp>
      </p:grpSp>
      <p:grpSp>
        <p:nvGrpSpPr>
          <p:cNvPr id="53" name="Group 53"/>
          <p:cNvGrpSpPr/>
          <p:nvPr/>
        </p:nvGrpSpPr>
        <p:grpSpPr>
          <a:xfrm>
            <a:off x="8103870" y="6920484"/>
            <a:ext cx="571500" cy="219456"/>
            <a:chOff x="0" y="0"/>
            <a:chExt cx="762000" cy="292608"/>
          </a:xfrm>
        </p:grpSpPr>
        <p:sp>
          <p:nvSpPr>
            <p:cNvPr id="54" name="Freeform 54"/>
            <p:cNvSpPr/>
            <p:nvPr/>
          </p:nvSpPr>
          <p:spPr>
            <a:xfrm>
              <a:off x="0" y="0"/>
              <a:ext cx="762000" cy="292608"/>
            </a:xfrm>
            <a:custGeom>
              <a:avLst/>
              <a:gdLst/>
              <a:ahLst/>
              <a:cxnLst/>
              <a:rect l="l" t="t" r="r" b="b"/>
              <a:pathLst>
                <a:path w="762000" h="292608">
                  <a:moveTo>
                    <a:pt x="0" y="54864"/>
                  </a:moveTo>
                  <a:cubicBezTo>
                    <a:pt x="0" y="24511"/>
                    <a:pt x="24511" y="0"/>
                    <a:pt x="54864" y="0"/>
                  </a:cubicBezTo>
                  <a:lnTo>
                    <a:pt x="707136" y="0"/>
                  </a:lnTo>
                  <a:cubicBezTo>
                    <a:pt x="737489" y="0"/>
                    <a:pt x="762000" y="24511"/>
                    <a:pt x="762000" y="54864"/>
                  </a:cubicBezTo>
                  <a:lnTo>
                    <a:pt x="762000" y="237744"/>
                  </a:lnTo>
                  <a:cubicBezTo>
                    <a:pt x="762000" y="268097"/>
                    <a:pt x="737489" y="292608"/>
                    <a:pt x="707136" y="292608"/>
                  </a:cubicBezTo>
                  <a:lnTo>
                    <a:pt x="54864" y="292608"/>
                  </a:lnTo>
                  <a:cubicBezTo>
                    <a:pt x="24511" y="292608"/>
                    <a:pt x="0" y="268097"/>
                    <a:pt x="0" y="237744"/>
                  </a:cubicBezTo>
                  <a:close/>
                </a:path>
              </a:pathLst>
            </a:custGeom>
            <a:solidFill>
              <a:srgbClr val="E9DCC8"/>
            </a:solidFill>
          </p:spPr>
        </p:sp>
      </p:grpSp>
      <p:grpSp>
        <p:nvGrpSpPr>
          <p:cNvPr id="55" name="Group 55"/>
          <p:cNvGrpSpPr/>
          <p:nvPr/>
        </p:nvGrpSpPr>
        <p:grpSpPr>
          <a:xfrm>
            <a:off x="6823710" y="7194804"/>
            <a:ext cx="1851660" cy="342900"/>
            <a:chOff x="0" y="0"/>
            <a:chExt cx="2468880" cy="457200"/>
          </a:xfrm>
        </p:grpSpPr>
        <p:sp>
          <p:nvSpPr>
            <p:cNvPr id="56" name="Freeform 56"/>
            <p:cNvSpPr/>
            <p:nvPr/>
          </p:nvSpPr>
          <p:spPr>
            <a:xfrm>
              <a:off x="0" y="0"/>
              <a:ext cx="2468880" cy="457200"/>
            </a:xfrm>
            <a:custGeom>
              <a:avLst/>
              <a:gdLst/>
              <a:ahLst/>
              <a:cxnLst/>
              <a:rect l="l" t="t" r="r" b="b"/>
              <a:pathLst>
                <a:path w="2468880" h="457200">
                  <a:moveTo>
                    <a:pt x="0" y="0"/>
                  </a:moveTo>
                  <a:lnTo>
                    <a:pt x="2468880" y="0"/>
                  </a:lnTo>
                  <a:lnTo>
                    <a:pt x="2468880" y="457200"/>
                  </a:lnTo>
                  <a:lnTo>
                    <a:pt x="0" y="457200"/>
                  </a:lnTo>
                  <a:close/>
                </a:path>
              </a:pathLst>
            </a:custGeom>
            <a:blipFill>
              <a:blip r:embed="rId3">
                <a:alphaModFix amt="0"/>
              </a:blip>
              <a:stretch>
                <a:fillRect t="-55219" b="-55219"/>
              </a:stretch>
            </a:blipFill>
          </p:spPr>
        </p:sp>
        <p:sp>
          <p:nvSpPr>
            <p:cNvPr id="57" name="TextBox 57"/>
            <p:cNvSpPr txBox="1"/>
            <p:nvPr/>
          </p:nvSpPr>
          <p:spPr>
            <a:xfrm>
              <a:off x="0" y="-38100"/>
              <a:ext cx="2468880" cy="495300"/>
            </a:xfrm>
            <a:prstGeom prst="rect">
              <a:avLst/>
            </a:prstGeom>
          </p:spPr>
          <p:txBody>
            <a:bodyPr lIns="0" tIns="0" rIns="0" bIns="0" rtlCol="0" anchor="ctr"/>
            <a:lstStyle/>
            <a:p>
              <a:pPr algn="r">
                <a:lnSpc>
                  <a:spcPts val="1709"/>
                </a:lnSpc>
              </a:pPr>
              <a:r>
                <a:rPr lang="en-US" sz="1425" b="1">
                  <a:solidFill>
                    <a:srgbClr val="C8912E"/>
                  </a:solidFill>
                  <a:latin typeface="Calibri (MS) Bold"/>
                  <a:ea typeface="Calibri (MS) Bold"/>
                  <a:cs typeface="Calibri (MS) Bold"/>
                  <a:sym typeface="Calibri (MS) Bold"/>
                </a:rPr>
                <a:t>Medium</a:t>
              </a:r>
            </a:p>
          </p:txBody>
        </p:sp>
      </p:grpSp>
      <p:grpSp>
        <p:nvGrpSpPr>
          <p:cNvPr id="58" name="Group 58"/>
          <p:cNvGrpSpPr/>
          <p:nvPr/>
        </p:nvGrpSpPr>
        <p:grpSpPr>
          <a:xfrm>
            <a:off x="2633472" y="7688580"/>
            <a:ext cx="6014466" cy="1371600"/>
            <a:chOff x="0" y="0"/>
            <a:chExt cx="8019288" cy="1828800"/>
          </a:xfrm>
        </p:grpSpPr>
        <p:sp>
          <p:nvSpPr>
            <p:cNvPr id="59" name="Freeform 59"/>
            <p:cNvSpPr/>
            <p:nvPr/>
          </p:nvSpPr>
          <p:spPr>
            <a:xfrm>
              <a:off x="0" y="0"/>
              <a:ext cx="8019288" cy="1828800"/>
            </a:xfrm>
            <a:custGeom>
              <a:avLst/>
              <a:gdLst/>
              <a:ahLst/>
              <a:cxnLst/>
              <a:rect l="l" t="t" r="r" b="b"/>
              <a:pathLst>
                <a:path w="8019288" h="1828800">
                  <a:moveTo>
                    <a:pt x="0" y="0"/>
                  </a:moveTo>
                  <a:lnTo>
                    <a:pt x="8019288" y="0"/>
                  </a:lnTo>
                  <a:lnTo>
                    <a:pt x="8019288" y="1828800"/>
                  </a:lnTo>
                  <a:lnTo>
                    <a:pt x="0" y="1828800"/>
                  </a:lnTo>
                  <a:close/>
                </a:path>
              </a:pathLst>
            </a:custGeom>
            <a:blipFill>
              <a:blip r:embed="rId3">
                <a:alphaModFix amt="0"/>
              </a:blip>
              <a:stretch>
                <a:fillRect t="-35441" b="-35441"/>
              </a:stretch>
            </a:blipFill>
          </p:spPr>
        </p:sp>
        <p:sp>
          <p:nvSpPr>
            <p:cNvPr id="60" name="TextBox 60"/>
            <p:cNvSpPr txBox="1"/>
            <p:nvPr/>
          </p:nvSpPr>
          <p:spPr>
            <a:xfrm>
              <a:off x="0" y="-57150"/>
              <a:ext cx="8019288" cy="1885950"/>
            </a:xfrm>
            <a:prstGeom prst="rect">
              <a:avLst/>
            </a:prstGeom>
          </p:spPr>
          <p:txBody>
            <a:bodyPr lIns="0" tIns="0" rIns="0" bIns="0" rtlCol="0" anchor="ctr"/>
            <a:lstStyle/>
            <a:p>
              <a:pPr algn="l">
                <a:lnSpc>
                  <a:spcPts val="1935"/>
                </a:lnSpc>
              </a:pPr>
              <a:r>
                <a:rPr lang="en-US" sz="1439">
                  <a:solidFill>
                    <a:srgbClr val="5B6472"/>
                  </a:solidFill>
                  <a:latin typeface="Calibri (MS)"/>
                  <a:ea typeface="Calibri (MS)"/>
                  <a:cs typeface="Calibri (MS)"/>
                  <a:sym typeface="Calibri (MS)"/>
                </a:rPr>
                <a:t>Needs a critical mass of active worker nodes for fast job pickup. Cold-start liquidity is the main real-world constraint until the network grows.</a:t>
              </a:r>
            </a:p>
          </p:txBody>
        </p:sp>
      </p:grpSp>
      <p:grpSp>
        <p:nvGrpSpPr>
          <p:cNvPr id="61" name="Group 61"/>
          <p:cNvGrpSpPr/>
          <p:nvPr/>
        </p:nvGrpSpPr>
        <p:grpSpPr>
          <a:xfrm>
            <a:off x="9351645" y="6609207"/>
            <a:ext cx="6637020" cy="2556510"/>
            <a:chOff x="0" y="0"/>
            <a:chExt cx="8849360" cy="3408680"/>
          </a:xfrm>
        </p:grpSpPr>
        <p:sp>
          <p:nvSpPr>
            <p:cNvPr id="62" name="Freeform 62"/>
            <p:cNvSpPr/>
            <p:nvPr/>
          </p:nvSpPr>
          <p:spPr>
            <a:xfrm>
              <a:off x="0" y="0"/>
              <a:ext cx="8849360" cy="3408680"/>
            </a:xfrm>
            <a:custGeom>
              <a:avLst/>
              <a:gdLst/>
              <a:ahLst/>
              <a:cxnLst/>
              <a:rect l="l" t="t" r="r" b="b"/>
              <a:pathLst>
                <a:path w="8849360" h="3408680">
                  <a:moveTo>
                    <a:pt x="0" y="147447"/>
                  </a:moveTo>
                  <a:cubicBezTo>
                    <a:pt x="0" y="66040"/>
                    <a:pt x="66040" y="0"/>
                    <a:pt x="147447" y="0"/>
                  </a:cubicBezTo>
                  <a:lnTo>
                    <a:pt x="8701913" y="0"/>
                  </a:lnTo>
                  <a:cubicBezTo>
                    <a:pt x="8783320" y="0"/>
                    <a:pt x="8849360" y="66040"/>
                    <a:pt x="8849360" y="147447"/>
                  </a:cubicBezTo>
                  <a:lnTo>
                    <a:pt x="8849360" y="3261233"/>
                  </a:lnTo>
                  <a:cubicBezTo>
                    <a:pt x="8849360" y="3342640"/>
                    <a:pt x="8783320" y="3408680"/>
                    <a:pt x="8701913" y="3408680"/>
                  </a:cubicBezTo>
                  <a:lnTo>
                    <a:pt x="147447" y="3408680"/>
                  </a:lnTo>
                  <a:cubicBezTo>
                    <a:pt x="66040" y="3408680"/>
                    <a:pt x="0" y="3342640"/>
                    <a:pt x="0" y="3261233"/>
                  </a:cubicBezTo>
                  <a:close/>
                </a:path>
              </a:pathLst>
            </a:custGeom>
            <a:solidFill>
              <a:srgbClr val="FDF8F1"/>
            </a:solidFill>
            <a:ln w="47625" cap="sq">
              <a:solidFill>
                <a:srgbClr val="E9DCC8"/>
              </a:solidFill>
              <a:prstDash val="solid"/>
              <a:miter/>
            </a:ln>
          </p:spPr>
        </p:sp>
      </p:grpSp>
      <p:grpSp>
        <p:nvGrpSpPr>
          <p:cNvPr id="63" name="Group 63"/>
          <p:cNvGrpSpPr/>
          <p:nvPr/>
        </p:nvGrpSpPr>
        <p:grpSpPr>
          <a:xfrm>
            <a:off x="9662922" y="6893052"/>
            <a:ext cx="658368" cy="658368"/>
            <a:chOff x="0" y="0"/>
            <a:chExt cx="877824" cy="877824"/>
          </a:xfrm>
        </p:grpSpPr>
        <p:sp>
          <p:nvSpPr>
            <p:cNvPr id="64" name="Freeform 64"/>
            <p:cNvSpPr/>
            <p:nvPr/>
          </p:nvSpPr>
          <p:spPr>
            <a:xfrm>
              <a:off x="0" y="0"/>
              <a:ext cx="877824" cy="877824"/>
            </a:xfrm>
            <a:custGeom>
              <a:avLst/>
              <a:gdLst/>
              <a:ahLst/>
              <a:cxnLst/>
              <a:rect l="l" t="t" r="r" b="b"/>
              <a:pathLst>
                <a:path w="877824" h="877824">
                  <a:moveTo>
                    <a:pt x="0" y="438912"/>
                  </a:moveTo>
                  <a:cubicBezTo>
                    <a:pt x="0" y="196469"/>
                    <a:pt x="196469" y="0"/>
                    <a:pt x="438912" y="0"/>
                  </a:cubicBezTo>
                  <a:cubicBezTo>
                    <a:pt x="681355" y="0"/>
                    <a:pt x="877824" y="196469"/>
                    <a:pt x="877824" y="438912"/>
                  </a:cubicBezTo>
                  <a:cubicBezTo>
                    <a:pt x="877824" y="681355"/>
                    <a:pt x="681355" y="877824"/>
                    <a:pt x="438912" y="877824"/>
                  </a:cubicBezTo>
                  <a:cubicBezTo>
                    <a:pt x="196469" y="877824"/>
                    <a:pt x="0" y="681355"/>
                    <a:pt x="0" y="438912"/>
                  </a:cubicBezTo>
                  <a:close/>
                </a:path>
              </a:pathLst>
            </a:custGeom>
            <a:solidFill>
              <a:srgbClr val="F1E6D3"/>
            </a:solidFill>
          </p:spPr>
        </p:sp>
      </p:grpSp>
      <p:grpSp>
        <p:nvGrpSpPr>
          <p:cNvPr id="65" name="Group 65"/>
          <p:cNvGrpSpPr/>
          <p:nvPr/>
        </p:nvGrpSpPr>
        <p:grpSpPr>
          <a:xfrm>
            <a:off x="10485882" y="6838188"/>
            <a:ext cx="3051810" cy="480060"/>
            <a:chOff x="0" y="0"/>
            <a:chExt cx="4069080" cy="640080"/>
          </a:xfrm>
        </p:grpSpPr>
        <p:sp>
          <p:nvSpPr>
            <p:cNvPr id="66" name="Freeform 66"/>
            <p:cNvSpPr/>
            <p:nvPr/>
          </p:nvSpPr>
          <p:spPr>
            <a:xfrm>
              <a:off x="0" y="0"/>
              <a:ext cx="4069080" cy="640080"/>
            </a:xfrm>
            <a:custGeom>
              <a:avLst/>
              <a:gdLst/>
              <a:ahLst/>
              <a:cxnLst/>
              <a:rect l="l" t="t" r="r" b="b"/>
              <a:pathLst>
                <a:path w="4069080" h="640080">
                  <a:moveTo>
                    <a:pt x="0" y="0"/>
                  </a:moveTo>
                  <a:lnTo>
                    <a:pt x="4069080" y="0"/>
                  </a:lnTo>
                  <a:lnTo>
                    <a:pt x="4069080" y="640080"/>
                  </a:lnTo>
                  <a:lnTo>
                    <a:pt x="0" y="640080"/>
                  </a:lnTo>
                  <a:close/>
                </a:path>
              </a:pathLst>
            </a:custGeom>
            <a:blipFill>
              <a:blip r:embed="rId3">
                <a:alphaModFix amt="0"/>
              </a:blip>
              <a:stretch>
                <a:fillRect t="-73869" b="-73869"/>
              </a:stretch>
            </a:blipFill>
          </p:spPr>
        </p:sp>
        <p:sp>
          <p:nvSpPr>
            <p:cNvPr id="67" name="TextBox 67"/>
            <p:cNvSpPr txBox="1"/>
            <p:nvPr/>
          </p:nvSpPr>
          <p:spPr>
            <a:xfrm>
              <a:off x="0" y="-9525"/>
              <a:ext cx="4069080" cy="649605"/>
            </a:xfrm>
            <a:prstGeom prst="rect">
              <a:avLst/>
            </a:prstGeom>
          </p:spPr>
          <p:txBody>
            <a:bodyPr lIns="0" tIns="0" rIns="0" bIns="0" rtlCol="0" anchor="ctr"/>
            <a:lstStyle/>
            <a:p>
              <a:pPr algn="l">
                <a:lnSpc>
                  <a:spcPts val="2430"/>
                </a:lnSpc>
              </a:pPr>
              <a:r>
                <a:rPr lang="en-US" sz="2025" b="1">
                  <a:solidFill>
                    <a:srgbClr val="26324A"/>
                  </a:solidFill>
                  <a:latin typeface="Cambria Bold"/>
                  <a:ea typeface="Cambria Bold"/>
                  <a:cs typeface="Cambria Bold"/>
                  <a:sym typeface="Cambria Bold"/>
                </a:rPr>
                <a:t>Schedule</a:t>
              </a:r>
            </a:p>
          </p:txBody>
        </p:sp>
      </p:grpSp>
      <p:grpSp>
        <p:nvGrpSpPr>
          <p:cNvPr id="68" name="Group 68"/>
          <p:cNvGrpSpPr/>
          <p:nvPr/>
        </p:nvGrpSpPr>
        <p:grpSpPr>
          <a:xfrm>
            <a:off x="13853160" y="6920484"/>
            <a:ext cx="571500" cy="219456"/>
            <a:chOff x="0" y="0"/>
            <a:chExt cx="762000" cy="292608"/>
          </a:xfrm>
        </p:grpSpPr>
        <p:sp>
          <p:nvSpPr>
            <p:cNvPr id="69" name="Freeform 69"/>
            <p:cNvSpPr/>
            <p:nvPr/>
          </p:nvSpPr>
          <p:spPr>
            <a:xfrm>
              <a:off x="0" y="0"/>
              <a:ext cx="762000" cy="292608"/>
            </a:xfrm>
            <a:custGeom>
              <a:avLst/>
              <a:gdLst/>
              <a:ahLst/>
              <a:cxnLst/>
              <a:rect l="l" t="t" r="r" b="b"/>
              <a:pathLst>
                <a:path w="762000" h="292608">
                  <a:moveTo>
                    <a:pt x="0" y="54864"/>
                  </a:moveTo>
                  <a:cubicBezTo>
                    <a:pt x="0" y="24511"/>
                    <a:pt x="24511" y="0"/>
                    <a:pt x="54864" y="0"/>
                  </a:cubicBezTo>
                  <a:lnTo>
                    <a:pt x="707136" y="0"/>
                  </a:lnTo>
                  <a:cubicBezTo>
                    <a:pt x="737489" y="0"/>
                    <a:pt x="762000" y="24511"/>
                    <a:pt x="762000" y="54864"/>
                  </a:cubicBezTo>
                  <a:lnTo>
                    <a:pt x="762000" y="237744"/>
                  </a:lnTo>
                  <a:cubicBezTo>
                    <a:pt x="762000" y="268097"/>
                    <a:pt x="737489" y="292608"/>
                    <a:pt x="707136" y="292608"/>
                  </a:cubicBezTo>
                  <a:lnTo>
                    <a:pt x="54864" y="292608"/>
                  </a:lnTo>
                  <a:cubicBezTo>
                    <a:pt x="24511" y="292608"/>
                    <a:pt x="0" y="268097"/>
                    <a:pt x="0" y="237744"/>
                  </a:cubicBezTo>
                  <a:close/>
                </a:path>
              </a:pathLst>
            </a:custGeom>
            <a:solidFill>
              <a:srgbClr val="C8912E"/>
            </a:solidFill>
          </p:spPr>
        </p:sp>
      </p:grpSp>
      <p:grpSp>
        <p:nvGrpSpPr>
          <p:cNvPr id="70" name="Group 70"/>
          <p:cNvGrpSpPr/>
          <p:nvPr/>
        </p:nvGrpSpPr>
        <p:grpSpPr>
          <a:xfrm>
            <a:off x="14493240" y="6920484"/>
            <a:ext cx="571500" cy="219456"/>
            <a:chOff x="0" y="0"/>
            <a:chExt cx="762000" cy="292608"/>
          </a:xfrm>
        </p:grpSpPr>
        <p:sp>
          <p:nvSpPr>
            <p:cNvPr id="71" name="Freeform 71"/>
            <p:cNvSpPr/>
            <p:nvPr/>
          </p:nvSpPr>
          <p:spPr>
            <a:xfrm>
              <a:off x="0" y="0"/>
              <a:ext cx="762000" cy="292608"/>
            </a:xfrm>
            <a:custGeom>
              <a:avLst/>
              <a:gdLst/>
              <a:ahLst/>
              <a:cxnLst/>
              <a:rect l="l" t="t" r="r" b="b"/>
              <a:pathLst>
                <a:path w="762000" h="292608">
                  <a:moveTo>
                    <a:pt x="0" y="54864"/>
                  </a:moveTo>
                  <a:cubicBezTo>
                    <a:pt x="0" y="24511"/>
                    <a:pt x="24511" y="0"/>
                    <a:pt x="54864" y="0"/>
                  </a:cubicBezTo>
                  <a:lnTo>
                    <a:pt x="707136" y="0"/>
                  </a:lnTo>
                  <a:cubicBezTo>
                    <a:pt x="737489" y="0"/>
                    <a:pt x="762000" y="24511"/>
                    <a:pt x="762000" y="54864"/>
                  </a:cubicBezTo>
                  <a:lnTo>
                    <a:pt x="762000" y="237744"/>
                  </a:lnTo>
                  <a:cubicBezTo>
                    <a:pt x="762000" y="268097"/>
                    <a:pt x="737489" y="292608"/>
                    <a:pt x="707136" y="292608"/>
                  </a:cubicBezTo>
                  <a:lnTo>
                    <a:pt x="54864" y="292608"/>
                  </a:lnTo>
                  <a:cubicBezTo>
                    <a:pt x="24511" y="292608"/>
                    <a:pt x="0" y="268097"/>
                    <a:pt x="0" y="237744"/>
                  </a:cubicBezTo>
                  <a:close/>
                </a:path>
              </a:pathLst>
            </a:custGeom>
            <a:solidFill>
              <a:srgbClr val="C8912E"/>
            </a:solidFill>
          </p:spPr>
        </p:sp>
      </p:grpSp>
      <p:grpSp>
        <p:nvGrpSpPr>
          <p:cNvPr id="72" name="Group 72"/>
          <p:cNvGrpSpPr/>
          <p:nvPr/>
        </p:nvGrpSpPr>
        <p:grpSpPr>
          <a:xfrm>
            <a:off x="15133320" y="6920484"/>
            <a:ext cx="571500" cy="219456"/>
            <a:chOff x="0" y="0"/>
            <a:chExt cx="762000" cy="292608"/>
          </a:xfrm>
        </p:grpSpPr>
        <p:sp>
          <p:nvSpPr>
            <p:cNvPr id="73" name="Freeform 73"/>
            <p:cNvSpPr/>
            <p:nvPr/>
          </p:nvSpPr>
          <p:spPr>
            <a:xfrm>
              <a:off x="0" y="0"/>
              <a:ext cx="762000" cy="292608"/>
            </a:xfrm>
            <a:custGeom>
              <a:avLst/>
              <a:gdLst/>
              <a:ahLst/>
              <a:cxnLst/>
              <a:rect l="l" t="t" r="r" b="b"/>
              <a:pathLst>
                <a:path w="762000" h="292608">
                  <a:moveTo>
                    <a:pt x="0" y="54864"/>
                  </a:moveTo>
                  <a:cubicBezTo>
                    <a:pt x="0" y="24511"/>
                    <a:pt x="24511" y="0"/>
                    <a:pt x="54864" y="0"/>
                  </a:cubicBezTo>
                  <a:lnTo>
                    <a:pt x="707136" y="0"/>
                  </a:lnTo>
                  <a:cubicBezTo>
                    <a:pt x="737489" y="0"/>
                    <a:pt x="762000" y="24511"/>
                    <a:pt x="762000" y="54864"/>
                  </a:cubicBezTo>
                  <a:lnTo>
                    <a:pt x="762000" y="237744"/>
                  </a:lnTo>
                  <a:cubicBezTo>
                    <a:pt x="762000" y="268097"/>
                    <a:pt x="737489" y="292608"/>
                    <a:pt x="707136" y="292608"/>
                  </a:cubicBezTo>
                  <a:lnTo>
                    <a:pt x="54864" y="292608"/>
                  </a:lnTo>
                  <a:cubicBezTo>
                    <a:pt x="24511" y="292608"/>
                    <a:pt x="0" y="268097"/>
                    <a:pt x="0" y="237744"/>
                  </a:cubicBezTo>
                  <a:close/>
                </a:path>
              </a:pathLst>
            </a:custGeom>
            <a:solidFill>
              <a:srgbClr val="C8912E"/>
            </a:solidFill>
          </p:spPr>
        </p:sp>
      </p:grpSp>
      <p:grpSp>
        <p:nvGrpSpPr>
          <p:cNvPr id="74" name="Group 74"/>
          <p:cNvGrpSpPr/>
          <p:nvPr/>
        </p:nvGrpSpPr>
        <p:grpSpPr>
          <a:xfrm>
            <a:off x="13853160" y="7194804"/>
            <a:ext cx="1851660" cy="342900"/>
            <a:chOff x="0" y="0"/>
            <a:chExt cx="2468880" cy="457200"/>
          </a:xfrm>
        </p:grpSpPr>
        <p:sp>
          <p:nvSpPr>
            <p:cNvPr id="75" name="Freeform 75"/>
            <p:cNvSpPr/>
            <p:nvPr/>
          </p:nvSpPr>
          <p:spPr>
            <a:xfrm>
              <a:off x="0" y="0"/>
              <a:ext cx="2468880" cy="457200"/>
            </a:xfrm>
            <a:custGeom>
              <a:avLst/>
              <a:gdLst/>
              <a:ahLst/>
              <a:cxnLst/>
              <a:rect l="l" t="t" r="r" b="b"/>
              <a:pathLst>
                <a:path w="2468880" h="457200">
                  <a:moveTo>
                    <a:pt x="0" y="0"/>
                  </a:moveTo>
                  <a:lnTo>
                    <a:pt x="2468880" y="0"/>
                  </a:lnTo>
                  <a:lnTo>
                    <a:pt x="2468880" y="457200"/>
                  </a:lnTo>
                  <a:lnTo>
                    <a:pt x="0" y="457200"/>
                  </a:lnTo>
                  <a:close/>
                </a:path>
              </a:pathLst>
            </a:custGeom>
            <a:blipFill>
              <a:blip r:embed="rId3">
                <a:alphaModFix amt="0"/>
              </a:blip>
              <a:stretch>
                <a:fillRect t="-55219" b="-55219"/>
              </a:stretch>
            </a:blipFill>
          </p:spPr>
        </p:sp>
        <p:sp>
          <p:nvSpPr>
            <p:cNvPr id="76" name="TextBox 76"/>
            <p:cNvSpPr txBox="1"/>
            <p:nvPr/>
          </p:nvSpPr>
          <p:spPr>
            <a:xfrm>
              <a:off x="0" y="-38100"/>
              <a:ext cx="2468880" cy="495300"/>
            </a:xfrm>
            <a:prstGeom prst="rect">
              <a:avLst/>
            </a:prstGeom>
          </p:spPr>
          <p:txBody>
            <a:bodyPr lIns="0" tIns="0" rIns="0" bIns="0" rtlCol="0" anchor="ctr"/>
            <a:lstStyle/>
            <a:p>
              <a:pPr algn="r">
                <a:lnSpc>
                  <a:spcPts val="1709"/>
                </a:lnSpc>
              </a:pPr>
              <a:r>
                <a:rPr lang="en-US" sz="1425" b="1">
                  <a:solidFill>
                    <a:srgbClr val="C8912E"/>
                  </a:solidFill>
                  <a:latin typeface="Calibri (MS) Bold"/>
                  <a:ea typeface="Calibri (MS) Bold"/>
                  <a:cs typeface="Calibri (MS) Bold"/>
                  <a:sym typeface="Calibri (MS) Bold"/>
                </a:rPr>
                <a:t>High</a:t>
              </a:r>
            </a:p>
          </p:txBody>
        </p:sp>
      </p:grpSp>
      <p:grpSp>
        <p:nvGrpSpPr>
          <p:cNvPr id="77" name="Group 77"/>
          <p:cNvGrpSpPr/>
          <p:nvPr/>
        </p:nvGrpSpPr>
        <p:grpSpPr>
          <a:xfrm>
            <a:off x="9662922" y="7688580"/>
            <a:ext cx="6014466" cy="1371600"/>
            <a:chOff x="0" y="0"/>
            <a:chExt cx="8019288" cy="1828800"/>
          </a:xfrm>
        </p:grpSpPr>
        <p:sp>
          <p:nvSpPr>
            <p:cNvPr id="78" name="Freeform 78"/>
            <p:cNvSpPr/>
            <p:nvPr/>
          </p:nvSpPr>
          <p:spPr>
            <a:xfrm>
              <a:off x="0" y="0"/>
              <a:ext cx="8019288" cy="1828800"/>
            </a:xfrm>
            <a:custGeom>
              <a:avLst/>
              <a:gdLst/>
              <a:ahLst/>
              <a:cxnLst/>
              <a:rect l="l" t="t" r="r" b="b"/>
              <a:pathLst>
                <a:path w="8019288" h="1828800">
                  <a:moveTo>
                    <a:pt x="0" y="0"/>
                  </a:moveTo>
                  <a:lnTo>
                    <a:pt x="8019288" y="0"/>
                  </a:lnTo>
                  <a:lnTo>
                    <a:pt x="8019288" y="1828800"/>
                  </a:lnTo>
                  <a:lnTo>
                    <a:pt x="0" y="1828800"/>
                  </a:lnTo>
                  <a:close/>
                </a:path>
              </a:pathLst>
            </a:custGeom>
            <a:blipFill>
              <a:blip r:embed="rId3">
                <a:alphaModFix amt="0"/>
              </a:blip>
              <a:stretch>
                <a:fillRect t="-35441" b="-35441"/>
              </a:stretch>
            </a:blipFill>
          </p:spPr>
        </p:sp>
        <p:sp>
          <p:nvSpPr>
            <p:cNvPr id="79" name="TextBox 79"/>
            <p:cNvSpPr txBox="1"/>
            <p:nvPr/>
          </p:nvSpPr>
          <p:spPr>
            <a:xfrm>
              <a:off x="0" y="-57150"/>
              <a:ext cx="8019288" cy="1885950"/>
            </a:xfrm>
            <a:prstGeom prst="rect">
              <a:avLst/>
            </a:prstGeom>
          </p:spPr>
          <p:txBody>
            <a:bodyPr lIns="0" tIns="0" rIns="0" bIns="0" rtlCol="0" anchor="ctr"/>
            <a:lstStyle/>
            <a:p>
              <a:pPr algn="l">
                <a:lnSpc>
                  <a:spcPts val="1935"/>
                </a:lnSpc>
              </a:pPr>
              <a:r>
                <a:rPr lang="en-US" sz="1439">
                  <a:solidFill>
                    <a:srgbClr val="5B6472"/>
                  </a:solidFill>
                  <a:latin typeface="Calibri (MS)"/>
                  <a:ea typeface="Calibri (MS)"/>
                  <a:cs typeface="Calibri (MS)"/>
                  <a:sym typeface="Calibri (MS)"/>
                </a:rPr>
                <a:t>Core platform — pricing, payments, worker orchestration — was designed, built and tested inside the two-semester project timeline using rapid-development frameworks.</a:t>
              </a:r>
            </a:p>
          </p:txBody>
        </p:sp>
      </p:grpSp>
      <p:sp>
        <p:nvSpPr>
          <p:cNvPr id="80" name="Freeform 80"/>
          <p:cNvSpPr/>
          <p:nvPr/>
        </p:nvSpPr>
        <p:spPr>
          <a:xfrm>
            <a:off x="2795941" y="4302034"/>
            <a:ext cx="333431" cy="333431"/>
          </a:xfrm>
          <a:custGeom>
            <a:avLst/>
            <a:gdLst/>
            <a:ahLst/>
            <a:cxnLst/>
            <a:rect l="l" t="t" r="r" b="b"/>
            <a:pathLst>
              <a:path w="333431" h="333431">
                <a:moveTo>
                  <a:pt x="0" y="0"/>
                </a:moveTo>
                <a:lnTo>
                  <a:pt x="333430" y="0"/>
                </a:lnTo>
                <a:lnTo>
                  <a:pt x="333430" y="333430"/>
                </a:lnTo>
                <a:lnTo>
                  <a:pt x="0" y="33343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1" name="Freeform 81"/>
          <p:cNvSpPr/>
          <p:nvPr/>
        </p:nvSpPr>
        <p:spPr>
          <a:xfrm>
            <a:off x="2785110" y="7130415"/>
            <a:ext cx="355092" cy="355092"/>
          </a:xfrm>
          <a:custGeom>
            <a:avLst/>
            <a:gdLst/>
            <a:ahLst/>
            <a:cxnLst/>
            <a:rect l="l" t="t" r="r" b="b"/>
            <a:pathLst>
              <a:path w="355092" h="355092">
                <a:moveTo>
                  <a:pt x="0" y="0"/>
                </a:moveTo>
                <a:lnTo>
                  <a:pt x="355092" y="0"/>
                </a:lnTo>
                <a:lnTo>
                  <a:pt x="355092" y="355092"/>
                </a:lnTo>
                <a:lnTo>
                  <a:pt x="0" y="355092"/>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2" name="Freeform 82"/>
          <p:cNvSpPr/>
          <p:nvPr/>
        </p:nvSpPr>
        <p:spPr>
          <a:xfrm>
            <a:off x="9799067" y="7055521"/>
            <a:ext cx="386077" cy="333431"/>
          </a:xfrm>
          <a:custGeom>
            <a:avLst/>
            <a:gdLst/>
            <a:ahLst/>
            <a:cxnLst/>
            <a:rect l="l" t="t" r="r" b="b"/>
            <a:pathLst>
              <a:path w="386077" h="333431">
                <a:moveTo>
                  <a:pt x="0" y="0"/>
                </a:moveTo>
                <a:lnTo>
                  <a:pt x="386078" y="0"/>
                </a:lnTo>
                <a:lnTo>
                  <a:pt x="386078" y="333430"/>
                </a:lnTo>
                <a:lnTo>
                  <a:pt x="0" y="333430"/>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83" name="TextBox 83"/>
          <p:cNvSpPr txBox="1"/>
          <p:nvPr/>
        </p:nvSpPr>
        <p:spPr>
          <a:xfrm>
            <a:off x="7307216" y="876517"/>
            <a:ext cx="3663851" cy="580390"/>
          </a:xfrm>
          <a:prstGeom prst="rect">
            <a:avLst/>
          </a:prstGeom>
        </p:spPr>
        <p:txBody>
          <a:bodyPr wrap="square" lIns="0" tIns="0" rIns="0" bIns="0" rtlCol="0" anchor="t">
            <a:spAutoFit/>
          </a:bodyPr>
          <a:lstStyle/>
          <a:p>
            <a:pPr algn="ctr">
              <a:lnSpc>
                <a:spcPts val="4759"/>
              </a:lnSpc>
              <a:spcBef>
                <a:spcPct val="0"/>
              </a:spcBef>
            </a:pPr>
            <a:r>
              <a:rPr lang="en-US" sz="3399" b="1" dirty="0">
                <a:solidFill>
                  <a:srgbClr val="000000"/>
                </a:solidFill>
                <a:latin typeface="Canva Sans Bold"/>
                <a:ea typeface="Canva Sans Bold"/>
                <a:cs typeface="Canva Sans Bold"/>
                <a:sym typeface="Canva Sans Bold"/>
              </a:rPr>
              <a:t>Feasibility Study</a:t>
            </a:r>
          </a:p>
        </p:txBody>
      </p:sp>
      <p:sp>
        <p:nvSpPr>
          <p:cNvPr id="84" name="TextBox 84"/>
          <p:cNvSpPr txBox="1"/>
          <p:nvPr/>
        </p:nvSpPr>
        <p:spPr>
          <a:xfrm>
            <a:off x="2336397" y="1828336"/>
            <a:ext cx="13615207" cy="1627334"/>
          </a:xfrm>
          <a:prstGeom prst="rect">
            <a:avLst/>
          </a:prstGeom>
        </p:spPr>
        <p:txBody>
          <a:bodyPr lIns="0" tIns="0" rIns="0" bIns="0" rtlCol="0" anchor="t">
            <a:spAutoFit/>
          </a:bodyPr>
          <a:lstStyle/>
          <a:p>
            <a:pPr algn="just">
              <a:lnSpc>
                <a:spcPts val="3229"/>
              </a:lnSpc>
              <a:spcBef>
                <a:spcPct val="0"/>
              </a:spcBef>
            </a:pPr>
            <a:r>
              <a:rPr lang="en-US" sz="2306">
                <a:solidFill>
                  <a:srgbClr val="000000"/>
                </a:solidFill>
                <a:latin typeface="Canva Sans"/>
                <a:ea typeface="Canva Sans"/>
                <a:cs typeface="Canva Sans"/>
                <a:sym typeface="Canva Sans"/>
              </a:rPr>
              <a:t>DTrain is technically sound, built on proven open-source tools. It's economically lean too, with no fixed infrastructure cost. The main constraint is operational — needing enough active workers for fast job pickup. The core platform was fully built and tested within our two-semester timeline.</a:t>
            </a:r>
          </a:p>
        </p:txBody>
      </p:sp>
      <p:sp>
        <p:nvSpPr>
          <p:cNvPr id="85" name="Freeform 85"/>
          <p:cNvSpPr/>
          <p:nvPr/>
        </p:nvSpPr>
        <p:spPr>
          <a:xfrm>
            <a:off x="9860191" y="4200563"/>
            <a:ext cx="263830" cy="310057"/>
          </a:xfrm>
          <a:custGeom>
            <a:avLst/>
            <a:gdLst/>
            <a:ahLst/>
            <a:cxnLst/>
            <a:rect l="l" t="t" r="r" b="b"/>
            <a:pathLst>
              <a:path w="263830" h="310057">
                <a:moveTo>
                  <a:pt x="0" y="0"/>
                </a:moveTo>
                <a:lnTo>
                  <a:pt x="263830" y="0"/>
                </a:lnTo>
                <a:lnTo>
                  <a:pt x="263830" y="310058"/>
                </a:lnTo>
                <a:lnTo>
                  <a:pt x="0" y="310058"/>
                </a:lnTo>
                <a:lnTo>
                  <a:pt x="0" y="0"/>
                </a:lnTo>
                <a:close/>
              </a:path>
            </a:pathLst>
          </a:custGeom>
          <a:blipFill>
            <a:blip>
              <a:extLst>
                <a:ext uri="{96DAC541-7B7A-43D3-8B79-37D633B846F1}">
                  <asvg:svgBlip xmlns:asvg="http://schemas.microsoft.com/office/drawing/2016/SVG/main" r:embed="rId7"/>
                </a:ext>
              </a:extLst>
            </a:blip>
            <a:stretch>
              <a:fillRect/>
            </a:stretch>
          </a:blipFill>
        </p:spPr>
      </p:sp>
    </p:spTree>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78284" cy="10287000"/>
            <a:chOff x="0" y="0"/>
            <a:chExt cx="24371046" cy="13716000"/>
          </a:xfrm>
        </p:grpSpPr>
        <p:sp>
          <p:nvSpPr>
            <p:cNvPr id="3" name="Freeform 3"/>
            <p:cNvSpPr/>
            <p:nvPr/>
          </p:nvSpPr>
          <p:spPr>
            <a:xfrm>
              <a:off x="0" y="0"/>
              <a:ext cx="24371046" cy="13716000"/>
            </a:xfrm>
            <a:custGeom>
              <a:avLst/>
              <a:gdLst/>
              <a:ahLst/>
              <a:cxnLst/>
              <a:rect l="l" t="t" r="r" b="b"/>
              <a:pathLst>
                <a:path w="24371046" h="13716000">
                  <a:moveTo>
                    <a:pt x="0" y="0"/>
                  </a:moveTo>
                  <a:lnTo>
                    <a:pt x="24371046" y="0"/>
                  </a:lnTo>
                  <a:lnTo>
                    <a:pt x="24371046" y="13716000"/>
                  </a:lnTo>
                  <a:lnTo>
                    <a:pt x="0" y="13716000"/>
                  </a:lnTo>
                  <a:lnTo>
                    <a:pt x="0" y="0"/>
                  </a:lnTo>
                  <a:close/>
                </a:path>
              </a:pathLst>
            </a:custGeom>
            <a:blipFill>
              <a:blip r:embed="rId2"/>
              <a:stretch>
                <a:fillRect/>
              </a:stretch>
            </a:blipFill>
          </p:spPr>
        </p:sp>
      </p:grpSp>
      <p:grpSp>
        <p:nvGrpSpPr>
          <p:cNvPr id="4" name="Group 4"/>
          <p:cNvGrpSpPr/>
          <p:nvPr/>
        </p:nvGrpSpPr>
        <p:grpSpPr>
          <a:xfrm>
            <a:off x="2322195" y="3387090"/>
            <a:ext cx="4339590" cy="2693670"/>
            <a:chOff x="0" y="0"/>
            <a:chExt cx="5786120" cy="3591560"/>
          </a:xfrm>
        </p:grpSpPr>
        <p:sp>
          <p:nvSpPr>
            <p:cNvPr id="5" name="Freeform 5"/>
            <p:cNvSpPr/>
            <p:nvPr/>
          </p:nvSpPr>
          <p:spPr>
            <a:xfrm>
              <a:off x="0" y="0"/>
              <a:ext cx="5786120" cy="3591560"/>
            </a:xfrm>
            <a:custGeom>
              <a:avLst/>
              <a:gdLst/>
              <a:ahLst/>
              <a:cxnLst/>
              <a:rect l="l" t="t" r="r" b="b"/>
              <a:pathLst>
                <a:path w="5786120" h="3591560">
                  <a:moveTo>
                    <a:pt x="0" y="147320"/>
                  </a:moveTo>
                  <a:cubicBezTo>
                    <a:pt x="0" y="65913"/>
                    <a:pt x="65913" y="0"/>
                    <a:pt x="147320" y="0"/>
                  </a:cubicBezTo>
                  <a:lnTo>
                    <a:pt x="5638800" y="0"/>
                  </a:lnTo>
                  <a:cubicBezTo>
                    <a:pt x="5720207" y="0"/>
                    <a:pt x="5786120" y="65913"/>
                    <a:pt x="5786120" y="147320"/>
                  </a:cubicBezTo>
                  <a:lnTo>
                    <a:pt x="5786120" y="3444240"/>
                  </a:lnTo>
                  <a:cubicBezTo>
                    <a:pt x="5786120" y="3525647"/>
                    <a:pt x="5720207" y="3591560"/>
                    <a:pt x="5638800" y="3591560"/>
                  </a:cubicBezTo>
                  <a:lnTo>
                    <a:pt x="147320" y="3591560"/>
                  </a:lnTo>
                  <a:cubicBezTo>
                    <a:pt x="65913" y="3591560"/>
                    <a:pt x="0" y="3525647"/>
                    <a:pt x="0" y="3444240"/>
                  </a:cubicBezTo>
                  <a:close/>
                </a:path>
              </a:pathLst>
            </a:custGeom>
            <a:solidFill>
              <a:srgbClr val="FDF8F1"/>
            </a:solidFill>
            <a:ln w="47625" cap="sq">
              <a:solidFill>
                <a:srgbClr val="E9DCC8"/>
              </a:solidFill>
              <a:prstDash val="solid"/>
              <a:miter/>
            </a:ln>
          </p:spPr>
        </p:sp>
      </p:grpSp>
      <p:grpSp>
        <p:nvGrpSpPr>
          <p:cNvPr id="6" name="Group 6"/>
          <p:cNvGrpSpPr/>
          <p:nvPr/>
        </p:nvGrpSpPr>
        <p:grpSpPr>
          <a:xfrm>
            <a:off x="2606040" y="3670935"/>
            <a:ext cx="630936" cy="630936"/>
            <a:chOff x="0" y="0"/>
            <a:chExt cx="841248" cy="841248"/>
          </a:xfrm>
        </p:grpSpPr>
        <p:sp>
          <p:nvSpPr>
            <p:cNvPr id="7" name="Freeform 7"/>
            <p:cNvSpPr/>
            <p:nvPr/>
          </p:nvSpPr>
          <p:spPr>
            <a:xfrm>
              <a:off x="0" y="0"/>
              <a:ext cx="841248" cy="841248"/>
            </a:xfrm>
            <a:custGeom>
              <a:avLst/>
              <a:gdLst/>
              <a:ahLst/>
              <a:cxnLst/>
              <a:rect l="l" t="t" r="r" b="b"/>
              <a:pathLst>
                <a:path w="841248" h="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F1E6D3"/>
            </a:solidFill>
          </p:spPr>
        </p:sp>
      </p:grpSp>
      <p:grpSp>
        <p:nvGrpSpPr>
          <p:cNvPr id="8" name="Group 8"/>
          <p:cNvGrpSpPr/>
          <p:nvPr/>
        </p:nvGrpSpPr>
        <p:grpSpPr>
          <a:xfrm>
            <a:off x="2606040" y="4466463"/>
            <a:ext cx="3771900" cy="754380"/>
            <a:chOff x="0" y="0"/>
            <a:chExt cx="5029200" cy="1005840"/>
          </a:xfrm>
        </p:grpSpPr>
        <p:sp>
          <p:nvSpPr>
            <p:cNvPr id="9" name="Freeform 9"/>
            <p:cNvSpPr/>
            <p:nvPr/>
          </p:nvSpPr>
          <p:spPr>
            <a:xfrm>
              <a:off x="0" y="0"/>
              <a:ext cx="5029200" cy="1005840"/>
            </a:xfrm>
            <a:custGeom>
              <a:avLst/>
              <a:gdLst/>
              <a:ahLst/>
              <a:cxnLst/>
              <a:rect l="l" t="t" r="r" b="b"/>
              <a:pathLst>
                <a:path w="5029200" h="1005840">
                  <a:moveTo>
                    <a:pt x="0" y="0"/>
                  </a:moveTo>
                  <a:lnTo>
                    <a:pt x="5029200" y="0"/>
                  </a:lnTo>
                  <a:lnTo>
                    <a:pt x="5029200" y="1005840"/>
                  </a:lnTo>
                  <a:lnTo>
                    <a:pt x="0" y="1005840"/>
                  </a:lnTo>
                  <a:close/>
                </a:path>
              </a:pathLst>
            </a:custGeom>
            <a:blipFill>
              <a:blip r:embed="rId3">
                <a:alphaModFix amt="0"/>
              </a:blip>
              <a:stretch>
                <a:fillRect t="-47425" b="-47425"/>
              </a:stretch>
            </a:blipFill>
          </p:spPr>
        </p:sp>
        <p:sp>
          <p:nvSpPr>
            <p:cNvPr id="10" name="TextBox 10"/>
            <p:cNvSpPr txBox="1"/>
            <p:nvPr/>
          </p:nvSpPr>
          <p:spPr>
            <a:xfrm>
              <a:off x="0" y="-19050"/>
              <a:ext cx="5029200" cy="1024890"/>
            </a:xfrm>
            <a:prstGeom prst="rect">
              <a:avLst/>
            </a:prstGeom>
          </p:spPr>
          <p:txBody>
            <a:bodyPr lIns="0" tIns="0" rIns="0" bIns="0" rtlCol="0" anchor="ctr"/>
            <a:lstStyle/>
            <a:p>
              <a:pPr algn="l">
                <a:lnSpc>
                  <a:spcPts val="2173"/>
                </a:lnSpc>
              </a:pPr>
              <a:r>
                <a:rPr lang="en-US" sz="1725" b="1">
                  <a:solidFill>
                    <a:srgbClr val="26324A"/>
                  </a:solidFill>
                  <a:latin typeface="Cambria Bold"/>
                  <a:ea typeface="Cambria Bold"/>
                  <a:cs typeface="Cambria Bold"/>
                  <a:sym typeface="Cambria Bold"/>
                </a:rPr>
                <a:t>GPU-Accelerated Containers</a:t>
              </a:r>
            </a:p>
          </p:txBody>
        </p:sp>
      </p:grpSp>
      <p:grpSp>
        <p:nvGrpSpPr>
          <p:cNvPr id="11" name="Group 11"/>
          <p:cNvGrpSpPr/>
          <p:nvPr/>
        </p:nvGrpSpPr>
        <p:grpSpPr>
          <a:xfrm>
            <a:off x="2606040" y="5179695"/>
            <a:ext cx="3771900" cy="822960"/>
            <a:chOff x="0" y="0"/>
            <a:chExt cx="5029200" cy="1097280"/>
          </a:xfrm>
        </p:grpSpPr>
        <p:sp>
          <p:nvSpPr>
            <p:cNvPr id="12" name="Freeform 12"/>
            <p:cNvSpPr/>
            <p:nvPr/>
          </p:nvSpPr>
          <p:spPr>
            <a:xfrm>
              <a:off x="0" y="0"/>
              <a:ext cx="5029200" cy="1097280"/>
            </a:xfrm>
            <a:custGeom>
              <a:avLst/>
              <a:gdLst/>
              <a:ahLst/>
              <a:cxnLst/>
              <a:rect l="l" t="t" r="r" b="b"/>
              <a:pathLst>
                <a:path w="5029200" h="1097280">
                  <a:moveTo>
                    <a:pt x="0" y="0"/>
                  </a:moveTo>
                  <a:lnTo>
                    <a:pt x="5029200" y="0"/>
                  </a:lnTo>
                  <a:lnTo>
                    <a:pt x="5029200" y="1097280"/>
                  </a:lnTo>
                  <a:lnTo>
                    <a:pt x="0" y="1097280"/>
                  </a:lnTo>
                  <a:close/>
                </a:path>
              </a:pathLst>
            </a:custGeom>
            <a:blipFill>
              <a:blip r:embed="rId3">
                <a:alphaModFix amt="0"/>
              </a:blip>
              <a:stretch>
                <a:fillRect t="-39306" b="-39306"/>
              </a:stretch>
            </a:blipFill>
          </p:spPr>
        </p:sp>
        <p:sp>
          <p:nvSpPr>
            <p:cNvPr id="13" name="TextBox 13"/>
            <p:cNvSpPr txBox="1"/>
            <p:nvPr/>
          </p:nvSpPr>
          <p:spPr>
            <a:xfrm>
              <a:off x="0" y="-47625"/>
              <a:ext cx="5029200" cy="1144905"/>
            </a:xfrm>
            <a:prstGeom prst="rect">
              <a:avLst/>
            </a:prstGeom>
          </p:spPr>
          <p:txBody>
            <a:bodyPr lIns="0" tIns="0" rIns="0" bIns="0" rtlCol="0" anchor="ctr"/>
            <a:lstStyle/>
            <a:p>
              <a:pPr algn="l">
                <a:lnSpc>
                  <a:spcPts val="1742"/>
                </a:lnSpc>
              </a:pPr>
              <a:r>
                <a:rPr lang="en-US" sz="1320">
                  <a:solidFill>
                    <a:srgbClr val="5B6472"/>
                  </a:solidFill>
                  <a:latin typeface="Calibri (MS)"/>
                  <a:ea typeface="Calibri (MS)"/>
                  <a:cs typeface="Calibri (MS)"/>
                  <a:sym typeface="Calibri (MS)"/>
                </a:rPr>
                <a:t>Add NVIDIA container toolkit support so Docker jobs can use worker GPUs directly, not just CPU.</a:t>
              </a:r>
            </a:p>
          </p:txBody>
        </p:sp>
      </p:grpSp>
      <p:grpSp>
        <p:nvGrpSpPr>
          <p:cNvPr id="14" name="Group 14"/>
          <p:cNvGrpSpPr/>
          <p:nvPr/>
        </p:nvGrpSpPr>
        <p:grpSpPr>
          <a:xfrm>
            <a:off x="6985635" y="3387090"/>
            <a:ext cx="4339590" cy="2693670"/>
            <a:chOff x="0" y="0"/>
            <a:chExt cx="5786120" cy="3591560"/>
          </a:xfrm>
        </p:grpSpPr>
        <p:sp>
          <p:nvSpPr>
            <p:cNvPr id="15" name="Freeform 15"/>
            <p:cNvSpPr/>
            <p:nvPr/>
          </p:nvSpPr>
          <p:spPr>
            <a:xfrm>
              <a:off x="0" y="0"/>
              <a:ext cx="5786120" cy="3591560"/>
            </a:xfrm>
            <a:custGeom>
              <a:avLst/>
              <a:gdLst/>
              <a:ahLst/>
              <a:cxnLst/>
              <a:rect l="l" t="t" r="r" b="b"/>
              <a:pathLst>
                <a:path w="5786120" h="3591560">
                  <a:moveTo>
                    <a:pt x="0" y="147320"/>
                  </a:moveTo>
                  <a:cubicBezTo>
                    <a:pt x="0" y="65913"/>
                    <a:pt x="65913" y="0"/>
                    <a:pt x="147320" y="0"/>
                  </a:cubicBezTo>
                  <a:lnTo>
                    <a:pt x="5638800" y="0"/>
                  </a:lnTo>
                  <a:cubicBezTo>
                    <a:pt x="5720207" y="0"/>
                    <a:pt x="5786120" y="65913"/>
                    <a:pt x="5786120" y="147320"/>
                  </a:cubicBezTo>
                  <a:lnTo>
                    <a:pt x="5786120" y="3444240"/>
                  </a:lnTo>
                  <a:cubicBezTo>
                    <a:pt x="5786120" y="3525647"/>
                    <a:pt x="5720207" y="3591560"/>
                    <a:pt x="5638800" y="3591560"/>
                  </a:cubicBezTo>
                  <a:lnTo>
                    <a:pt x="147320" y="3591560"/>
                  </a:lnTo>
                  <a:cubicBezTo>
                    <a:pt x="65913" y="3591560"/>
                    <a:pt x="0" y="3525647"/>
                    <a:pt x="0" y="3444240"/>
                  </a:cubicBezTo>
                  <a:close/>
                </a:path>
              </a:pathLst>
            </a:custGeom>
            <a:solidFill>
              <a:srgbClr val="FDF8F1"/>
            </a:solidFill>
            <a:ln w="47625" cap="sq">
              <a:solidFill>
                <a:srgbClr val="E9DCC8"/>
              </a:solidFill>
              <a:prstDash val="solid"/>
              <a:miter/>
            </a:ln>
          </p:spPr>
        </p:sp>
      </p:grpSp>
      <p:grpSp>
        <p:nvGrpSpPr>
          <p:cNvPr id="16" name="Group 16"/>
          <p:cNvGrpSpPr/>
          <p:nvPr/>
        </p:nvGrpSpPr>
        <p:grpSpPr>
          <a:xfrm>
            <a:off x="7269480" y="3670935"/>
            <a:ext cx="630936" cy="630936"/>
            <a:chOff x="0" y="0"/>
            <a:chExt cx="841248" cy="841248"/>
          </a:xfrm>
        </p:grpSpPr>
        <p:sp>
          <p:nvSpPr>
            <p:cNvPr id="17" name="Freeform 17"/>
            <p:cNvSpPr/>
            <p:nvPr/>
          </p:nvSpPr>
          <p:spPr>
            <a:xfrm>
              <a:off x="0" y="0"/>
              <a:ext cx="841248" cy="841248"/>
            </a:xfrm>
            <a:custGeom>
              <a:avLst/>
              <a:gdLst/>
              <a:ahLst/>
              <a:cxnLst/>
              <a:rect l="l" t="t" r="r" b="b"/>
              <a:pathLst>
                <a:path w="841248" h="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F1E6D3"/>
            </a:solidFill>
          </p:spPr>
        </p:sp>
      </p:grpSp>
      <p:grpSp>
        <p:nvGrpSpPr>
          <p:cNvPr id="18" name="Group 18"/>
          <p:cNvGrpSpPr/>
          <p:nvPr/>
        </p:nvGrpSpPr>
        <p:grpSpPr>
          <a:xfrm>
            <a:off x="7269480" y="4466463"/>
            <a:ext cx="3771900" cy="754380"/>
            <a:chOff x="0" y="0"/>
            <a:chExt cx="5029200" cy="1005840"/>
          </a:xfrm>
        </p:grpSpPr>
        <p:sp>
          <p:nvSpPr>
            <p:cNvPr id="19" name="Freeform 19"/>
            <p:cNvSpPr/>
            <p:nvPr/>
          </p:nvSpPr>
          <p:spPr>
            <a:xfrm>
              <a:off x="0" y="0"/>
              <a:ext cx="5029200" cy="1005840"/>
            </a:xfrm>
            <a:custGeom>
              <a:avLst/>
              <a:gdLst/>
              <a:ahLst/>
              <a:cxnLst/>
              <a:rect l="l" t="t" r="r" b="b"/>
              <a:pathLst>
                <a:path w="5029200" h="1005840">
                  <a:moveTo>
                    <a:pt x="0" y="0"/>
                  </a:moveTo>
                  <a:lnTo>
                    <a:pt x="5029200" y="0"/>
                  </a:lnTo>
                  <a:lnTo>
                    <a:pt x="5029200" y="1005840"/>
                  </a:lnTo>
                  <a:lnTo>
                    <a:pt x="0" y="1005840"/>
                  </a:lnTo>
                  <a:close/>
                </a:path>
              </a:pathLst>
            </a:custGeom>
            <a:blipFill>
              <a:blip r:embed="rId3">
                <a:alphaModFix amt="0"/>
              </a:blip>
              <a:stretch>
                <a:fillRect t="-47425" b="-47425"/>
              </a:stretch>
            </a:blipFill>
          </p:spPr>
        </p:sp>
        <p:sp>
          <p:nvSpPr>
            <p:cNvPr id="20" name="TextBox 20"/>
            <p:cNvSpPr txBox="1"/>
            <p:nvPr/>
          </p:nvSpPr>
          <p:spPr>
            <a:xfrm>
              <a:off x="0" y="-19050"/>
              <a:ext cx="5029200" cy="1024890"/>
            </a:xfrm>
            <a:prstGeom prst="rect">
              <a:avLst/>
            </a:prstGeom>
          </p:spPr>
          <p:txBody>
            <a:bodyPr lIns="0" tIns="0" rIns="0" bIns="0" rtlCol="0" anchor="ctr"/>
            <a:lstStyle/>
            <a:p>
              <a:pPr algn="l">
                <a:lnSpc>
                  <a:spcPts val="2173"/>
                </a:lnSpc>
              </a:pPr>
              <a:r>
                <a:rPr lang="en-US" sz="1725" b="1">
                  <a:solidFill>
                    <a:srgbClr val="26324A"/>
                  </a:solidFill>
                  <a:latin typeface="Cambria Bold"/>
                  <a:ea typeface="Cambria Bold"/>
                  <a:cs typeface="Cambria Bold"/>
                  <a:sym typeface="Cambria Bold"/>
                </a:rPr>
                <a:t>Multi-Worker Parallel Training</a:t>
              </a:r>
            </a:p>
          </p:txBody>
        </p:sp>
      </p:grpSp>
      <p:grpSp>
        <p:nvGrpSpPr>
          <p:cNvPr id="21" name="Group 21"/>
          <p:cNvGrpSpPr/>
          <p:nvPr/>
        </p:nvGrpSpPr>
        <p:grpSpPr>
          <a:xfrm>
            <a:off x="7269480" y="5179695"/>
            <a:ext cx="3771900" cy="822960"/>
            <a:chOff x="0" y="0"/>
            <a:chExt cx="5029200" cy="1097280"/>
          </a:xfrm>
        </p:grpSpPr>
        <p:sp>
          <p:nvSpPr>
            <p:cNvPr id="22" name="Freeform 22"/>
            <p:cNvSpPr/>
            <p:nvPr/>
          </p:nvSpPr>
          <p:spPr>
            <a:xfrm>
              <a:off x="0" y="0"/>
              <a:ext cx="5029200" cy="1097280"/>
            </a:xfrm>
            <a:custGeom>
              <a:avLst/>
              <a:gdLst/>
              <a:ahLst/>
              <a:cxnLst/>
              <a:rect l="l" t="t" r="r" b="b"/>
              <a:pathLst>
                <a:path w="5029200" h="1097280">
                  <a:moveTo>
                    <a:pt x="0" y="0"/>
                  </a:moveTo>
                  <a:lnTo>
                    <a:pt x="5029200" y="0"/>
                  </a:lnTo>
                  <a:lnTo>
                    <a:pt x="5029200" y="1097280"/>
                  </a:lnTo>
                  <a:lnTo>
                    <a:pt x="0" y="1097280"/>
                  </a:lnTo>
                  <a:close/>
                </a:path>
              </a:pathLst>
            </a:custGeom>
            <a:blipFill>
              <a:blip r:embed="rId3">
                <a:alphaModFix amt="0"/>
              </a:blip>
              <a:stretch>
                <a:fillRect t="-39306" b="-39306"/>
              </a:stretch>
            </a:blipFill>
          </p:spPr>
        </p:sp>
        <p:sp>
          <p:nvSpPr>
            <p:cNvPr id="23" name="TextBox 23"/>
            <p:cNvSpPr txBox="1"/>
            <p:nvPr/>
          </p:nvSpPr>
          <p:spPr>
            <a:xfrm>
              <a:off x="0" y="-47625"/>
              <a:ext cx="5029200" cy="1144905"/>
            </a:xfrm>
            <a:prstGeom prst="rect">
              <a:avLst/>
            </a:prstGeom>
          </p:spPr>
          <p:txBody>
            <a:bodyPr lIns="0" tIns="0" rIns="0" bIns="0" rtlCol="0" anchor="ctr"/>
            <a:lstStyle/>
            <a:p>
              <a:pPr algn="l">
                <a:lnSpc>
                  <a:spcPts val="1742"/>
                </a:lnSpc>
              </a:pPr>
              <a:r>
                <a:rPr lang="en-US" sz="1320">
                  <a:solidFill>
                    <a:srgbClr val="5B6472"/>
                  </a:solidFill>
                  <a:latin typeface="Calibri (MS)"/>
                  <a:ea typeface="Calibri (MS)"/>
                  <a:cs typeface="Calibri (MS)"/>
                  <a:sym typeface="Calibri (MS)"/>
                </a:rPr>
                <a:t>Split large jobs across several workers at once to cut training time further for heavy models.</a:t>
              </a:r>
            </a:p>
          </p:txBody>
        </p:sp>
      </p:grpSp>
      <p:grpSp>
        <p:nvGrpSpPr>
          <p:cNvPr id="24" name="Group 24"/>
          <p:cNvGrpSpPr/>
          <p:nvPr/>
        </p:nvGrpSpPr>
        <p:grpSpPr>
          <a:xfrm>
            <a:off x="11649075" y="3387090"/>
            <a:ext cx="4339590" cy="2693670"/>
            <a:chOff x="0" y="0"/>
            <a:chExt cx="5786120" cy="3591560"/>
          </a:xfrm>
        </p:grpSpPr>
        <p:sp>
          <p:nvSpPr>
            <p:cNvPr id="25" name="Freeform 25"/>
            <p:cNvSpPr/>
            <p:nvPr/>
          </p:nvSpPr>
          <p:spPr>
            <a:xfrm>
              <a:off x="0" y="0"/>
              <a:ext cx="5786120" cy="3591560"/>
            </a:xfrm>
            <a:custGeom>
              <a:avLst/>
              <a:gdLst/>
              <a:ahLst/>
              <a:cxnLst/>
              <a:rect l="l" t="t" r="r" b="b"/>
              <a:pathLst>
                <a:path w="5786120" h="3591560">
                  <a:moveTo>
                    <a:pt x="0" y="147320"/>
                  </a:moveTo>
                  <a:cubicBezTo>
                    <a:pt x="0" y="65913"/>
                    <a:pt x="65913" y="0"/>
                    <a:pt x="147320" y="0"/>
                  </a:cubicBezTo>
                  <a:lnTo>
                    <a:pt x="5638800" y="0"/>
                  </a:lnTo>
                  <a:cubicBezTo>
                    <a:pt x="5720207" y="0"/>
                    <a:pt x="5786120" y="65913"/>
                    <a:pt x="5786120" y="147320"/>
                  </a:cubicBezTo>
                  <a:lnTo>
                    <a:pt x="5786120" y="3444240"/>
                  </a:lnTo>
                  <a:cubicBezTo>
                    <a:pt x="5786120" y="3525647"/>
                    <a:pt x="5720207" y="3591560"/>
                    <a:pt x="5638800" y="3591560"/>
                  </a:cubicBezTo>
                  <a:lnTo>
                    <a:pt x="147320" y="3591560"/>
                  </a:lnTo>
                  <a:cubicBezTo>
                    <a:pt x="65913" y="3591560"/>
                    <a:pt x="0" y="3525647"/>
                    <a:pt x="0" y="3444240"/>
                  </a:cubicBezTo>
                  <a:close/>
                </a:path>
              </a:pathLst>
            </a:custGeom>
            <a:solidFill>
              <a:srgbClr val="FDF8F1"/>
            </a:solidFill>
            <a:ln w="47625" cap="sq">
              <a:solidFill>
                <a:srgbClr val="E9DCC8"/>
              </a:solidFill>
              <a:prstDash val="solid"/>
              <a:miter/>
            </a:ln>
          </p:spPr>
        </p:sp>
      </p:grpSp>
      <p:grpSp>
        <p:nvGrpSpPr>
          <p:cNvPr id="26" name="Group 26"/>
          <p:cNvGrpSpPr/>
          <p:nvPr/>
        </p:nvGrpSpPr>
        <p:grpSpPr>
          <a:xfrm>
            <a:off x="11932920" y="3670935"/>
            <a:ext cx="630936" cy="630936"/>
            <a:chOff x="0" y="0"/>
            <a:chExt cx="841248" cy="841248"/>
          </a:xfrm>
        </p:grpSpPr>
        <p:sp>
          <p:nvSpPr>
            <p:cNvPr id="27" name="Freeform 27"/>
            <p:cNvSpPr/>
            <p:nvPr/>
          </p:nvSpPr>
          <p:spPr>
            <a:xfrm>
              <a:off x="0" y="0"/>
              <a:ext cx="841248" cy="841248"/>
            </a:xfrm>
            <a:custGeom>
              <a:avLst/>
              <a:gdLst/>
              <a:ahLst/>
              <a:cxnLst/>
              <a:rect l="l" t="t" r="r" b="b"/>
              <a:pathLst>
                <a:path w="841248" h="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F1E6D3"/>
            </a:solidFill>
          </p:spPr>
        </p:sp>
      </p:grpSp>
      <p:grpSp>
        <p:nvGrpSpPr>
          <p:cNvPr id="28" name="Group 28"/>
          <p:cNvGrpSpPr/>
          <p:nvPr/>
        </p:nvGrpSpPr>
        <p:grpSpPr>
          <a:xfrm>
            <a:off x="11932920" y="4466463"/>
            <a:ext cx="3771900" cy="754380"/>
            <a:chOff x="0" y="0"/>
            <a:chExt cx="5029200" cy="1005840"/>
          </a:xfrm>
        </p:grpSpPr>
        <p:sp>
          <p:nvSpPr>
            <p:cNvPr id="29" name="Freeform 29"/>
            <p:cNvSpPr/>
            <p:nvPr/>
          </p:nvSpPr>
          <p:spPr>
            <a:xfrm>
              <a:off x="0" y="0"/>
              <a:ext cx="5029200" cy="1005840"/>
            </a:xfrm>
            <a:custGeom>
              <a:avLst/>
              <a:gdLst/>
              <a:ahLst/>
              <a:cxnLst/>
              <a:rect l="l" t="t" r="r" b="b"/>
              <a:pathLst>
                <a:path w="5029200" h="1005840">
                  <a:moveTo>
                    <a:pt x="0" y="0"/>
                  </a:moveTo>
                  <a:lnTo>
                    <a:pt x="5029200" y="0"/>
                  </a:lnTo>
                  <a:lnTo>
                    <a:pt x="5029200" y="1005840"/>
                  </a:lnTo>
                  <a:lnTo>
                    <a:pt x="0" y="1005840"/>
                  </a:lnTo>
                  <a:close/>
                </a:path>
              </a:pathLst>
            </a:custGeom>
            <a:blipFill>
              <a:blip r:embed="rId3">
                <a:alphaModFix amt="0"/>
              </a:blip>
              <a:stretch>
                <a:fillRect t="-47425" b="-47425"/>
              </a:stretch>
            </a:blipFill>
          </p:spPr>
        </p:sp>
        <p:sp>
          <p:nvSpPr>
            <p:cNvPr id="30" name="TextBox 30"/>
            <p:cNvSpPr txBox="1"/>
            <p:nvPr/>
          </p:nvSpPr>
          <p:spPr>
            <a:xfrm>
              <a:off x="0" y="-19050"/>
              <a:ext cx="5029200" cy="1024890"/>
            </a:xfrm>
            <a:prstGeom prst="rect">
              <a:avLst/>
            </a:prstGeom>
          </p:spPr>
          <p:txBody>
            <a:bodyPr lIns="0" tIns="0" rIns="0" bIns="0" rtlCol="0" anchor="ctr"/>
            <a:lstStyle/>
            <a:p>
              <a:pPr algn="l">
                <a:lnSpc>
                  <a:spcPts val="2173"/>
                </a:lnSpc>
              </a:pPr>
              <a:r>
                <a:rPr lang="en-US" sz="1725" b="1">
                  <a:solidFill>
                    <a:srgbClr val="26324A"/>
                  </a:solidFill>
                  <a:latin typeface="Cambria Bold"/>
                  <a:ea typeface="Cambria Bold"/>
                  <a:cs typeface="Cambria Bold"/>
                  <a:sym typeface="Cambria Bold"/>
                </a:rPr>
                <a:t>Worker Reputation System</a:t>
              </a:r>
            </a:p>
          </p:txBody>
        </p:sp>
      </p:grpSp>
      <p:grpSp>
        <p:nvGrpSpPr>
          <p:cNvPr id="31" name="Group 31"/>
          <p:cNvGrpSpPr/>
          <p:nvPr/>
        </p:nvGrpSpPr>
        <p:grpSpPr>
          <a:xfrm>
            <a:off x="11932920" y="5179695"/>
            <a:ext cx="3771900" cy="822960"/>
            <a:chOff x="0" y="0"/>
            <a:chExt cx="5029200" cy="1097280"/>
          </a:xfrm>
        </p:grpSpPr>
        <p:sp>
          <p:nvSpPr>
            <p:cNvPr id="32" name="Freeform 32"/>
            <p:cNvSpPr/>
            <p:nvPr/>
          </p:nvSpPr>
          <p:spPr>
            <a:xfrm>
              <a:off x="0" y="0"/>
              <a:ext cx="5029200" cy="1097280"/>
            </a:xfrm>
            <a:custGeom>
              <a:avLst/>
              <a:gdLst/>
              <a:ahLst/>
              <a:cxnLst/>
              <a:rect l="l" t="t" r="r" b="b"/>
              <a:pathLst>
                <a:path w="5029200" h="1097280">
                  <a:moveTo>
                    <a:pt x="0" y="0"/>
                  </a:moveTo>
                  <a:lnTo>
                    <a:pt x="5029200" y="0"/>
                  </a:lnTo>
                  <a:lnTo>
                    <a:pt x="5029200" y="1097280"/>
                  </a:lnTo>
                  <a:lnTo>
                    <a:pt x="0" y="1097280"/>
                  </a:lnTo>
                  <a:close/>
                </a:path>
              </a:pathLst>
            </a:custGeom>
            <a:blipFill>
              <a:blip r:embed="rId3">
                <a:alphaModFix amt="0"/>
              </a:blip>
              <a:stretch>
                <a:fillRect t="-39306" b="-39306"/>
              </a:stretch>
            </a:blipFill>
          </p:spPr>
        </p:sp>
        <p:sp>
          <p:nvSpPr>
            <p:cNvPr id="33" name="TextBox 33"/>
            <p:cNvSpPr txBox="1"/>
            <p:nvPr/>
          </p:nvSpPr>
          <p:spPr>
            <a:xfrm>
              <a:off x="0" y="-47625"/>
              <a:ext cx="5029200" cy="1144905"/>
            </a:xfrm>
            <a:prstGeom prst="rect">
              <a:avLst/>
            </a:prstGeom>
          </p:spPr>
          <p:txBody>
            <a:bodyPr lIns="0" tIns="0" rIns="0" bIns="0" rtlCol="0" anchor="ctr"/>
            <a:lstStyle/>
            <a:p>
              <a:pPr algn="l">
                <a:lnSpc>
                  <a:spcPts val="1742"/>
                </a:lnSpc>
              </a:pPr>
              <a:r>
                <a:rPr lang="en-US" sz="1320">
                  <a:solidFill>
                    <a:srgbClr val="5B6472"/>
                  </a:solidFill>
                  <a:latin typeface="Calibri (MS)"/>
                  <a:ea typeface="Calibri (MS)"/>
                  <a:cs typeface="Calibri (MS)"/>
                  <a:sym typeface="Calibri (MS)"/>
                </a:rPr>
                <a:t>Rate and rank workers on speed and reliability, so job creators can prefer trusted nodes.</a:t>
              </a:r>
            </a:p>
          </p:txBody>
        </p:sp>
      </p:grpSp>
      <p:grpSp>
        <p:nvGrpSpPr>
          <p:cNvPr id="34" name="Group 34"/>
          <p:cNvGrpSpPr/>
          <p:nvPr/>
        </p:nvGrpSpPr>
        <p:grpSpPr>
          <a:xfrm>
            <a:off x="2322195" y="6336030"/>
            <a:ext cx="4339590" cy="2693670"/>
            <a:chOff x="0" y="0"/>
            <a:chExt cx="5786120" cy="3591560"/>
          </a:xfrm>
        </p:grpSpPr>
        <p:sp>
          <p:nvSpPr>
            <p:cNvPr id="35" name="Freeform 35"/>
            <p:cNvSpPr/>
            <p:nvPr/>
          </p:nvSpPr>
          <p:spPr>
            <a:xfrm>
              <a:off x="0" y="0"/>
              <a:ext cx="5786120" cy="3591560"/>
            </a:xfrm>
            <a:custGeom>
              <a:avLst/>
              <a:gdLst/>
              <a:ahLst/>
              <a:cxnLst/>
              <a:rect l="l" t="t" r="r" b="b"/>
              <a:pathLst>
                <a:path w="5786120" h="3591560">
                  <a:moveTo>
                    <a:pt x="0" y="147320"/>
                  </a:moveTo>
                  <a:cubicBezTo>
                    <a:pt x="0" y="65913"/>
                    <a:pt x="65913" y="0"/>
                    <a:pt x="147320" y="0"/>
                  </a:cubicBezTo>
                  <a:lnTo>
                    <a:pt x="5638800" y="0"/>
                  </a:lnTo>
                  <a:cubicBezTo>
                    <a:pt x="5720207" y="0"/>
                    <a:pt x="5786120" y="65913"/>
                    <a:pt x="5786120" y="147320"/>
                  </a:cubicBezTo>
                  <a:lnTo>
                    <a:pt x="5786120" y="3444240"/>
                  </a:lnTo>
                  <a:cubicBezTo>
                    <a:pt x="5786120" y="3525647"/>
                    <a:pt x="5720207" y="3591560"/>
                    <a:pt x="5638800" y="3591560"/>
                  </a:cubicBezTo>
                  <a:lnTo>
                    <a:pt x="147320" y="3591560"/>
                  </a:lnTo>
                  <a:cubicBezTo>
                    <a:pt x="65913" y="3591560"/>
                    <a:pt x="0" y="3525647"/>
                    <a:pt x="0" y="3444240"/>
                  </a:cubicBezTo>
                  <a:close/>
                </a:path>
              </a:pathLst>
            </a:custGeom>
            <a:solidFill>
              <a:srgbClr val="FDF8F1"/>
            </a:solidFill>
            <a:ln w="47625" cap="sq">
              <a:solidFill>
                <a:srgbClr val="E9DCC8"/>
              </a:solidFill>
              <a:prstDash val="solid"/>
              <a:miter/>
            </a:ln>
          </p:spPr>
        </p:sp>
      </p:grpSp>
      <p:grpSp>
        <p:nvGrpSpPr>
          <p:cNvPr id="36" name="Group 36"/>
          <p:cNvGrpSpPr/>
          <p:nvPr/>
        </p:nvGrpSpPr>
        <p:grpSpPr>
          <a:xfrm>
            <a:off x="2606040" y="6619875"/>
            <a:ext cx="630936" cy="630936"/>
            <a:chOff x="0" y="0"/>
            <a:chExt cx="841248" cy="841248"/>
          </a:xfrm>
        </p:grpSpPr>
        <p:sp>
          <p:nvSpPr>
            <p:cNvPr id="37" name="Freeform 37"/>
            <p:cNvSpPr/>
            <p:nvPr/>
          </p:nvSpPr>
          <p:spPr>
            <a:xfrm>
              <a:off x="0" y="0"/>
              <a:ext cx="841248" cy="841248"/>
            </a:xfrm>
            <a:custGeom>
              <a:avLst/>
              <a:gdLst/>
              <a:ahLst/>
              <a:cxnLst/>
              <a:rect l="l" t="t" r="r" b="b"/>
              <a:pathLst>
                <a:path w="841248" h="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F1E6D3"/>
            </a:solidFill>
          </p:spPr>
        </p:sp>
      </p:grpSp>
      <p:grpSp>
        <p:nvGrpSpPr>
          <p:cNvPr id="38" name="Group 38"/>
          <p:cNvGrpSpPr/>
          <p:nvPr/>
        </p:nvGrpSpPr>
        <p:grpSpPr>
          <a:xfrm>
            <a:off x="2606040" y="7415403"/>
            <a:ext cx="3771900" cy="754380"/>
            <a:chOff x="0" y="0"/>
            <a:chExt cx="5029200" cy="1005840"/>
          </a:xfrm>
        </p:grpSpPr>
        <p:sp>
          <p:nvSpPr>
            <p:cNvPr id="39" name="Freeform 39"/>
            <p:cNvSpPr/>
            <p:nvPr/>
          </p:nvSpPr>
          <p:spPr>
            <a:xfrm>
              <a:off x="0" y="0"/>
              <a:ext cx="5029200" cy="1005840"/>
            </a:xfrm>
            <a:custGeom>
              <a:avLst/>
              <a:gdLst/>
              <a:ahLst/>
              <a:cxnLst/>
              <a:rect l="l" t="t" r="r" b="b"/>
              <a:pathLst>
                <a:path w="5029200" h="1005840">
                  <a:moveTo>
                    <a:pt x="0" y="0"/>
                  </a:moveTo>
                  <a:lnTo>
                    <a:pt x="5029200" y="0"/>
                  </a:lnTo>
                  <a:lnTo>
                    <a:pt x="5029200" y="1005840"/>
                  </a:lnTo>
                  <a:lnTo>
                    <a:pt x="0" y="1005840"/>
                  </a:lnTo>
                  <a:close/>
                </a:path>
              </a:pathLst>
            </a:custGeom>
            <a:blipFill>
              <a:blip r:embed="rId3">
                <a:alphaModFix amt="0"/>
              </a:blip>
              <a:stretch>
                <a:fillRect t="-47425" b="-47425"/>
              </a:stretch>
            </a:blipFill>
          </p:spPr>
        </p:sp>
        <p:sp>
          <p:nvSpPr>
            <p:cNvPr id="40" name="TextBox 40"/>
            <p:cNvSpPr txBox="1"/>
            <p:nvPr/>
          </p:nvSpPr>
          <p:spPr>
            <a:xfrm>
              <a:off x="0" y="-19050"/>
              <a:ext cx="5029200" cy="1024890"/>
            </a:xfrm>
            <a:prstGeom prst="rect">
              <a:avLst/>
            </a:prstGeom>
          </p:spPr>
          <p:txBody>
            <a:bodyPr lIns="0" tIns="0" rIns="0" bIns="0" rtlCol="0" anchor="ctr"/>
            <a:lstStyle/>
            <a:p>
              <a:pPr algn="l">
                <a:lnSpc>
                  <a:spcPts val="2173"/>
                </a:lnSpc>
              </a:pPr>
              <a:r>
                <a:rPr lang="en-US" sz="1725" b="1">
                  <a:solidFill>
                    <a:srgbClr val="26324A"/>
                  </a:solidFill>
                  <a:latin typeface="Cambria Bold"/>
                  <a:ea typeface="Cambria Bold"/>
                  <a:cs typeface="Cambria Bold"/>
                  <a:sym typeface="Cambria Bold"/>
                </a:rPr>
                <a:t>macOS &amp; Linux Agents</a:t>
              </a:r>
            </a:p>
          </p:txBody>
        </p:sp>
      </p:grpSp>
      <p:grpSp>
        <p:nvGrpSpPr>
          <p:cNvPr id="41" name="Group 41"/>
          <p:cNvGrpSpPr/>
          <p:nvPr/>
        </p:nvGrpSpPr>
        <p:grpSpPr>
          <a:xfrm>
            <a:off x="2606040" y="8128635"/>
            <a:ext cx="3771900" cy="822960"/>
            <a:chOff x="0" y="0"/>
            <a:chExt cx="5029200" cy="1097280"/>
          </a:xfrm>
        </p:grpSpPr>
        <p:sp>
          <p:nvSpPr>
            <p:cNvPr id="42" name="Freeform 42"/>
            <p:cNvSpPr/>
            <p:nvPr/>
          </p:nvSpPr>
          <p:spPr>
            <a:xfrm>
              <a:off x="0" y="0"/>
              <a:ext cx="5029200" cy="1097280"/>
            </a:xfrm>
            <a:custGeom>
              <a:avLst/>
              <a:gdLst/>
              <a:ahLst/>
              <a:cxnLst/>
              <a:rect l="l" t="t" r="r" b="b"/>
              <a:pathLst>
                <a:path w="5029200" h="1097280">
                  <a:moveTo>
                    <a:pt x="0" y="0"/>
                  </a:moveTo>
                  <a:lnTo>
                    <a:pt x="5029200" y="0"/>
                  </a:lnTo>
                  <a:lnTo>
                    <a:pt x="5029200" y="1097280"/>
                  </a:lnTo>
                  <a:lnTo>
                    <a:pt x="0" y="1097280"/>
                  </a:lnTo>
                  <a:close/>
                </a:path>
              </a:pathLst>
            </a:custGeom>
            <a:blipFill>
              <a:blip r:embed="rId3">
                <a:alphaModFix amt="0"/>
              </a:blip>
              <a:stretch>
                <a:fillRect t="-39306" b="-39306"/>
              </a:stretch>
            </a:blipFill>
          </p:spPr>
        </p:sp>
        <p:sp>
          <p:nvSpPr>
            <p:cNvPr id="43" name="TextBox 43"/>
            <p:cNvSpPr txBox="1"/>
            <p:nvPr/>
          </p:nvSpPr>
          <p:spPr>
            <a:xfrm>
              <a:off x="0" y="-47625"/>
              <a:ext cx="5029200" cy="1144905"/>
            </a:xfrm>
            <a:prstGeom prst="rect">
              <a:avLst/>
            </a:prstGeom>
          </p:spPr>
          <p:txBody>
            <a:bodyPr lIns="0" tIns="0" rIns="0" bIns="0" rtlCol="0" anchor="ctr"/>
            <a:lstStyle/>
            <a:p>
              <a:pPr algn="l">
                <a:lnSpc>
                  <a:spcPts val="1742"/>
                </a:lnSpc>
              </a:pPr>
              <a:r>
                <a:rPr lang="en-US" sz="1320">
                  <a:solidFill>
                    <a:srgbClr val="5B6472"/>
                  </a:solidFill>
                  <a:latin typeface="Calibri (MS)"/>
                  <a:ea typeface="Calibri (MS)"/>
                  <a:cs typeface="Calibri (MS)"/>
                  <a:sym typeface="Calibri (MS)"/>
                </a:rPr>
                <a:t>Extend the Electron worker app beyond Windows so any machine can join the network.</a:t>
              </a:r>
            </a:p>
          </p:txBody>
        </p:sp>
      </p:grpSp>
      <p:grpSp>
        <p:nvGrpSpPr>
          <p:cNvPr id="44" name="Group 44"/>
          <p:cNvGrpSpPr/>
          <p:nvPr/>
        </p:nvGrpSpPr>
        <p:grpSpPr>
          <a:xfrm>
            <a:off x="6985635" y="6336030"/>
            <a:ext cx="4339590" cy="2693670"/>
            <a:chOff x="0" y="0"/>
            <a:chExt cx="5786120" cy="3591560"/>
          </a:xfrm>
        </p:grpSpPr>
        <p:sp>
          <p:nvSpPr>
            <p:cNvPr id="45" name="Freeform 45"/>
            <p:cNvSpPr/>
            <p:nvPr/>
          </p:nvSpPr>
          <p:spPr>
            <a:xfrm>
              <a:off x="0" y="0"/>
              <a:ext cx="5786120" cy="3591560"/>
            </a:xfrm>
            <a:custGeom>
              <a:avLst/>
              <a:gdLst/>
              <a:ahLst/>
              <a:cxnLst/>
              <a:rect l="l" t="t" r="r" b="b"/>
              <a:pathLst>
                <a:path w="5786120" h="3591560">
                  <a:moveTo>
                    <a:pt x="0" y="147320"/>
                  </a:moveTo>
                  <a:cubicBezTo>
                    <a:pt x="0" y="65913"/>
                    <a:pt x="65913" y="0"/>
                    <a:pt x="147320" y="0"/>
                  </a:cubicBezTo>
                  <a:lnTo>
                    <a:pt x="5638800" y="0"/>
                  </a:lnTo>
                  <a:cubicBezTo>
                    <a:pt x="5720207" y="0"/>
                    <a:pt x="5786120" y="65913"/>
                    <a:pt x="5786120" y="147320"/>
                  </a:cubicBezTo>
                  <a:lnTo>
                    <a:pt x="5786120" y="3444240"/>
                  </a:lnTo>
                  <a:cubicBezTo>
                    <a:pt x="5786120" y="3525647"/>
                    <a:pt x="5720207" y="3591560"/>
                    <a:pt x="5638800" y="3591560"/>
                  </a:cubicBezTo>
                  <a:lnTo>
                    <a:pt x="147320" y="3591560"/>
                  </a:lnTo>
                  <a:cubicBezTo>
                    <a:pt x="65913" y="3591560"/>
                    <a:pt x="0" y="3525647"/>
                    <a:pt x="0" y="3444240"/>
                  </a:cubicBezTo>
                  <a:close/>
                </a:path>
              </a:pathLst>
            </a:custGeom>
            <a:solidFill>
              <a:srgbClr val="FDF8F1"/>
            </a:solidFill>
            <a:ln w="47625" cap="sq">
              <a:solidFill>
                <a:srgbClr val="E9DCC8"/>
              </a:solidFill>
              <a:prstDash val="solid"/>
              <a:miter/>
            </a:ln>
          </p:spPr>
        </p:sp>
      </p:grpSp>
      <p:grpSp>
        <p:nvGrpSpPr>
          <p:cNvPr id="46" name="Group 46"/>
          <p:cNvGrpSpPr/>
          <p:nvPr/>
        </p:nvGrpSpPr>
        <p:grpSpPr>
          <a:xfrm>
            <a:off x="7269480" y="6619875"/>
            <a:ext cx="630936" cy="630936"/>
            <a:chOff x="0" y="0"/>
            <a:chExt cx="841248" cy="841248"/>
          </a:xfrm>
        </p:grpSpPr>
        <p:sp>
          <p:nvSpPr>
            <p:cNvPr id="47" name="Freeform 47"/>
            <p:cNvSpPr/>
            <p:nvPr/>
          </p:nvSpPr>
          <p:spPr>
            <a:xfrm>
              <a:off x="0" y="0"/>
              <a:ext cx="841248" cy="841248"/>
            </a:xfrm>
            <a:custGeom>
              <a:avLst/>
              <a:gdLst/>
              <a:ahLst/>
              <a:cxnLst/>
              <a:rect l="l" t="t" r="r" b="b"/>
              <a:pathLst>
                <a:path w="841248" h="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F1E6D3"/>
            </a:solidFill>
          </p:spPr>
        </p:sp>
      </p:grpSp>
      <p:grpSp>
        <p:nvGrpSpPr>
          <p:cNvPr id="48" name="Group 48"/>
          <p:cNvGrpSpPr/>
          <p:nvPr/>
        </p:nvGrpSpPr>
        <p:grpSpPr>
          <a:xfrm>
            <a:off x="7269480" y="7415403"/>
            <a:ext cx="3771900" cy="754380"/>
            <a:chOff x="0" y="0"/>
            <a:chExt cx="5029200" cy="1005840"/>
          </a:xfrm>
        </p:grpSpPr>
        <p:sp>
          <p:nvSpPr>
            <p:cNvPr id="49" name="Freeform 49"/>
            <p:cNvSpPr/>
            <p:nvPr/>
          </p:nvSpPr>
          <p:spPr>
            <a:xfrm>
              <a:off x="0" y="0"/>
              <a:ext cx="5029200" cy="1005840"/>
            </a:xfrm>
            <a:custGeom>
              <a:avLst/>
              <a:gdLst/>
              <a:ahLst/>
              <a:cxnLst/>
              <a:rect l="l" t="t" r="r" b="b"/>
              <a:pathLst>
                <a:path w="5029200" h="1005840">
                  <a:moveTo>
                    <a:pt x="0" y="0"/>
                  </a:moveTo>
                  <a:lnTo>
                    <a:pt x="5029200" y="0"/>
                  </a:lnTo>
                  <a:lnTo>
                    <a:pt x="5029200" y="1005840"/>
                  </a:lnTo>
                  <a:lnTo>
                    <a:pt x="0" y="1005840"/>
                  </a:lnTo>
                  <a:close/>
                </a:path>
              </a:pathLst>
            </a:custGeom>
            <a:blipFill>
              <a:blip r:embed="rId3">
                <a:alphaModFix amt="0"/>
              </a:blip>
              <a:stretch>
                <a:fillRect t="-47425" b="-47425"/>
              </a:stretch>
            </a:blipFill>
          </p:spPr>
        </p:sp>
        <p:sp>
          <p:nvSpPr>
            <p:cNvPr id="50" name="TextBox 50"/>
            <p:cNvSpPr txBox="1"/>
            <p:nvPr/>
          </p:nvSpPr>
          <p:spPr>
            <a:xfrm>
              <a:off x="0" y="-19050"/>
              <a:ext cx="5029200" cy="1024890"/>
            </a:xfrm>
            <a:prstGeom prst="rect">
              <a:avLst/>
            </a:prstGeom>
          </p:spPr>
          <p:txBody>
            <a:bodyPr lIns="0" tIns="0" rIns="0" bIns="0" rtlCol="0" anchor="ctr"/>
            <a:lstStyle/>
            <a:p>
              <a:pPr algn="l">
                <a:lnSpc>
                  <a:spcPts val="2173"/>
                </a:lnSpc>
              </a:pPr>
              <a:r>
                <a:rPr lang="en-US" sz="1725" b="1">
                  <a:solidFill>
                    <a:srgbClr val="26324A"/>
                  </a:solidFill>
                  <a:latin typeface="Cambria Bold"/>
                  <a:ea typeface="Cambria Bold"/>
                  <a:cs typeface="Cambria Bold"/>
                  <a:sym typeface="Cambria Bold"/>
                </a:rPr>
                <a:t>Job Template Library</a:t>
              </a:r>
            </a:p>
          </p:txBody>
        </p:sp>
      </p:grpSp>
      <p:grpSp>
        <p:nvGrpSpPr>
          <p:cNvPr id="51" name="Group 51"/>
          <p:cNvGrpSpPr/>
          <p:nvPr/>
        </p:nvGrpSpPr>
        <p:grpSpPr>
          <a:xfrm>
            <a:off x="7269480" y="8128635"/>
            <a:ext cx="3771900" cy="822960"/>
            <a:chOff x="0" y="0"/>
            <a:chExt cx="5029200" cy="1097280"/>
          </a:xfrm>
        </p:grpSpPr>
        <p:sp>
          <p:nvSpPr>
            <p:cNvPr id="52" name="Freeform 52"/>
            <p:cNvSpPr/>
            <p:nvPr/>
          </p:nvSpPr>
          <p:spPr>
            <a:xfrm>
              <a:off x="0" y="0"/>
              <a:ext cx="5029200" cy="1097280"/>
            </a:xfrm>
            <a:custGeom>
              <a:avLst/>
              <a:gdLst/>
              <a:ahLst/>
              <a:cxnLst/>
              <a:rect l="l" t="t" r="r" b="b"/>
              <a:pathLst>
                <a:path w="5029200" h="1097280">
                  <a:moveTo>
                    <a:pt x="0" y="0"/>
                  </a:moveTo>
                  <a:lnTo>
                    <a:pt x="5029200" y="0"/>
                  </a:lnTo>
                  <a:lnTo>
                    <a:pt x="5029200" y="1097280"/>
                  </a:lnTo>
                  <a:lnTo>
                    <a:pt x="0" y="1097280"/>
                  </a:lnTo>
                  <a:close/>
                </a:path>
              </a:pathLst>
            </a:custGeom>
            <a:blipFill>
              <a:blip r:embed="rId3">
                <a:alphaModFix amt="0"/>
              </a:blip>
              <a:stretch>
                <a:fillRect t="-39306" b="-39306"/>
              </a:stretch>
            </a:blipFill>
          </p:spPr>
        </p:sp>
        <p:sp>
          <p:nvSpPr>
            <p:cNvPr id="53" name="TextBox 53"/>
            <p:cNvSpPr txBox="1"/>
            <p:nvPr/>
          </p:nvSpPr>
          <p:spPr>
            <a:xfrm>
              <a:off x="0" y="-47625"/>
              <a:ext cx="5029200" cy="1144905"/>
            </a:xfrm>
            <a:prstGeom prst="rect">
              <a:avLst/>
            </a:prstGeom>
          </p:spPr>
          <p:txBody>
            <a:bodyPr lIns="0" tIns="0" rIns="0" bIns="0" rtlCol="0" anchor="ctr"/>
            <a:lstStyle/>
            <a:p>
              <a:pPr algn="l">
                <a:lnSpc>
                  <a:spcPts val="1742"/>
                </a:lnSpc>
              </a:pPr>
              <a:r>
                <a:rPr lang="en-US" sz="1320">
                  <a:solidFill>
                    <a:srgbClr val="5B6472"/>
                  </a:solidFill>
                  <a:latin typeface="Calibri (MS)"/>
                  <a:ea typeface="Calibri (MS)"/>
                  <a:cs typeface="Calibri (MS)"/>
                  <a:sym typeface="Calibri (MS)"/>
                </a:rPr>
                <a:t>Ready-made starter templates for common ML tasks, so users can launch jobs faster.</a:t>
              </a:r>
            </a:p>
          </p:txBody>
        </p:sp>
      </p:grpSp>
      <p:grpSp>
        <p:nvGrpSpPr>
          <p:cNvPr id="54" name="Group 54"/>
          <p:cNvGrpSpPr/>
          <p:nvPr/>
        </p:nvGrpSpPr>
        <p:grpSpPr>
          <a:xfrm>
            <a:off x="11649075" y="6336030"/>
            <a:ext cx="4339590" cy="2693670"/>
            <a:chOff x="0" y="0"/>
            <a:chExt cx="5786120" cy="3591560"/>
          </a:xfrm>
        </p:grpSpPr>
        <p:sp>
          <p:nvSpPr>
            <p:cNvPr id="55" name="Freeform 55"/>
            <p:cNvSpPr/>
            <p:nvPr/>
          </p:nvSpPr>
          <p:spPr>
            <a:xfrm>
              <a:off x="0" y="0"/>
              <a:ext cx="5786120" cy="3591560"/>
            </a:xfrm>
            <a:custGeom>
              <a:avLst/>
              <a:gdLst/>
              <a:ahLst/>
              <a:cxnLst/>
              <a:rect l="l" t="t" r="r" b="b"/>
              <a:pathLst>
                <a:path w="5786120" h="3591560">
                  <a:moveTo>
                    <a:pt x="0" y="147320"/>
                  </a:moveTo>
                  <a:cubicBezTo>
                    <a:pt x="0" y="65913"/>
                    <a:pt x="65913" y="0"/>
                    <a:pt x="147320" y="0"/>
                  </a:cubicBezTo>
                  <a:lnTo>
                    <a:pt x="5638800" y="0"/>
                  </a:lnTo>
                  <a:cubicBezTo>
                    <a:pt x="5720207" y="0"/>
                    <a:pt x="5786120" y="65913"/>
                    <a:pt x="5786120" y="147320"/>
                  </a:cubicBezTo>
                  <a:lnTo>
                    <a:pt x="5786120" y="3444240"/>
                  </a:lnTo>
                  <a:cubicBezTo>
                    <a:pt x="5786120" y="3525647"/>
                    <a:pt x="5720207" y="3591560"/>
                    <a:pt x="5638800" y="3591560"/>
                  </a:cubicBezTo>
                  <a:lnTo>
                    <a:pt x="147320" y="3591560"/>
                  </a:lnTo>
                  <a:cubicBezTo>
                    <a:pt x="65913" y="3591560"/>
                    <a:pt x="0" y="3525647"/>
                    <a:pt x="0" y="3444240"/>
                  </a:cubicBezTo>
                  <a:close/>
                </a:path>
              </a:pathLst>
            </a:custGeom>
            <a:solidFill>
              <a:srgbClr val="FDF8F1"/>
            </a:solidFill>
            <a:ln w="47625" cap="sq">
              <a:solidFill>
                <a:srgbClr val="E9DCC8"/>
              </a:solidFill>
              <a:prstDash val="solid"/>
              <a:miter/>
            </a:ln>
          </p:spPr>
        </p:sp>
      </p:grpSp>
      <p:grpSp>
        <p:nvGrpSpPr>
          <p:cNvPr id="56" name="Group 56"/>
          <p:cNvGrpSpPr/>
          <p:nvPr/>
        </p:nvGrpSpPr>
        <p:grpSpPr>
          <a:xfrm>
            <a:off x="11932920" y="6619875"/>
            <a:ext cx="630936" cy="630936"/>
            <a:chOff x="0" y="0"/>
            <a:chExt cx="841248" cy="841248"/>
          </a:xfrm>
        </p:grpSpPr>
        <p:sp>
          <p:nvSpPr>
            <p:cNvPr id="57" name="Freeform 57"/>
            <p:cNvSpPr/>
            <p:nvPr/>
          </p:nvSpPr>
          <p:spPr>
            <a:xfrm>
              <a:off x="0" y="0"/>
              <a:ext cx="841248" cy="841248"/>
            </a:xfrm>
            <a:custGeom>
              <a:avLst/>
              <a:gdLst/>
              <a:ahLst/>
              <a:cxnLst/>
              <a:rect l="l" t="t" r="r" b="b"/>
              <a:pathLst>
                <a:path w="841248" h="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F1E6D3"/>
            </a:solidFill>
          </p:spPr>
        </p:sp>
      </p:grpSp>
      <p:grpSp>
        <p:nvGrpSpPr>
          <p:cNvPr id="58" name="Group 58"/>
          <p:cNvGrpSpPr/>
          <p:nvPr/>
        </p:nvGrpSpPr>
        <p:grpSpPr>
          <a:xfrm>
            <a:off x="11932920" y="7415403"/>
            <a:ext cx="3771900" cy="754380"/>
            <a:chOff x="0" y="0"/>
            <a:chExt cx="5029200" cy="1005840"/>
          </a:xfrm>
        </p:grpSpPr>
        <p:sp>
          <p:nvSpPr>
            <p:cNvPr id="59" name="Freeform 59"/>
            <p:cNvSpPr/>
            <p:nvPr/>
          </p:nvSpPr>
          <p:spPr>
            <a:xfrm>
              <a:off x="0" y="0"/>
              <a:ext cx="5029200" cy="1005840"/>
            </a:xfrm>
            <a:custGeom>
              <a:avLst/>
              <a:gdLst/>
              <a:ahLst/>
              <a:cxnLst/>
              <a:rect l="l" t="t" r="r" b="b"/>
              <a:pathLst>
                <a:path w="5029200" h="1005840">
                  <a:moveTo>
                    <a:pt x="0" y="0"/>
                  </a:moveTo>
                  <a:lnTo>
                    <a:pt x="5029200" y="0"/>
                  </a:lnTo>
                  <a:lnTo>
                    <a:pt x="5029200" y="1005840"/>
                  </a:lnTo>
                  <a:lnTo>
                    <a:pt x="0" y="1005840"/>
                  </a:lnTo>
                  <a:close/>
                </a:path>
              </a:pathLst>
            </a:custGeom>
            <a:blipFill>
              <a:blip r:embed="rId3">
                <a:alphaModFix amt="0"/>
              </a:blip>
              <a:stretch>
                <a:fillRect t="-47425" b="-47425"/>
              </a:stretch>
            </a:blipFill>
          </p:spPr>
        </p:sp>
        <p:sp>
          <p:nvSpPr>
            <p:cNvPr id="60" name="TextBox 60"/>
            <p:cNvSpPr txBox="1"/>
            <p:nvPr/>
          </p:nvSpPr>
          <p:spPr>
            <a:xfrm>
              <a:off x="0" y="-19050"/>
              <a:ext cx="5029200" cy="1024890"/>
            </a:xfrm>
            <a:prstGeom prst="rect">
              <a:avLst/>
            </a:prstGeom>
          </p:spPr>
          <p:txBody>
            <a:bodyPr lIns="0" tIns="0" rIns="0" bIns="0" rtlCol="0" anchor="ctr"/>
            <a:lstStyle/>
            <a:p>
              <a:pPr algn="l">
                <a:lnSpc>
                  <a:spcPts val="2173"/>
                </a:lnSpc>
              </a:pPr>
              <a:r>
                <a:rPr lang="en-US" sz="1725" b="1">
                  <a:solidFill>
                    <a:srgbClr val="26324A"/>
                  </a:solidFill>
                  <a:latin typeface="Cambria Bold"/>
                  <a:ea typeface="Cambria Bold"/>
                  <a:cs typeface="Cambria Bold"/>
                  <a:sym typeface="Cambria Bold"/>
                </a:rPr>
                <a:t>Admin Analytics Dashboard</a:t>
              </a:r>
            </a:p>
          </p:txBody>
        </p:sp>
      </p:grpSp>
      <p:grpSp>
        <p:nvGrpSpPr>
          <p:cNvPr id="61" name="Group 61"/>
          <p:cNvGrpSpPr/>
          <p:nvPr/>
        </p:nvGrpSpPr>
        <p:grpSpPr>
          <a:xfrm>
            <a:off x="11932920" y="8128635"/>
            <a:ext cx="3771900" cy="822960"/>
            <a:chOff x="0" y="0"/>
            <a:chExt cx="5029200" cy="1097280"/>
          </a:xfrm>
        </p:grpSpPr>
        <p:sp>
          <p:nvSpPr>
            <p:cNvPr id="62" name="Freeform 62"/>
            <p:cNvSpPr/>
            <p:nvPr/>
          </p:nvSpPr>
          <p:spPr>
            <a:xfrm>
              <a:off x="0" y="0"/>
              <a:ext cx="5029200" cy="1097280"/>
            </a:xfrm>
            <a:custGeom>
              <a:avLst/>
              <a:gdLst/>
              <a:ahLst/>
              <a:cxnLst/>
              <a:rect l="l" t="t" r="r" b="b"/>
              <a:pathLst>
                <a:path w="5029200" h="1097280">
                  <a:moveTo>
                    <a:pt x="0" y="0"/>
                  </a:moveTo>
                  <a:lnTo>
                    <a:pt x="5029200" y="0"/>
                  </a:lnTo>
                  <a:lnTo>
                    <a:pt x="5029200" y="1097280"/>
                  </a:lnTo>
                  <a:lnTo>
                    <a:pt x="0" y="1097280"/>
                  </a:lnTo>
                  <a:close/>
                </a:path>
              </a:pathLst>
            </a:custGeom>
            <a:blipFill>
              <a:blip r:embed="rId3">
                <a:alphaModFix amt="0"/>
              </a:blip>
              <a:stretch>
                <a:fillRect t="-39306" b="-39306"/>
              </a:stretch>
            </a:blipFill>
          </p:spPr>
        </p:sp>
        <p:sp>
          <p:nvSpPr>
            <p:cNvPr id="63" name="TextBox 63"/>
            <p:cNvSpPr txBox="1"/>
            <p:nvPr/>
          </p:nvSpPr>
          <p:spPr>
            <a:xfrm>
              <a:off x="0" y="-47625"/>
              <a:ext cx="5029200" cy="1144905"/>
            </a:xfrm>
            <a:prstGeom prst="rect">
              <a:avLst/>
            </a:prstGeom>
          </p:spPr>
          <p:txBody>
            <a:bodyPr lIns="0" tIns="0" rIns="0" bIns="0" rtlCol="0" anchor="ctr"/>
            <a:lstStyle/>
            <a:p>
              <a:pPr algn="l">
                <a:lnSpc>
                  <a:spcPts val="1742"/>
                </a:lnSpc>
              </a:pPr>
              <a:r>
                <a:rPr lang="en-US" sz="1320">
                  <a:solidFill>
                    <a:srgbClr val="5B6472"/>
                  </a:solidFill>
                  <a:latin typeface="Calibri (MS)"/>
                  <a:ea typeface="Calibri (MS)"/>
                  <a:cs typeface="Calibri (MS)"/>
                  <a:sym typeface="Calibri (MS)"/>
                </a:rPr>
                <a:t>Platform-wide visibility into job volume, worker health, and revenue for operators.</a:t>
              </a:r>
            </a:p>
          </p:txBody>
        </p:sp>
      </p:grpSp>
      <p:sp>
        <p:nvSpPr>
          <p:cNvPr id="64" name="Freeform 64"/>
          <p:cNvSpPr/>
          <p:nvPr/>
        </p:nvSpPr>
        <p:spPr>
          <a:xfrm>
            <a:off x="2790406" y="6768340"/>
            <a:ext cx="262205" cy="334005"/>
          </a:xfrm>
          <a:custGeom>
            <a:avLst/>
            <a:gdLst/>
            <a:ahLst/>
            <a:cxnLst/>
            <a:rect l="l" t="t" r="r" b="b"/>
            <a:pathLst>
              <a:path w="262205" h="334005">
                <a:moveTo>
                  <a:pt x="0" y="0"/>
                </a:moveTo>
                <a:lnTo>
                  <a:pt x="262204" y="0"/>
                </a:lnTo>
                <a:lnTo>
                  <a:pt x="262204" y="334006"/>
                </a:lnTo>
                <a:lnTo>
                  <a:pt x="0" y="33400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5" name="Freeform 65"/>
          <p:cNvSpPr/>
          <p:nvPr/>
        </p:nvSpPr>
        <p:spPr>
          <a:xfrm>
            <a:off x="7449745" y="6795135"/>
            <a:ext cx="251355" cy="285042"/>
          </a:xfrm>
          <a:custGeom>
            <a:avLst/>
            <a:gdLst/>
            <a:ahLst/>
            <a:cxnLst/>
            <a:rect l="l" t="t" r="r" b="b"/>
            <a:pathLst>
              <a:path w="251355" h="285042">
                <a:moveTo>
                  <a:pt x="0" y="0"/>
                </a:moveTo>
                <a:lnTo>
                  <a:pt x="251356" y="0"/>
                </a:lnTo>
                <a:lnTo>
                  <a:pt x="251356" y="285042"/>
                </a:lnTo>
                <a:lnTo>
                  <a:pt x="0" y="285042"/>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6" name="Freeform 66"/>
          <p:cNvSpPr/>
          <p:nvPr/>
        </p:nvSpPr>
        <p:spPr>
          <a:xfrm>
            <a:off x="12104092" y="6812512"/>
            <a:ext cx="288591" cy="250287"/>
          </a:xfrm>
          <a:custGeom>
            <a:avLst/>
            <a:gdLst/>
            <a:ahLst/>
            <a:cxnLst/>
            <a:rect l="l" t="t" r="r" b="b"/>
            <a:pathLst>
              <a:path w="288591" h="250287">
                <a:moveTo>
                  <a:pt x="0" y="0"/>
                </a:moveTo>
                <a:lnTo>
                  <a:pt x="288592" y="0"/>
                </a:lnTo>
                <a:lnTo>
                  <a:pt x="288592" y="250288"/>
                </a:lnTo>
                <a:lnTo>
                  <a:pt x="0" y="250288"/>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67" name="Freeform 67"/>
          <p:cNvSpPr/>
          <p:nvPr/>
        </p:nvSpPr>
        <p:spPr>
          <a:xfrm>
            <a:off x="12157720" y="3833445"/>
            <a:ext cx="181335" cy="271068"/>
          </a:xfrm>
          <a:custGeom>
            <a:avLst/>
            <a:gdLst/>
            <a:ahLst/>
            <a:cxnLst/>
            <a:rect l="l" t="t" r="r" b="b"/>
            <a:pathLst>
              <a:path w="181335" h="271068">
                <a:moveTo>
                  <a:pt x="0" y="0"/>
                </a:moveTo>
                <a:lnTo>
                  <a:pt x="181336" y="0"/>
                </a:lnTo>
                <a:lnTo>
                  <a:pt x="181336" y="271068"/>
                </a:lnTo>
                <a:lnTo>
                  <a:pt x="0" y="271068"/>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68" name="Freeform 68"/>
          <p:cNvSpPr/>
          <p:nvPr/>
        </p:nvSpPr>
        <p:spPr>
          <a:xfrm rot="5400000">
            <a:off x="7457884" y="3860725"/>
            <a:ext cx="254127" cy="251355"/>
          </a:xfrm>
          <a:custGeom>
            <a:avLst/>
            <a:gdLst/>
            <a:ahLst/>
            <a:cxnLst/>
            <a:rect l="l" t="t" r="r" b="b"/>
            <a:pathLst>
              <a:path w="254127" h="251355">
                <a:moveTo>
                  <a:pt x="0" y="0"/>
                </a:moveTo>
                <a:lnTo>
                  <a:pt x="254128" y="0"/>
                </a:lnTo>
                <a:lnTo>
                  <a:pt x="254128" y="251356"/>
                </a:lnTo>
                <a:lnTo>
                  <a:pt x="0" y="251356"/>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69" name="Freeform 69"/>
          <p:cNvSpPr/>
          <p:nvPr/>
        </p:nvSpPr>
        <p:spPr>
          <a:xfrm rot="2583671">
            <a:off x="2764603" y="3812073"/>
            <a:ext cx="313811" cy="313811"/>
          </a:xfrm>
          <a:custGeom>
            <a:avLst/>
            <a:gdLst/>
            <a:ahLst/>
            <a:cxnLst/>
            <a:rect l="l" t="t" r="r" b="b"/>
            <a:pathLst>
              <a:path w="313811" h="313811">
                <a:moveTo>
                  <a:pt x="0" y="0"/>
                </a:moveTo>
                <a:lnTo>
                  <a:pt x="313810" y="0"/>
                </a:lnTo>
                <a:lnTo>
                  <a:pt x="313810" y="313811"/>
                </a:lnTo>
                <a:lnTo>
                  <a:pt x="0" y="313811"/>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70" name="TextBox 70"/>
          <p:cNvSpPr txBox="1"/>
          <p:nvPr/>
        </p:nvSpPr>
        <p:spPr>
          <a:xfrm>
            <a:off x="6537983" y="962752"/>
            <a:ext cx="5202317" cy="580390"/>
          </a:xfrm>
          <a:prstGeom prst="rect">
            <a:avLst/>
          </a:prstGeom>
        </p:spPr>
        <p:txBody>
          <a:bodyPr wrap="square" lIns="0" tIns="0" rIns="0" bIns="0" rtlCol="0" anchor="t">
            <a:spAutoFit/>
          </a:bodyPr>
          <a:lstStyle/>
          <a:p>
            <a:pPr algn="ctr">
              <a:lnSpc>
                <a:spcPts val="4759"/>
              </a:lnSpc>
              <a:spcBef>
                <a:spcPct val="0"/>
              </a:spcBef>
            </a:pPr>
            <a:r>
              <a:rPr lang="en-US" sz="3399" b="1" dirty="0">
                <a:solidFill>
                  <a:srgbClr val="000000"/>
                </a:solidFill>
                <a:latin typeface="Canva Sans Bold"/>
                <a:ea typeface="Canva Sans Bold"/>
                <a:cs typeface="Canva Sans Bold"/>
                <a:sym typeface="Canva Sans Bold"/>
              </a:rPr>
              <a:t>Future Work &amp; Roadmap</a:t>
            </a:r>
          </a:p>
        </p:txBody>
      </p:sp>
      <p:sp>
        <p:nvSpPr>
          <p:cNvPr id="71" name="TextBox 71"/>
          <p:cNvSpPr txBox="1"/>
          <p:nvPr/>
        </p:nvSpPr>
        <p:spPr>
          <a:xfrm>
            <a:off x="2336397" y="1828336"/>
            <a:ext cx="13615207" cy="1217759"/>
          </a:xfrm>
          <a:prstGeom prst="rect">
            <a:avLst/>
          </a:prstGeom>
        </p:spPr>
        <p:txBody>
          <a:bodyPr lIns="0" tIns="0" rIns="0" bIns="0" rtlCol="0" anchor="t">
            <a:spAutoFit/>
          </a:bodyPr>
          <a:lstStyle/>
          <a:p>
            <a:pPr algn="just">
              <a:lnSpc>
                <a:spcPts val="3229"/>
              </a:lnSpc>
              <a:spcBef>
                <a:spcPct val="0"/>
              </a:spcBef>
            </a:pPr>
            <a:r>
              <a:rPr lang="en-US" sz="2306">
                <a:solidFill>
                  <a:srgbClr val="000000"/>
                </a:solidFill>
                <a:latin typeface="Canva Sans"/>
                <a:ea typeface="Canva Sans"/>
                <a:cs typeface="Canva Sans"/>
                <a:sym typeface="Canva Sans"/>
              </a:rPr>
              <a:t>DTrain works today, with room to grow — GPU-accelerated containers, multi-worker training, a worker reputation system, macOS/Linux support, job templates, and an admin analytics dashboard are all next.</a:t>
            </a:r>
          </a:p>
        </p:txBody>
      </p:sp>
    </p:spTree>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26" b="-26"/>
              </a:stretch>
            </a:blipFill>
          </p:spPr>
        </p:sp>
      </p:grpSp>
      <p:sp>
        <p:nvSpPr>
          <p:cNvPr id="4" name="TextBox 4"/>
          <p:cNvSpPr txBox="1"/>
          <p:nvPr/>
        </p:nvSpPr>
        <p:spPr>
          <a:xfrm>
            <a:off x="7959209" y="962025"/>
            <a:ext cx="2369582" cy="580390"/>
          </a:xfrm>
          <a:prstGeom prst="rect">
            <a:avLst/>
          </a:prstGeom>
        </p:spPr>
        <p:txBody>
          <a:bodyPr lIns="0" tIns="0" rIns="0" bIns="0" rtlCol="0" anchor="t">
            <a:spAutoFit/>
          </a:bodyPr>
          <a:lstStyle/>
          <a:p>
            <a:pPr algn="ctr">
              <a:lnSpc>
                <a:spcPts val="4759"/>
              </a:lnSpc>
              <a:spcBef>
                <a:spcPct val="0"/>
              </a:spcBef>
            </a:pPr>
            <a:r>
              <a:rPr lang="en-US" sz="3399" b="1">
                <a:solidFill>
                  <a:srgbClr val="000000"/>
                </a:solidFill>
                <a:latin typeface="Canva Sans Bold"/>
                <a:ea typeface="Canva Sans Bold"/>
                <a:cs typeface="Canva Sans Bold"/>
                <a:sym typeface="Canva Sans Bold"/>
              </a:rPr>
              <a:t>Conclusion</a:t>
            </a:r>
          </a:p>
        </p:txBody>
      </p:sp>
      <p:sp>
        <p:nvSpPr>
          <p:cNvPr id="5" name="TextBox 5"/>
          <p:cNvSpPr txBox="1"/>
          <p:nvPr/>
        </p:nvSpPr>
        <p:spPr>
          <a:xfrm>
            <a:off x="2336397" y="2667721"/>
            <a:ext cx="13615207" cy="4903934"/>
          </a:xfrm>
          <a:prstGeom prst="rect">
            <a:avLst/>
          </a:prstGeom>
        </p:spPr>
        <p:txBody>
          <a:bodyPr lIns="0" tIns="0" rIns="0" bIns="0" rtlCol="0" anchor="t">
            <a:spAutoFit/>
          </a:bodyPr>
          <a:lstStyle/>
          <a:p>
            <a:pPr algn="just">
              <a:lnSpc>
                <a:spcPts val="3229"/>
              </a:lnSpc>
            </a:pPr>
            <a:r>
              <a:rPr lang="en-US" sz="2306">
                <a:solidFill>
                  <a:srgbClr val="000000"/>
                </a:solidFill>
                <a:latin typeface="Canva Sans"/>
                <a:ea typeface="Canva Sans"/>
                <a:cs typeface="Canva Sans"/>
                <a:sym typeface="Canva Sans"/>
              </a:rPr>
              <a:t>DTrain exists to close a simple but real gap — the people who most need to train machine learning models, students, researchers, and independent developers, are usually the ones least able to afford the compute to do it. By turning idle GPUs sitting unused around the world into a shared, pay-as-you-go resource, DTrain makes serious model training accessible to anyone with an idea worth training, not just those who can afford a high-end PC or a cloud subscription.</a:t>
            </a:r>
          </a:p>
          <a:p>
            <a:pPr algn="just">
              <a:lnSpc>
                <a:spcPts val="3229"/>
              </a:lnSpc>
            </a:pPr>
            <a:endParaRPr lang="en-US" sz="2306">
              <a:solidFill>
                <a:srgbClr val="000000"/>
              </a:solidFill>
              <a:latin typeface="Canva Sans"/>
              <a:ea typeface="Canva Sans"/>
              <a:cs typeface="Canva Sans"/>
              <a:sym typeface="Canva Sans"/>
            </a:endParaRPr>
          </a:p>
          <a:p>
            <a:pPr algn="just">
              <a:lnSpc>
                <a:spcPts val="3229"/>
              </a:lnSpc>
            </a:pPr>
            <a:r>
              <a:rPr lang="en-US" sz="2306">
                <a:solidFill>
                  <a:srgbClr val="000000"/>
                </a:solidFill>
                <a:latin typeface="Canva Sans"/>
                <a:ea typeface="Canva Sans"/>
                <a:cs typeface="Canva Sans"/>
                <a:sym typeface="Canva Sans"/>
              </a:rPr>
              <a:t>More than a cost saving, this is a shift in who gets to participate in AI. A student without a GPU, a researcher without a lab budget, or a developer testing an idea on the side can now train a real model for a few rupees instead of being priced out entirely. In doing so, DTrain points toward a future where compute is treated less like a gatekeeper and more like a shared community resource — one job, one worker, one training run at a time.</a:t>
            </a:r>
          </a:p>
          <a:p>
            <a:pPr algn="just">
              <a:lnSpc>
                <a:spcPts val="3229"/>
              </a:lnSpc>
              <a:spcBef>
                <a:spcPct val="0"/>
              </a:spcBef>
            </a:pPr>
            <a:endParaRPr lang="en-US" sz="2306">
              <a:solidFill>
                <a:srgbClr val="000000"/>
              </a:solidFill>
              <a:latin typeface="Canva Sans"/>
              <a:ea typeface="Canva Sans"/>
              <a:cs typeface="Canva Sans"/>
              <a:sym typeface="Canva Sans"/>
            </a:endParaRPr>
          </a:p>
        </p:txBody>
      </p:sp>
    </p:spTree>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26" b="-26"/>
              </a:stretch>
            </a:blipFill>
          </p:spPr>
        </p:sp>
      </p:grpSp>
      <p:sp>
        <p:nvSpPr>
          <p:cNvPr id="4" name="TextBox 4"/>
          <p:cNvSpPr txBox="1"/>
          <p:nvPr/>
        </p:nvSpPr>
        <p:spPr>
          <a:xfrm>
            <a:off x="5216396" y="4289424"/>
            <a:ext cx="7855208" cy="1708151"/>
          </a:xfrm>
          <a:prstGeom prst="rect">
            <a:avLst/>
          </a:prstGeom>
        </p:spPr>
        <p:txBody>
          <a:bodyPr wrap="square" lIns="0" tIns="0" rIns="0" bIns="0" rtlCol="0" anchor="t">
            <a:spAutoFit/>
          </a:bodyPr>
          <a:lstStyle/>
          <a:p>
            <a:pPr algn="ctr">
              <a:lnSpc>
                <a:spcPts val="13999"/>
              </a:lnSpc>
              <a:spcBef>
                <a:spcPct val="0"/>
              </a:spcBef>
            </a:pPr>
            <a:r>
              <a:rPr lang="en-US" sz="9999" b="1" dirty="0">
                <a:solidFill>
                  <a:srgbClr val="C8912E"/>
                </a:solidFill>
                <a:latin typeface="Canva Sans Bold"/>
                <a:ea typeface="Canva Sans Bold"/>
                <a:cs typeface="Canva Sans Bold"/>
                <a:sym typeface="Canva Sans Bold"/>
              </a:rPr>
              <a:t>THANK YOU</a:t>
            </a:r>
          </a:p>
        </p:txBody>
      </p:sp>
    </p:spTree>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1534</Words>
  <Application>Microsoft Office PowerPoint</Application>
  <PresentationFormat>Custom</PresentationFormat>
  <Paragraphs>163</Paragraphs>
  <Slides>14</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14</vt:i4>
      </vt:variant>
    </vt:vector>
  </HeadingPairs>
  <TitlesOfParts>
    <vt:vector size="24" baseType="lpstr">
      <vt:lpstr>Arial</vt:lpstr>
      <vt:lpstr>Cambria Bold</vt:lpstr>
      <vt:lpstr>Arimo Bold</vt:lpstr>
      <vt:lpstr>Canva Sans Bold</vt:lpstr>
      <vt:lpstr>Calibri (MS) Italics</vt:lpstr>
      <vt:lpstr>Calibri (MS) Bold</vt:lpstr>
      <vt:lpstr>Calibri (MS)</vt:lpstr>
      <vt:lpstr>Calibri</vt:lpstr>
      <vt:lpstr>Canva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HOOGHLY ENGINEERING &amp; TECHNOLOGY COLLEGE</dc:title>
  <cp:lastModifiedBy>Debjit Mitra</cp:lastModifiedBy>
  <cp:revision>2</cp:revision>
  <dcterms:created xsi:type="dcterms:W3CDTF">2006-08-16T00:00:00Z</dcterms:created>
  <dcterms:modified xsi:type="dcterms:W3CDTF">2026-07-21T03:59:12Z</dcterms:modified>
  <dc:identifier>DAHPK4_Ol0c</dc:identifier>
</cp:coreProperties>
</file>