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Nourd Bold" charset="1" panose="00000800000000000000"/>
      <p:regular r:id="rId16"/>
    </p:embeddedFont>
    <p:embeddedFont>
      <p:font typeface="Luktao Bold" charset="1" panose="00000000000000000000"/>
      <p:regular r:id="rId17"/>
    </p:embeddedFont>
    <p:embeddedFont>
      <p:font typeface="Canva Sans Bold" charset="1" panose="020B0803030501040103"/>
      <p:regular r:id="rId18"/>
    </p:embeddedFont>
    <p:embeddedFont>
      <p:font typeface="Canva Sans Italics" charset="1" panose="020B0503030501040103"/>
      <p:regular r:id="rId19"/>
    </p:embeddedFont>
    <p:embeddedFont>
      <p:font typeface="Canva Sans Bold Italics" charset="1" panose="020B0803030501040103"/>
      <p:regular r:id="rId20"/>
    </p:embeddedFont>
    <p:embeddedFont>
      <p:font typeface="Nourd" charset="1" panose="00000500000000000000"/>
      <p:regular r:id="rId21"/>
    </p:embeddedFont>
    <p:embeddedFont>
      <p:font typeface="Anantason" charset="1" panose="000000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2.png" Type="http://schemas.openxmlformats.org/officeDocument/2006/relationships/image"/><Relationship Id="rId13" Target="../embeddings/oleObject1.bin" Type="http://schemas.openxmlformats.org/officeDocument/2006/relationships/oleObjec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3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4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5.png" Type="http://schemas.openxmlformats.org/officeDocument/2006/relationships/image"/><Relationship Id="rId13" Target="../embeddings/oleObject2.bin" Type="http://schemas.openxmlformats.org/officeDocument/2006/relationships/oleObjec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6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-2201124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01900" y="683810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819150" y="-160581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514975" y="6838101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01900" y="7236961"/>
            <a:ext cx="2174081" cy="2174081"/>
          </a:xfrm>
          <a:custGeom>
            <a:avLst/>
            <a:gdLst/>
            <a:ahLst/>
            <a:cxnLst/>
            <a:rect r="r" b="b" t="t" l="l"/>
            <a:pathLst>
              <a:path h="2174081" w="2174081">
                <a:moveTo>
                  <a:pt x="0" y="0"/>
                </a:moveTo>
                <a:lnTo>
                  <a:pt x="2174081" y="0"/>
                </a:lnTo>
                <a:lnTo>
                  <a:pt x="2174081" y="2174081"/>
                </a:lnTo>
                <a:lnTo>
                  <a:pt x="0" y="21740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04698" y="650011"/>
            <a:ext cx="2690952" cy="1345476"/>
          </a:xfrm>
          <a:custGeom>
            <a:avLst/>
            <a:gdLst/>
            <a:ahLst/>
            <a:cxnLst/>
            <a:rect r="r" b="b" t="t" l="l"/>
            <a:pathLst>
              <a:path h="1345476" w="2690952">
                <a:moveTo>
                  <a:pt x="0" y="0"/>
                </a:moveTo>
                <a:lnTo>
                  <a:pt x="2690952" y="0"/>
                </a:lnTo>
                <a:lnTo>
                  <a:pt x="2690952" y="1345477"/>
                </a:lnTo>
                <a:lnTo>
                  <a:pt x="0" y="134547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711269" y="3327400"/>
            <a:ext cx="2865462" cy="2865462"/>
          </a:xfrm>
          <a:custGeom>
            <a:avLst/>
            <a:gdLst/>
            <a:ahLst/>
            <a:cxnLst/>
            <a:rect r="r" b="b" t="t" l="l"/>
            <a:pathLst>
              <a:path h="2865462" w="2865462">
                <a:moveTo>
                  <a:pt x="0" y="0"/>
                </a:moveTo>
                <a:lnTo>
                  <a:pt x="2865462" y="0"/>
                </a:lnTo>
                <a:lnTo>
                  <a:pt x="2865462" y="2865462"/>
                </a:lnTo>
                <a:lnTo>
                  <a:pt x="0" y="286546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385527" y="6516236"/>
            <a:ext cx="7516946" cy="1374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true">
                <a:solidFill>
                  <a:srgbClr val="0166C2"/>
                </a:solidFill>
                <a:latin typeface="Nourd Bold"/>
                <a:ea typeface="Nourd Bold"/>
                <a:cs typeface="Nourd Bold"/>
                <a:sym typeface="Nourd Bold"/>
              </a:rPr>
              <a:t>Final Year Project</a:t>
            </a:r>
          </a:p>
          <a:p>
            <a:pPr algn="ctr">
              <a:lnSpc>
                <a:spcPts val="5600"/>
              </a:lnSpc>
            </a:pPr>
            <a:r>
              <a:rPr lang="en-US" sz="4000" b="true">
                <a:solidFill>
                  <a:srgbClr val="0166C2"/>
                </a:solidFill>
                <a:latin typeface="Nourd Bold"/>
                <a:ea typeface="Nourd Bold"/>
                <a:cs typeface="Nourd Bold"/>
                <a:sym typeface="Nourd Bold"/>
              </a:rPr>
              <a:t>(2022-2026)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41747" y="904875"/>
            <a:ext cx="17004506" cy="242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b="true" sz="6999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HOOGHLY ENGINEERING &amp; TECHNOLOGY COLLEGE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813451" y="8219226"/>
            <a:ext cx="6661098" cy="984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31"/>
              </a:lnSpc>
            </a:pPr>
            <a:r>
              <a:rPr lang="en-US" b="true" sz="5808">
                <a:solidFill>
                  <a:srgbClr val="0166C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Web Development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32891" y="9329368"/>
            <a:ext cx="1202221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i="true">
                <a:solidFill>
                  <a:srgbClr val="0166C2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Decentralized Machine Learning Training Platform (PaaS)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-2201124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01900" y="683810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819150" y="-160581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514975" y="6838101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01900" y="7236961"/>
            <a:ext cx="2174081" cy="2174081"/>
          </a:xfrm>
          <a:custGeom>
            <a:avLst/>
            <a:gdLst/>
            <a:ahLst/>
            <a:cxnLst/>
            <a:rect r="r" b="b" t="t" l="l"/>
            <a:pathLst>
              <a:path h="2174081" w="2174081">
                <a:moveTo>
                  <a:pt x="0" y="0"/>
                </a:moveTo>
                <a:lnTo>
                  <a:pt x="2174081" y="0"/>
                </a:lnTo>
                <a:lnTo>
                  <a:pt x="2174081" y="2174081"/>
                </a:lnTo>
                <a:lnTo>
                  <a:pt x="0" y="21740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04698" y="650011"/>
            <a:ext cx="2690952" cy="1345476"/>
          </a:xfrm>
          <a:custGeom>
            <a:avLst/>
            <a:gdLst/>
            <a:ahLst/>
            <a:cxnLst/>
            <a:rect r="r" b="b" t="t" l="l"/>
            <a:pathLst>
              <a:path h="1345476" w="2690952">
                <a:moveTo>
                  <a:pt x="0" y="0"/>
                </a:moveTo>
                <a:lnTo>
                  <a:pt x="2690952" y="0"/>
                </a:lnTo>
                <a:lnTo>
                  <a:pt x="2690952" y="1345476"/>
                </a:lnTo>
                <a:lnTo>
                  <a:pt x="0" y="13454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8" id="8"/>
          <p:cNvGraphicFramePr/>
          <p:nvPr/>
        </p:nvGraphicFramePr>
        <p:xfrm>
          <a:off x="3907636" y="2319131"/>
          <a:ext cx="15715018" cy="6775295"/>
        </p:xfrm>
        <a:graphic>
          <a:graphicData uri="http://schemas.openxmlformats.org/presentationml/2006/ole">
            <p:oleObj imgW="18859500" imgH="9906000" r:id="rId1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3783694" y="497611"/>
            <a:ext cx="9987683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 b="true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TEAM MEMBERS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48510" y="8247801"/>
            <a:ext cx="12590979" cy="67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85"/>
              </a:lnSpc>
            </a:pPr>
            <a:r>
              <a:rPr lang="en-US" sz="3918" i="true">
                <a:solidFill>
                  <a:srgbClr val="0166C2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Mentored by </a:t>
            </a:r>
            <a:r>
              <a:rPr lang="en-US" b="true" sz="3918" i="true">
                <a:solidFill>
                  <a:srgbClr val="0166C2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Assistant</a:t>
            </a:r>
            <a:r>
              <a:rPr lang="en-US" sz="3918" i="true">
                <a:solidFill>
                  <a:srgbClr val="0166C2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</a:t>
            </a:r>
            <a:r>
              <a:rPr lang="en-US" b="true" sz="3918" i="true">
                <a:solidFill>
                  <a:srgbClr val="0166C2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Professor Agnimita Banerjee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-2201124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01900" y="683810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819150" y="-160581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531205" y="497611"/>
            <a:ext cx="12757735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b="true" sz="8000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PROBLEM STATEMENT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72361" y="2442314"/>
            <a:ext cx="12743278" cy="2885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4"/>
              </a:lnSpc>
            </a:pPr>
            <a:r>
              <a:rPr lang="en-US" sz="3288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The project addresses the fundamental challenge of inefficient and costly resource utilization in Machine Learning (ML) model training, specifically for small-to-medium enterprises (SMEs), researchers, and independent developers.</a:t>
            </a:r>
          </a:p>
          <a:p>
            <a:pPr algn="l">
              <a:lnSpc>
                <a:spcPts val="4604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5514975" y="6838101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201900" y="7236961"/>
            <a:ext cx="2174081" cy="2174081"/>
          </a:xfrm>
          <a:custGeom>
            <a:avLst/>
            <a:gdLst/>
            <a:ahLst/>
            <a:cxnLst/>
            <a:rect r="r" b="b" t="t" l="l"/>
            <a:pathLst>
              <a:path h="2174081" w="2174081">
                <a:moveTo>
                  <a:pt x="0" y="0"/>
                </a:moveTo>
                <a:lnTo>
                  <a:pt x="2174081" y="0"/>
                </a:lnTo>
                <a:lnTo>
                  <a:pt x="2174081" y="2174081"/>
                </a:lnTo>
                <a:lnTo>
                  <a:pt x="0" y="21740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04698" y="650011"/>
            <a:ext cx="2690952" cy="1345476"/>
          </a:xfrm>
          <a:custGeom>
            <a:avLst/>
            <a:gdLst/>
            <a:ahLst/>
            <a:cxnLst/>
            <a:rect r="r" b="b" t="t" l="l"/>
            <a:pathLst>
              <a:path h="1345476" w="2690952">
                <a:moveTo>
                  <a:pt x="0" y="0"/>
                </a:moveTo>
                <a:lnTo>
                  <a:pt x="2690952" y="0"/>
                </a:lnTo>
                <a:lnTo>
                  <a:pt x="2690952" y="1345476"/>
                </a:lnTo>
                <a:lnTo>
                  <a:pt x="0" y="13454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772361" y="4943475"/>
            <a:ext cx="4125161" cy="823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87"/>
              </a:lnSpc>
            </a:pPr>
            <a:r>
              <a:rPr lang="en-US" sz="4848" b="true">
                <a:solidFill>
                  <a:srgbClr val="0166C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Cor</a:t>
            </a:r>
            <a:r>
              <a:rPr lang="en-US" sz="4848" b="true">
                <a:solidFill>
                  <a:srgbClr val="0166C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 Problem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58622" y="4784351"/>
            <a:ext cx="13057017" cy="4626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4"/>
              </a:lnSpc>
            </a:pPr>
          </a:p>
          <a:p>
            <a:pPr algn="l">
              <a:lnSpc>
                <a:spcPts val="4604"/>
              </a:lnSpc>
            </a:pPr>
          </a:p>
          <a:p>
            <a:pPr algn="l" marL="710092" indent="-355046" lvl="1">
              <a:lnSpc>
                <a:spcPts val="4604"/>
              </a:lnSpc>
              <a:buFont typeface="Arial"/>
              <a:buChar char="•"/>
            </a:pPr>
            <a:r>
              <a:rPr lang="en-US" sz="3288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Cost &amp; Inflexibility: Centralized cloud platforms charge premium, fixed rates, leading to wasted expenditure when resources are not fully utilized.</a:t>
            </a:r>
          </a:p>
          <a:p>
            <a:pPr algn="l" marL="710092" indent="-355046" lvl="1">
              <a:lnSpc>
                <a:spcPts val="4604"/>
              </a:lnSpc>
              <a:buFont typeface="Arial"/>
              <a:buChar char="•"/>
            </a:pPr>
            <a:r>
              <a:rPr lang="en-US" sz="3288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Untapped Potential: A vast, globally distributed pool of powerful, idle compute resources (GPUs) remains underutilized.</a:t>
            </a:r>
          </a:p>
          <a:p>
            <a:pPr algn="l">
              <a:lnSpc>
                <a:spcPts val="4604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-2201124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01900" y="683810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819150" y="-160581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766918" y="497611"/>
            <a:ext cx="12757735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b="true" sz="8000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FACTS AND FIGURES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5514975" y="6838101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201900" y="7236961"/>
            <a:ext cx="2174081" cy="2174081"/>
          </a:xfrm>
          <a:custGeom>
            <a:avLst/>
            <a:gdLst/>
            <a:ahLst/>
            <a:cxnLst/>
            <a:rect r="r" b="b" t="t" l="l"/>
            <a:pathLst>
              <a:path h="2174081" w="2174081">
                <a:moveTo>
                  <a:pt x="0" y="0"/>
                </a:moveTo>
                <a:lnTo>
                  <a:pt x="2174081" y="0"/>
                </a:lnTo>
                <a:lnTo>
                  <a:pt x="2174081" y="2174081"/>
                </a:lnTo>
                <a:lnTo>
                  <a:pt x="0" y="21740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04698" y="650011"/>
            <a:ext cx="2690952" cy="1345476"/>
          </a:xfrm>
          <a:custGeom>
            <a:avLst/>
            <a:gdLst/>
            <a:ahLst/>
            <a:cxnLst/>
            <a:rect r="r" b="b" t="t" l="l"/>
            <a:pathLst>
              <a:path h="1345476" w="2690952">
                <a:moveTo>
                  <a:pt x="0" y="0"/>
                </a:moveTo>
                <a:lnTo>
                  <a:pt x="2690952" y="0"/>
                </a:lnTo>
                <a:lnTo>
                  <a:pt x="2690952" y="1345476"/>
                </a:lnTo>
                <a:lnTo>
                  <a:pt x="0" y="13454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206235" y="1938337"/>
            <a:ext cx="13875531" cy="6902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5"/>
              </a:lnSpc>
            </a:pPr>
          </a:p>
          <a:p>
            <a:pPr algn="l" marL="596052" indent="-298026" lvl="1">
              <a:lnSpc>
                <a:spcPts val="3865"/>
              </a:lnSpc>
              <a:buFont typeface="Arial"/>
              <a:buChar char="•"/>
            </a:pPr>
            <a:r>
              <a:rPr lang="en-US" sz="2760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Cloud GPUs cost 2–10 USD per hour, making even mid-sized model training reach ₹15,000–₹50,000 per run. GPU hardware prices have risen 200% (2020–2024), putting local GPU ownership out of reach for most learners and startups.</a:t>
            </a:r>
          </a:p>
          <a:p>
            <a:pPr algn="l">
              <a:lnSpc>
                <a:spcPts val="1625"/>
              </a:lnSpc>
            </a:pPr>
          </a:p>
          <a:p>
            <a:pPr algn="l" marL="596052" indent="-298026" lvl="1">
              <a:lnSpc>
                <a:spcPts val="3865"/>
              </a:lnSpc>
              <a:buFont typeface="Arial"/>
              <a:buChar char="•"/>
            </a:pPr>
            <a:r>
              <a:rPr lang="en-US" sz="2760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AI compute needs are growing 2× every six months, far faster than hardware availability. 70% of ML students report they cannot train models effectively due to hardware limits, and 45% of companies face compute-related project delays.</a:t>
            </a:r>
          </a:p>
          <a:p>
            <a:pPr algn="l">
              <a:lnSpc>
                <a:spcPts val="1624"/>
              </a:lnSpc>
            </a:pPr>
          </a:p>
          <a:p>
            <a:pPr algn="l" marL="596052" indent="-298026" lvl="1">
              <a:lnSpc>
                <a:spcPts val="3865"/>
              </a:lnSpc>
              <a:buFont typeface="Arial"/>
              <a:buChar char="•"/>
            </a:pPr>
            <a:r>
              <a:rPr lang="en-US" sz="2760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Only 10–15% of ML learners have dedicated GPUs, forcing 80%+ to rely on slow laptops. Training on low-end devices can take 10–20× longer, often extending model training from hours to several days.</a:t>
            </a:r>
          </a:p>
          <a:p>
            <a:pPr algn="l">
              <a:lnSpc>
                <a:spcPts val="1624"/>
              </a:lnSpc>
            </a:pPr>
          </a:p>
          <a:p>
            <a:pPr algn="l" marL="596052" indent="-298026" lvl="1">
              <a:lnSpc>
                <a:spcPts val="3865"/>
              </a:lnSpc>
              <a:spcBef>
                <a:spcPct val="0"/>
              </a:spcBef>
              <a:buFont typeface="Arial"/>
              <a:buChar char="•"/>
            </a:pPr>
            <a:r>
              <a:rPr lang="en-US" sz="2760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Companies locked into a single cloud provider spend 30–40% more over time. High pay-per-use GPU pricing makes cloud-based training unaffordable for students and independent developers.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-2201124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01900" y="683810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819150" y="-160581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755504" y="497611"/>
            <a:ext cx="9987683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 b="true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OUR SOLUTION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5514975" y="6838101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201900" y="7236961"/>
            <a:ext cx="2174081" cy="2174081"/>
          </a:xfrm>
          <a:custGeom>
            <a:avLst/>
            <a:gdLst/>
            <a:ahLst/>
            <a:cxnLst/>
            <a:rect r="r" b="b" t="t" l="l"/>
            <a:pathLst>
              <a:path h="2174081" w="2174081">
                <a:moveTo>
                  <a:pt x="0" y="0"/>
                </a:moveTo>
                <a:lnTo>
                  <a:pt x="2174081" y="0"/>
                </a:lnTo>
                <a:lnTo>
                  <a:pt x="2174081" y="2174081"/>
                </a:lnTo>
                <a:lnTo>
                  <a:pt x="0" y="21740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04698" y="650011"/>
            <a:ext cx="2690952" cy="1345476"/>
          </a:xfrm>
          <a:custGeom>
            <a:avLst/>
            <a:gdLst/>
            <a:ahLst/>
            <a:cxnLst/>
            <a:rect r="r" b="b" t="t" l="l"/>
            <a:pathLst>
              <a:path h="1345476" w="2690952">
                <a:moveTo>
                  <a:pt x="0" y="0"/>
                </a:moveTo>
                <a:lnTo>
                  <a:pt x="2690952" y="0"/>
                </a:lnTo>
                <a:lnTo>
                  <a:pt x="2690952" y="1345476"/>
                </a:lnTo>
                <a:lnTo>
                  <a:pt x="0" y="13454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92643" y="1980021"/>
            <a:ext cx="15139893" cy="1534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6"/>
              </a:lnSpc>
            </a:pPr>
            <a:r>
              <a:rPr lang="en-US" sz="2876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To dem</a:t>
            </a:r>
            <a:r>
              <a:rPr lang="en-US" sz="2876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ocratize Machine Learning (ML) model training and significantly reduce its cost by:</a:t>
            </a:r>
          </a:p>
          <a:p>
            <a:pPr algn="l">
              <a:lnSpc>
                <a:spcPts val="4026"/>
              </a:lnSpc>
            </a:pPr>
          </a:p>
          <a:p>
            <a:pPr algn="l">
              <a:lnSpc>
                <a:spcPts val="4306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224000" y="1808886"/>
            <a:ext cx="15050691" cy="7810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6"/>
              </a:lnSpc>
            </a:pPr>
          </a:p>
          <a:p>
            <a:pPr algn="l">
              <a:lnSpc>
                <a:spcPts val="4026"/>
              </a:lnSpc>
            </a:pPr>
          </a:p>
          <a:p>
            <a:pPr algn="l" marL="621012" indent="-310506" lvl="1">
              <a:lnSpc>
                <a:spcPts val="4026"/>
              </a:lnSpc>
              <a:buFont typeface="Arial"/>
              <a:buChar char="•"/>
            </a:pPr>
            <a:r>
              <a:rPr lang="en-US" sz="2876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Creating a secure, decentralized, consumption-based marketplace (pay-as-you-go).</a:t>
            </a:r>
          </a:p>
          <a:p>
            <a:pPr algn="l" marL="621012" indent="-310506" lvl="1">
              <a:lnSpc>
                <a:spcPts val="4026"/>
              </a:lnSpc>
              <a:buFont typeface="Arial"/>
              <a:buChar char="•"/>
            </a:pPr>
            <a:r>
              <a:rPr lang="en-US" sz="2876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Efficiently connecting ML model trainers (Job Creators) with a global network of underutilized computational resources (Resource Providers/Worker Nodes).</a:t>
            </a:r>
          </a:p>
          <a:p>
            <a:pPr algn="l">
              <a:lnSpc>
                <a:spcPts val="4026"/>
              </a:lnSpc>
            </a:pPr>
          </a:p>
          <a:p>
            <a:pPr algn="l">
              <a:lnSpc>
                <a:spcPts val="1227"/>
              </a:lnSpc>
            </a:pPr>
          </a:p>
          <a:p>
            <a:pPr algn="l">
              <a:lnSpc>
                <a:spcPts val="4026"/>
              </a:lnSpc>
            </a:pPr>
          </a:p>
          <a:p>
            <a:pPr algn="l" marL="621012" indent="-310506" lvl="1">
              <a:lnSpc>
                <a:spcPts val="4026"/>
              </a:lnSpc>
              <a:buFont typeface="Arial"/>
              <a:buChar char="•"/>
            </a:pPr>
            <a:r>
              <a:rPr lang="en-US" sz="2876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By creating a platform where users upload a ZIP file containing their training code, data, and dependencies.</a:t>
            </a:r>
          </a:p>
          <a:p>
            <a:pPr algn="l" marL="621012" indent="-310506" lvl="1">
              <a:lnSpc>
                <a:spcPts val="4026"/>
              </a:lnSpc>
              <a:buFont typeface="Arial"/>
              <a:buChar char="•"/>
            </a:pPr>
            <a:r>
              <a:rPr lang="en-US" sz="2876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 A free worker node on the network picks up the job and trains the model on the user’s behalf.</a:t>
            </a:r>
          </a:p>
          <a:p>
            <a:pPr algn="l" marL="621012" indent="-310506" lvl="1">
              <a:lnSpc>
                <a:spcPts val="4026"/>
              </a:lnSpc>
              <a:buFont typeface="Arial"/>
              <a:buChar char="•"/>
            </a:pPr>
            <a:r>
              <a:rPr lang="en-US" sz="2876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 Once training is complete, the user can download the generated model.</a:t>
            </a:r>
          </a:p>
          <a:p>
            <a:pPr algn="l" marL="621012" indent="-310506" lvl="1">
              <a:lnSpc>
                <a:spcPts val="4026"/>
              </a:lnSpc>
              <a:buFont typeface="Arial"/>
              <a:buChar char="•"/>
            </a:pPr>
            <a:r>
              <a:rPr lang="en-US" sz="2876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 They only pay for the resources consumed by the worker without the need for a high-end PC of their own.</a:t>
            </a:r>
          </a:p>
          <a:p>
            <a:pPr algn="l">
              <a:lnSpc>
                <a:spcPts val="4306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552884" y="4509017"/>
            <a:ext cx="9410082" cy="815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7"/>
              </a:lnSpc>
            </a:pPr>
            <a:r>
              <a:rPr lang="en-US" sz="4798" b="true">
                <a:solidFill>
                  <a:srgbClr val="0166C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How do w</a:t>
            </a:r>
            <a:r>
              <a:rPr lang="en-US" sz="4798" b="true">
                <a:solidFill>
                  <a:srgbClr val="0166C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 plan to achieve it?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-2201124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01900" y="683810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819150" y="-160581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514975" y="6838101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01900" y="7236961"/>
            <a:ext cx="2174081" cy="2174081"/>
          </a:xfrm>
          <a:custGeom>
            <a:avLst/>
            <a:gdLst/>
            <a:ahLst/>
            <a:cxnLst/>
            <a:rect r="r" b="b" t="t" l="l"/>
            <a:pathLst>
              <a:path h="2174081" w="2174081">
                <a:moveTo>
                  <a:pt x="0" y="0"/>
                </a:moveTo>
                <a:lnTo>
                  <a:pt x="2174081" y="0"/>
                </a:lnTo>
                <a:lnTo>
                  <a:pt x="2174081" y="2174081"/>
                </a:lnTo>
                <a:lnTo>
                  <a:pt x="0" y="21740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04698" y="650011"/>
            <a:ext cx="2690952" cy="1345476"/>
          </a:xfrm>
          <a:custGeom>
            <a:avLst/>
            <a:gdLst/>
            <a:ahLst/>
            <a:cxnLst/>
            <a:rect r="r" b="b" t="t" l="l"/>
            <a:pathLst>
              <a:path h="1345476" w="2690952">
                <a:moveTo>
                  <a:pt x="0" y="0"/>
                </a:moveTo>
                <a:lnTo>
                  <a:pt x="2690952" y="0"/>
                </a:lnTo>
                <a:lnTo>
                  <a:pt x="2690952" y="1345476"/>
                </a:lnTo>
                <a:lnTo>
                  <a:pt x="0" y="13454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493371" y="1846671"/>
            <a:ext cx="11301259" cy="2825315"/>
          </a:xfrm>
          <a:custGeom>
            <a:avLst/>
            <a:gdLst/>
            <a:ahLst/>
            <a:cxnLst/>
            <a:rect r="r" b="b" t="t" l="l"/>
            <a:pathLst>
              <a:path h="2825315" w="11301259">
                <a:moveTo>
                  <a:pt x="0" y="0"/>
                </a:moveTo>
                <a:lnTo>
                  <a:pt x="11301258" y="0"/>
                </a:lnTo>
                <a:lnTo>
                  <a:pt x="11301258" y="2825315"/>
                </a:lnTo>
                <a:lnTo>
                  <a:pt x="0" y="282531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710121" y="478247"/>
            <a:ext cx="13549179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 b="true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SYSTEM ARCHITECTURE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440035" y="4751128"/>
            <a:ext cx="13407930" cy="4884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1137" indent="-230569" lvl="1">
              <a:lnSpc>
                <a:spcPts val="2990"/>
              </a:lnSpc>
              <a:buFont typeface="Arial"/>
              <a:buChar char="•"/>
            </a:pPr>
            <a:r>
              <a:rPr lang="en-US" sz="2135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The user uploads a ZIP file (dataset or training job) from the React web app, which is then sent to the Node/Express API.</a:t>
            </a:r>
          </a:p>
          <a:p>
            <a:pPr algn="l" marL="461137" indent="-230569" lvl="1">
              <a:lnSpc>
                <a:spcPts val="2990"/>
              </a:lnSpc>
              <a:buFont typeface="Arial"/>
              <a:buChar char="•"/>
            </a:pPr>
            <a:r>
              <a:rPr lang="en-US" sz="2135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The API stores metadata in MongoDB, saves the ZIP file to Supabase Storage, and publishes a job request through Redis Pub/Sub.</a:t>
            </a:r>
          </a:p>
          <a:p>
            <a:pPr algn="l" marL="461137" indent="-230569" lvl="1">
              <a:lnSpc>
                <a:spcPts val="2990"/>
              </a:lnSpc>
              <a:buFont typeface="Arial"/>
              <a:buChar char="•"/>
            </a:pPr>
            <a:r>
              <a:rPr lang="en-US" sz="2135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 The Electron Worker App, subscribed to Redis, receives the job request notification. If any worker present in the network accepts the job, then the ZIP and the metadata are extracted. </a:t>
            </a:r>
          </a:p>
          <a:p>
            <a:pPr algn="l" marL="461137" indent="-230569" lvl="1">
              <a:lnSpc>
                <a:spcPts val="2990"/>
              </a:lnSpc>
              <a:buFont typeface="Arial"/>
              <a:buChar char="•"/>
            </a:pPr>
            <a:r>
              <a:rPr lang="en-US" sz="2135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The Worker uses Docker to run an isolated ML training container using the downloaded data.</a:t>
            </a:r>
          </a:p>
          <a:p>
            <a:pPr algn="l" marL="461137" indent="-230569" lvl="1">
              <a:lnSpc>
                <a:spcPts val="2990"/>
              </a:lnSpc>
              <a:buFont typeface="Arial"/>
              <a:buChar char="•"/>
            </a:pPr>
            <a:r>
              <a:rPr lang="en-US" sz="2135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During </a:t>
            </a:r>
            <a:r>
              <a:rPr lang="en-US" sz="2135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training, Docker outputs logs, which are streamed to the frontend. After training completion, the Worker uploads the model back to Supabase Storage.</a:t>
            </a:r>
          </a:p>
          <a:p>
            <a:pPr algn="l" marL="461137" indent="-230569" lvl="1">
              <a:lnSpc>
                <a:spcPts val="2990"/>
              </a:lnSpc>
              <a:buFont typeface="Arial"/>
              <a:buChar char="•"/>
            </a:pPr>
            <a:r>
              <a:rPr lang="en-US" sz="2135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The Worker sends training metrics and usage info to the API, which updates billing and job status in MongoDB.</a:t>
            </a:r>
          </a:p>
          <a:p>
            <a:pPr algn="l" marL="461137" indent="-230569" lvl="1">
              <a:lnSpc>
                <a:spcPts val="2990"/>
              </a:lnSpc>
              <a:buFont typeface="Arial"/>
              <a:buChar char="•"/>
            </a:pPr>
            <a:r>
              <a:rPr lang="en-US" sz="2135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The user can then fetch results (model files, logs, metrics) directly from Supabase via the React app.</a:t>
            </a:r>
          </a:p>
          <a:p>
            <a:pPr algn="l">
              <a:lnSpc>
                <a:spcPts val="299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-2201124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01900" y="683810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819150" y="-160581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514975" y="6838101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01900" y="7236961"/>
            <a:ext cx="2174081" cy="2174081"/>
          </a:xfrm>
          <a:custGeom>
            <a:avLst/>
            <a:gdLst/>
            <a:ahLst/>
            <a:cxnLst/>
            <a:rect r="r" b="b" t="t" l="l"/>
            <a:pathLst>
              <a:path h="2174081" w="2174081">
                <a:moveTo>
                  <a:pt x="0" y="0"/>
                </a:moveTo>
                <a:lnTo>
                  <a:pt x="2174081" y="0"/>
                </a:lnTo>
                <a:lnTo>
                  <a:pt x="2174081" y="2174081"/>
                </a:lnTo>
                <a:lnTo>
                  <a:pt x="0" y="21740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807752" y="514712"/>
            <a:ext cx="13549179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 b="true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WORKFLOW (SEQUENCE)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04698" y="650011"/>
            <a:ext cx="2690952" cy="1345476"/>
          </a:xfrm>
          <a:custGeom>
            <a:avLst/>
            <a:gdLst/>
            <a:ahLst/>
            <a:cxnLst/>
            <a:rect r="r" b="b" t="t" l="l"/>
            <a:pathLst>
              <a:path h="1345476" w="2690952">
                <a:moveTo>
                  <a:pt x="0" y="0"/>
                </a:moveTo>
                <a:lnTo>
                  <a:pt x="2690952" y="0"/>
                </a:lnTo>
                <a:lnTo>
                  <a:pt x="2690952" y="1345476"/>
                </a:lnTo>
                <a:lnTo>
                  <a:pt x="0" y="13454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925506" y="1995488"/>
            <a:ext cx="12436989" cy="7415555"/>
          </a:xfrm>
          <a:custGeom>
            <a:avLst/>
            <a:gdLst/>
            <a:ahLst/>
            <a:cxnLst/>
            <a:rect r="r" b="b" t="t" l="l"/>
            <a:pathLst>
              <a:path h="7415555" w="12436989">
                <a:moveTo>
                  <a:pt x="0" y="0"/>
                </a:moveTo>
                <a:lnTo>
                  <a:pt x="12436988" y="0"/>
                </a:lnTo>
                <a:lnTo>
                  <a:pt x="12436988" y="7415554"/>
                </a:lnTo>
                <a:lnTo>
                  <a:pt x="0" y="741555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558678" y="8138174"/>
            <a:ext cx="1565138" cy="428805"/>
          </a:xfrm>
          <a:custGeom>
            <a:avLst/>
            <a:gdLst/>
            <a:ahLst/>
            <a:cxnLst/>
            <a:rect r="r" b="b" t="t" l="l"/>
            <a:pathLst>
              <a:path h="428805" w="1565138">
                <a:moveTo>
                  <a:pt x="0" y="0"/>
                </a:moveTo>
                <a:lnTo>
                  <a:pt x="1565138" y="0"/>
                </a:lnTo>
                <a:lnTo>
                  <a:pt x="1565138" y="428805"/>
                </a:lnTo>
                <a:lnTo>
                  <a:pt x="0" y="42880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64989" t="-1384099" r="-629635" b="-245254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092525" y="8002859"/>
            <a:ext cx="516493" cy="17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66"/>
              </a:lnSpc>
              <a:spcBef>
                <a:spcPct val="0"/>
              </a:spcBef>
            </a:pPr>
            <a:r>
              <a:rPr lang="en-US" sz="1047">
                <a:solidFill>
                  <a:srgbClr val="3B3B3B"/>
                </a:solidFill>
                <a:latin typeface="Anantason"/>
                <a:ea typeface="Anantason"/>
                <a:cs typeface="Anantason"/>
                <a:sym typeface="Anantason"/>
              </a:rPr>
              <a:t>Payment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-2201124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01900" y="683810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819150" y="-160581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514975" y="6838101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01900" y="7236961"/>
            <a:ext cx="2174081" cy="2174081"/>
          </a:xfrm>
          <a:custGeom>
            <a:avLst/>
            <a:gdLst/>
            <a:ahLst/>
            <a:cxnLst/>
            <a:rect r="r" b="b" t="t" l="l"/>
            <a:pathLst>
              <a:path h="2174081" w="2174081">
                <a:moveTo>
                  <a:pt x="0" y="0"/>
                </a:moveTo>
                <a:lnTo>
                  <a:pt x="2174081" y="0"/>
                </a:lnTo>
                <a:lnTo>
                  <a:pt x="2174081" y="2174081"/>
                </a:lnTo>
                <a:lnTo>
                  <a:pt x="0" y="21740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04698" y="650011"/>
            <a:ext cx="2690952" cy="1345476"/>
          </a:xfrm>
          <a:custGeom>
            <a:avLst/>
            <a:gdLst/>
            <a:ahLst/>
            <a:cxnLst/>
            <a:rect r="r" b="b" t="t" l="l"/>
            <a:pathLst>
              <a:path h="1345476" w="2690952">
                <a:moveTo>
                  <a:pt x="0" y="0"/>
                </a:moveTo>
                <a:lnTo>
                  <a:pt x="2690952" y="0"/>
                </a:lnTo>
                <a:lnTo>
                  <a:pt x="2690952" y="1345476"/>
                </a:lnTo>
                <a:lnTo>
                  <a:pt x="0" y="13454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8" id="8"/>
          <p:cNvGraphicFramePr/>
          <p:nvPr/>
        </p:nvGraphicFramePr>
        <p:xfrm>
          <a:off x="1570259" y="2232046"/>
          <a:ext cx="15715018" cy="6775295"/>
        </p:xfrm>
        <a:graphic>
          <a:graphicData uri="http://schemas.openxmlformats.org/presentationml/2006/ole">
            <p:oleObj imgW="18859500" imgH="9906000" r:id="rId1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3783694" y="497611"/>
            <a:ext cx="9987683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 b="true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TECH STACK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514975" y="6838101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2201124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201900" y="683810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-819150" y="-160581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01900" y="7236961"/>
            <a:ext cx="2174081" cy="2174081"/>
          </a:xfrm>
          <a:custGeom>
            <a:avLst/>
            <a:gdLst/>
            <a:ahLst/>
            <a:cxnLst/>
            <a:rect r="r" b="b" t="t" l="l"/>
            <a:pathLst>
              <a:path h="2174081" w="2174081">
                <a:moveTo>
                  <a:pt x="0" y="0"/>
                </a:moveTo>
                <a:lnTo>
                  <a:pt x="2174081" y="0"/>
                </a:lnTo>
                <a:lnTo>
                  <a:pt x="2174081" y="2174081"/>
                </a:lnTo>
                <a:lnTo>
                  <a:pt x="0" y="21740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04698" y="650011"/>
            <a:ext cx="2690952" cy="1345476"/>
          </a:xfrm>
          <a:custGeom>
            <a:avLst/>
            <a:gdLst/>
            <a:ahLst/>
            <a:cxnLst/>
            <a:rect r="r" b="b" t="t" l="l"/>
            <a:pathLst>
              <a:path h="1345476" w="2690952">
                <a:moveTo>
                  <a:pt x="0" y="0"/>
                </a:moveTo>
                <a:lnTo>
                  <a:pt x="2690952" y="0"/>
                </a:lnTo>
                <a:lnTo>
                  <a:pt x="2690952" y="1345476"/>
                </a:lnTo>
                <a:lnTo>
                  <a:pt x="0" y="13454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295650" y="497611"/>
            <a:ext cx="14566804" cy="1413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20"/>
              </a:lnSpc>
            </a:pPr>
            <a:r>
              <a:rPr lang="en-US" b="true" sz="8300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STATISTICS &amp; CONCLUSION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47355" y="7195232"/>
            <a:ext cx="12993291" cy="1700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09"/>
              </a:lnSpc>
            </a:pPr>
            <a:r>
              <a:rPr lang="en-US" sz="2435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D-Train tackles the lack of accessible, affordable ML compute by using distributed worker nodes, Docker isolation, and real-time Redis orchestration to form a lightweight community-powered training network. Users submit a job, workers do the heavy lifting, and everyone pays only for what they use, without needing a high-end PC.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4721009" y="1813065"/>
            <a:ext cx="8845982" cy="5307589"/>
          </a:xfrm>
          <a:custGeom>
            <a:avLst/>
            <a:gdLst/>
            <a:ahLst/>
            <a:cxnLst/>
            <a:rect r="r" b="b" t="t" l="l"/>
            <a:pathLst>
              <a:path h="5307589" w="8845982">
                <a:moveTo>
                  <a:pt x="0" y="0"/>
                </a:moveTo>
                <a:lnTo>
                  <a:pt x="8845982" y="0"/>
                </a:lnTo>
                <a:lnTo>
                  <a:pt x="8845982" y="5307589"/>
                </a:lnTo>
                <a:lnTo>
                  <a:pt x="0" y="530758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-2201124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01900" y="683810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819150" y="-160581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514975" y="6838101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01900" y="7236961"/>
            <a:ext cx="2174081" cy="2174081"/>
          </a:xfrm>
          <a:custGeom>
            <a:avLst/>
            <a:gdLst/>
            <a:ahLst/>
            <a:cxnLst/>
            <a:rect r="r" b="b" t="t" l="l"/>
            <a:pathLst>
              <a:path h="2174081" w="2174081">
                <a:moveTo>
                  <a:pt x="0" y="0"/>
                </a:moveTo>
                <a:lnTo>
                  <a:pt x="2174081" y="0"/>
                </a:lnTo>
                <a:lnTo>
                  <a:pt x="2174081" y="2174081"/>
                </a:lnTo>
                <a:lnTo>
                  <a:pt x="0" y="21740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914790" y="4059268"/>
            <a:ext cx="12458420" cy="1949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42"/>
              </a:lnSpc>
            </a:pPr>
            <a:r>
              <a:rPr lang="en-US" b="true" sz="11387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THANK YOU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04698" y="650011"/>
            <a:ext cx="2690952" cy="1345476"/>
          </a:xfrm>
          <a:custGeom>
            <a:avLst/>
            <a:gdLst/>
            <a:ahLst/>
            <a:cxnLst/>
            <a:rect r="r" b="b" t="t" l="l"/>
            <a:pathLst>
              <a:path h="1345476" w="2690952">
                <a:moveTo>
                  <a:pt x="0" y="0"/>
                </a:moveTo>
                <a:lnTo>
                  <a:pt x="2690952" y="0"/>
                </a:lnTo>
                <a:lnTo>
                  <a:pt x="2690952" y="1345476"/>
                </a:lnTo>
                <a:lnTo>
                  <a:pt x="0" y="13454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DAG61wW0DNs</dc:identifier>
  <dcterms:modified xsi:type="dcterms:W3CDTF">2011-08-01T06:04:30Z</dcterms:modified>
  <cp:revision>1</cp:revision>
  <dc:title>Blue Professional Geometric Project Presentation</dc:title>
</cp:coreProperties>
</file>